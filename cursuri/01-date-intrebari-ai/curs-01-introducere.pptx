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9.xml" ContentType="application/vnd.openxmlformats-officedocument.presentationml.notesSlide+xml"/>
  <Override PartName="/ppt/ink/ink18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60" r:id="rId2"/>
    <p:sldMasterId id="2147483686" r:id="rId3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91" r:id="rId9"/>
    <p:sldId id="289" r:id="rId10"/>
    <p:sldId id="262" r:id="rId11"/>
    <p:sldId id="263" r:id="rId12"/>
    <p:sldId id="290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92" r:id="rId23"/>
    <p:sldId id="274" r:id="rId24"/>
    <p:sldId id="293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PT Sans Narrow" panose="020B0506020203020204" pitchFamily="3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44190A50-DAC9-4FDC-BF86-75F4E4CD1A46}"/>
    <pc:docChg chg="modSld">
      <pc:chgData name="Stefan Bildea" userId="14ee9846484ecb5c" providerId="LiveId" clId="{44190A50-DAC9-4FDC-BF86-75F4E4CD1A46}" dt="2026-10-07T13:45:24.278" v="13" actId="20577"/>
      <pc:docMkLst>
        <pc:docMk/>
      </pc:docMkLst>
      <pc:sldChg chg="modSp mod">
        <pc:chgData name="Stefan Bildea" userId="14ee9846484ecb5c" providerId="LiveId" clId="{44190A50-DAC9-4FDC-BF86-75F4E4CD1A46}" dt="2026-10-07T13:45:24.278" v="13" actId="20577"/>
        <pc:sldMkLst>
          <pc:docMk/>
          <pc:sldMk cId="0" sldId="256"/>
        </pc:sldMkLst>
        <pc:spChg chg="mod">
          <ac:chgData name="Stefan Bildea" userId="14ee9846484ecb5c" providerId="LiveId" clId="{44190A50-DAC9-4FDC-BF86-75F4E4CD1A46}" dt="2026-10-07T13:45:24.278" v="13" actId="20577"/>
          <ac:spMkLst>
            <pc:docMk/>
            <pc:sldMk cId="0" sldId="256"/>
            <ac:spMk id="66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16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24575,'3'0'0,"8"0"0,6 0 0,7 0 0,2-3 0,1-2 0,-1 0 0,-2 2 0,-1 0 0,-1 1 0,-1 2 0,-1-1 0,0 1 0,-4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1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62 24575,'0'-1'0,"0"0"0,1 0 0,-1 0 0,1 0 0,-1 0 0,1 1 0,-1-1 0,1 0 0,-1 0 0,1 1 0,0-1 0,-1 0 0,1 1 0,0-1 0,0 1 0,0-1 0,-1 1 0,1-1 0,0 1 0,0-1 0,0 1 0,0 0 0,0 0 0,0-1 0,0 1 0,0 0 0,1 0 0,32-4 0,-30 4 0,331-2 0,-166 4 0,-175-3 0,-1 0 0,1-1 0,-1 0 0,1 0 0,0 0 0,-11-6 0,-24-8 0,-2 10-1365,25 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21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24575,'3'0'0,"5"0"0,8 0 0,4 0 0,3 0 0,4 0 0,0 0 0,0 0 0,-1 0 0,-3 0 0,0 0 0,1 0 0,1 0 0,0 4 0,-5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23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24575,'35'1'0,"1"-2"0,-1-1 0,1-2 0,64-15 0,-34 2 6,-38 11-463,-1-1 0,40-16 0,-51 15-6369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25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24575,'3'0'0,"9"0"0,5 0 0,7 3 0,2 2 0,1-1 0,-1-1 0,1 3 0,4 7 0,3 5 0,0-1 0,-4-3 0,-2-4 0,-7-4-8191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3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24575,'0'4'0,"4"0"0,4 0 0,4 0 0,4-2 0,2 0 0,5-1 0,3-1 0,-4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43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24575,'0'2082'-1365,"0"-2058"-5461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49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24575,'7'0'0,"5"0"0,5 0 0,2 0 0,2 0 0,0 0 0,1 0 0,-1 0 0,0 0 0,0 0 0,3 0 0,1 0 0,-1 0 0,0 0 0,-5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50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24575,'0'7'0,"0"5"0,0 5 0,0 6 0,0 2 0,0 1 0,0-1 0,0-1 0,0-2 0,-3-3 0,-2-3 0,1 0 0,1 1 0,-3 3 0,0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52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 24575,'1'0'0,"-1"0"0,0-1 0,0 1 0,0 0 0,0 0 0,0 0 0,0-1 0,0 1 0,0 0 0,0 0 0,0 0 0,0-1 0,0 1 0,0 0 0,0 0 0,0-1 0,0 1 0,0 0 0,0 0 0,0 0 0,0-1 0,0 1 0,0 0 0,0 0 0,-1 0 0,1-1 0,0 1 0,0 0 0,0 0 0,0 0 0,0-1 0,-1 1 0,1 0 0,0 0 0,0 0 0,0 0 0,-1 0 0,1 0 0,0 0 0,0-1 0,0 1 0,-1 0 0,1 0 0,0 0 0,0 0 0,-1 0 0,1 0 0,0 0 0,0 0 0,0 0 0,-1 0 0,1 0 0,0 0 0,0 0 0,-1 0 0,1 0 0,0 1 0,0-1 0,0 0 0,-1 0 0,-8 13 0,8-7 0,0-1 0,0 0 0,1 0 0,0 0 0,0 1 0,0-1 0,0 0 0,1 0 0,0 1 0,0-1 0,0 0 0,1 0 0,2 6 0,-2-8 0,-1 0 0,1-1 0,-1 1 0,1-1 0,0 0 0,0 1 0,0-1 0,1 0 0,-1 0 0,0 0 0,1-1 0,-1 1 0,1-1 0,0 1 0,-1-1 0,1 0 0,0 0 0,0 0 0,0 0 0,0 0 0,0-1 0,0 1 0,0-1 0,5 0 0,-7 0 0,1 0 0,-1 0 0,1 0 0,0 0 0,-1 0 0,1-1 0,-1 1 0,1-1 0,-1 1 0,0-1 0,1 1 0,-1-1 0,1 0 0,-1 0 0,0 1 0,0-1 0,1 0 0,-1 0 0,0-1 0,0 1 0,0 0 0,0 0 0,0 0 0,0-1 0,0 1 0,-1 0 0,1-1 0,0 1 0,-1-1 0,1 1 0,-1-1 0,0 1 0,1-1 0,-1 1 0,0-3 0,0 2 0,0-1 0,0 0 0,0 1 0,0-1 0,-1 1 0,1-1 0,-1 1 0,0-1 0,1 1 0,-1-1 0,0 1 0,-1 0 0,1-1 0,0 1 0,-1 0 0,1 0 0,-1 0 0,0 0 0,1 0 0,-5-2 0,-13-7-1365,-1 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55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42 766 24575,'3'-51'0,"2"0"0,22-94 0,-10 61 0,-11 41 0,-2-1 0,-5-87 0,0 75 0,5-57 0,-4 111 0,0-1 0,0 1 0,0 0 0,0 0 0,0-1 0,-1 1 0,1 0 0,0 0 0,-1-1 0,0 1 0,1 0 0,-1 0 0,0 0 0,0 0 0,-1 0 0,-1-3 0,2 4 0,0 0 0,0 0 0,0 1 0,0-1 0,0 1 0,0-1 0,0 0 0,0 1 0,0 0 0,-1-1 0,1 1 0,0 0 0,0 0 0,0-1 0,0 1 0,-1 0 0,1 0 0,0 0 0,0 0 0,-1 1 0,1-1 0,0 0 0,0 0 0,0 1 0,0-1 0,0 1 0,-1-1 0,1 1 0,0-1 0,0 1 0,0 0 0,0-1 0,-1 2 0,-2 2 0,0 0 0,1-1 0,-1 2 0,1-1 0,0 0 0,0 1 0,0-1 0,0 1 0,1 0 0,0 0 0,0 0 0,0 0 0,-1 7 0,-1 5 0,0 0 0,-2 32 0,6 114 0,1-74 0,2-39-455,2 0 0,20 84 0,-21-116-6371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2:58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98 24575,'0'8'0,"-1"1"0,-1-1 0,1 0 0,-1-1 0,-1 1 0,1 0 0,-6 10 0,4-9 0,0 0 0,1 0 0,0 0 0,0 0 0,-1 13 0,4-9 0,-3 25 0,3-37 0,0 0 0,0 0 0,0 0 0,0 0 0,-1 0 0,1 0 0,0 0 0,-1 0 0,1 0 0,-1 0 0,1 0 0,-1 0 0,1 0 0,-1 0 0,1-1 0,-1 1 0,0 0 0,0 0 0,1-1 0,-1 1 0,0-1 0,0 1 0,0 0 0,0-1 0,1 1 0,-1-1 0,0 0 0,-1 1 0,1-1 0,0-1 0,0 1 0,0-1 0,0 1 0,0-1 0,1 1 0,-1-1 0,0 1 0,0-1 0,1 0 0,-1 1 0,0-1 0,1 0 0,-1 0 0,1 1 0,-1-1 0,1 0 0,-1 0 0,1 0 0,0 0 0,-1 0 0,1 0 0,0 0 0,0 1 0,0-1 0,0 0 0,0-2 0,-4-32 0,3 32 0,-2-62 0,7-75 0,-4 137 0,1 0 0,-1 1 0,1-1 0,0 0 0,-1 1 0,1-1 0,0 1 0,1-1 0,-1 1 0,0 0 0,1-1 0,0 1 0,-1 0 0,1 0 0,0 0 0,2-2 0,-3 4 0,0-1 0,-1 1 0,1-1 0,0 1 0,0 0 0,0-1 0,0 1 0,-1 0 0,1-1 0,0 1 0,0 0 0,0 0 0,0 0 0,0 0 0,0 0 0,0 0 0,0 0 0,0 0 0,0 0 0,0 1 0,-1-1 0,1 0 0,0 1 0,0-1 0,0 0 0,0 1 0,0-1 0,-1 1 0,1-1 0,0 1 0,-1 0 0,1-1 0,0 1 0,-1 0 0,1-1 0,0 1 0,-1 0 0,1 0 0,-1-1 0,0 1 0,1 0 0,-1 0 0,0 0 0,1 0 0,-1 0 0,0 1 0,1-1-29,-1 0 0,0-1 0,0 1 0,0 0 0,0-1 0,0 1 0,0 0 0,0-1 0,0 1 0,-1 0 0,1-1 0,0 1 0,0 0 0,0-1 0,-1 1-1,1 0 1,0-1 0,-1 1 0,1-1 0,0 1 0,-1 0 0,1-1 0,-1 1 0,1-1 0,-1 0 0,1 1 0,-1-1 0,0 1 0,1-1 0,-1 0 0,1 1 0,-1-1 0,0 0 0,1 0 0,-1 1 0,0-1-1,1 0 1,-1 0 0,0 0 0,1 0 0,-1 0 0,0 0 0,1 0 0,-1 0 0,0 0 0,0 0 0,-17 1-6797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01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24575,'0'3'0,"7"2"0,6-4 0,-3-2 0,-7-1 0,-7 0 0,-3 7 0,7 3 0,7 0 0,5-2 0,1-4 0,-2-4-8191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05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24575,'10'0'0,"7"0"0,8 0 0,2 0 0,4 0 0,7 0 0,10 0 0,2 0 0,-2 0 0,1 4 0,-4 0 0,-6 0 0,-7 0 0,-4-2 0,-5 0 0,-2-1 0,-5-1-8191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12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1 365 24575,'4'0'0,"0"1"0,0-1 0,0 1 0,0 0 0,0 0 0,0 0 0,0 1 0,0-1 0,0 1 0,0 0 0,-1 0 0,1 0 0,-1 1 0,1-1 0,-1 1 0,0 0 0,3 4 0,6 6 0,-2 1 0,18 31 0,-20-32 0,0 0 0,18 22 0,-24-33 0,0 0 0,0 0 0,0 0 0,1 0 0,-1 0 0,1 0 0,-1 0 0,1-1 0,0 1 0,0-1 0,-1 0 0,1 0 0,0 0 0,0 0 0,0-1 0,0 1 0,0-1 0,0 1 0,0-1 0,4 0 0,-5-1 0,0 0 0,1 0 0,-1 0 0,0 0 0,0 0 0,0 0 0,0 0 0,0 0 0,0-1 0,0 1 0,0-1 0,-1 0 0,1 0 0,0 1 0,-1-1 0,0 0 0,1 0 0,-1 0 0,0 0 0,0-1 0,0 1 0,0 0 0,-1 0 0,1-1 0,0 1 0,-1-3 0,114-391 0,-87 304-1365,-19 71-5461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14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24575,'6'0'0,"0"0"0,0 1 0,0 0 0,0 0 0,0 1 0,0 0 0,0 0 0,0 0 0,-1 0 0,1 1 0,-1 0 0,1 0 0,-1 1 0,0-1 0,-1 1 0,1 0 0,-1 0 0,1 1 0,-1 0 0,-1-1 0,1 1 0,-1 0 0,1 1 0,3 10 0,-1-6 0,-1-1 0,1 0 0,1 0 0,-1 0 0,1-1 0,12 11 0,-17-17 0,-1 0 0,1 0 0,0-1 0,0 1 0,0-1 0,0 0 0,0 0 0,0 0 0,0 0 0,0 0 0,1 0 0,-1 0 0,0 0 0,1-1 0,-1 0 0,0 1 0,1-1 0,-1 0 0,0 0 0,1 0 0,-1 0 0,1-1 0,-1 1 0,0 0 0,1-1 0,-1 0 0,0 0 0,0 1 0,0-1 0,1-1 0,-1 1 0,0 0 0,0 0 0,-1-1 0,1 1 0,2-3 0,0-1 0,0-1 0,-1 1 0,1-1 0,-1 1 0,0-1 0,-1 0 0,3-9 0,9-17 0,5-4-455,3 1 0,37-48 0,-50 72-6371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1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1 200 24575,'1'7'0,"1"0"0,-1 0 0,2 0 0,-1-1 0,1 1 0,0-1 0,7 12 0,-3-4 0,2 2 0,-1 0 0,2 0 0,0-1 0,1-1 0,1 1 0,0-2 0,23 21 0,-30-30 0,0-1 0,0 1 0,0-1 0,0 0 0,0 0 0,1-1 0,0 1 0,-1-1 0,1-1 0,0 1 0,0-1 0,0 0 0,0 0 0,0 0 0,0-1 0,0 0 0,0 0 0,0-1 0,0 0 0,0 0 0,0 0 0,-1-1 0,1 1 0,0-2 0,-1 1 0,1 0 0,6-5 0,16-13 0,-1-1 0,-1-1 0,0-2 0,-2 0 0,22-29 0,-26 31 0,-2 2-110,61-76 354,-72 86-411,-1 0 1,0 0-1,0 0 1,-1-1-1,-1 0 1,0 0-1,0 0 0,2-15 1,-3 8-6660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11:03:45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647 21 24575,'-3'-2'0,"0"0"0,0 0 0,0 0 0,-1 0 0,1 0 0,0 1 0,-1 0 0,1-1 0,-1 1 0,0 1 0,1-1 0,-7 0 0,-50-1 0,39 3 0,-333-1 0,350 0 0,-1 0 0,0 0 0,0 1 0,0-1 0,0 1 0,1 0 0,-1 1 0,0-1 0,1 1 0,-1 0 0,1 0 0,-1 0 0,1 1 0,0-1 0,-5 6 0,4-4 0,1 1 0,0 0 0,1 0 0,-1 0 0,1 0 0,0 1 0,0-1 0,1 1 0,0 0 0,0 0 0,-2 10 0,-9 31 0,2 0 0,3 1 0,2 0 0,-1 95 0,7-136 0,0-1 0,1 0 0,0 1 0,0-1 0,1 0 0,-1 0 0,1 0 0,0 0 0,1 0 0,0 0 0,0-1 0,0 1 0,0-1 0,1 0 0,0 0 0,0 0 0,0 0 0,1-1 0,0 1 0,-1-1 0,2 0 0,-1-1 0,0 1 0,1-1 0,-1 0 0,1-1 0,0 1 0,0-1 0,0 0 0,0-1 0,1 1 0,-1-1 0,7 0 0,102 11 0,-49-7 0,114 26 0,-137-23 0,0-2 0,0-2 0,0-2 0,74-5 0,-15 1 0,-76 1 0,-1 0 0,1-2 0,-1-1 0,0-1 0,0-1 0,-1-1 0,1-1 0,-2-2 0,36-18 0,-18 10 0,-29 14 0,0-1 0,-1 0 0,0-1 0,-1 0 0,14-10 0,-21 12 0,0 0 0,-1 1 0,1-1 0,-1 0 0,0 0 0,0 0 0,0-1 0,0 1 0,-1 0 0,0-1 0,0 1 0,0-1 0,0 1 0,-1-1 0,0 1 0,0-1 0,-1-8 0,0 2 0,0 0 0,-1 1 0,0-1 0,-1 0 0,0 1 0,-6-14 0,4 14 0,0 1 0,-1 0 0,0 1 0,0-1 0,-1 1 0,0 1 0,-1-1 0,1 1 0,-2 1 0,1-1 0,-1 1 0,1 1 0,-17-8 0,-9-2 0,0 2 0,-58-14 0,28 9 0,-2-1-273,-1 2 0,-1 3 0,0 4 0,-137-5 0,186 15-6553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dd9a06a6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dd9a06a6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dd9a06a6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dd9a06a6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dd9a06a6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9dd9a06a6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dd9a06a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dd9a06a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8D3D47-CA0A-4695-BCA0-46E991EBA8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290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d31adb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d31adb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23b2806d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23b2806d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23b2806d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23b2806d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685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7d1eed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17d1eed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6cb4fab9b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6cb4fab9b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6cb4fab9b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6cb4fab9b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6cb4fab9b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6cb4fab9b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6cb4fab9b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6cb4fab9b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6cb4fab9b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6cb4fab9b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6cb4fab9b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6cb4fab9b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cb4fab9b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6cb4fab9b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9dd9a06a6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9dd9a06a6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dd9a06a6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dd9a06a6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6cb4fab9b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6cb4fab9b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6cb4fab9b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6cb4fab9b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6cb4fab9b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6cb4fab9b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6cb4fab9b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6cb4fab9b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6cf27f0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6cf27f0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6cb4fab9b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6cb4fab9b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6cb4fab9b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6cb4fab9b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6cb4fab9b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6cb4fab9b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6cb4fab9b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6cb4fab9b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6cb4fab9b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6cb4fab9b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6cb4fab9b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6cb4fab9b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6cb4fab9b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6cb4fab9b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dd9a06a6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9dd9a06a6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6ccba68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6ccba68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15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9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5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3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1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0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7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4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2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8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59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2559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63E6-B8E6-4E4E-99B8-E0DD7257C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60AA-1688-4E23-9060-1CE4B9141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8452-F4D3-43C6-AB8C-C28F807B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E0C20-42F5-4939-B4DB-E86AB10C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77FA-E3B7-4B71-904C-5EF91CCC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19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D88D-AC28-4465-843C-8EC215DF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63FEF-DBD4-4C48-8BC0-4693D61F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9273E-5A58-4F42-9CFE-28FE2276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E554F-AADD-44EC-978B-8D4B3310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74E5-B54F-4EE2-B147-C501BEE1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8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82FA-DC86-46BA-BA80-29E24C31F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BC64D-264F-4CB4-A338-D858A8415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8701-BF1B-4F25-B99F-E467371C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2861-6562-4CDF-B682-8568A015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953B-74B1-46DC-BD39-26477338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54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CE20-3BC4-4D45-88D2-42613CA8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9A21C-CBFD-42A5-B0B9-3782F74A5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9C9DD-EFB3-4C9A-8C4C-18E5603F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5B19-FBE6-4A4C-A78D-F803A025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DD378-5F79-4478-9DA6-9DDFDC25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9A59-4385-434B-853D-8E157033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9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4E04-2B63-46F0-B4B8-7BB3D917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6ABD4-68D4-467A-838A-E2DDC9243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D56A2-D3CE-4975-A2E0-518752749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0CF03-F15C-44FE-B34F-7F62B5AC9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2C6D7-A684-46EC-A2B0-C18BCE132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F084A-E463-4232-916A-CEFFC9A1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CE102-CFFA-407A-A307-033E2851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1B81F-A7D3-418D-AC1A-8D1778FF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7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AC76-E348-4112-B6A0-56E2637C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419BA-6AA7-43E1-ACDE-94235696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91CE1-89EA-49AA-8571-2F35D598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BE9E3-59ED-41AF-AFF7-51FDBFB5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07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C357D-7B25-4D7E-8CDD-8357AB1B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880AA-5219-4FB8-AF17-1FA604E3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87AB7-4F73-410E-8BA9-7AEBEF39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14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6D55-1925-4C42-AE51-89AB6FE2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1B8D-85E0-4484-B177-EF3635ED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5A31F-1C08-48A6-80B5-2CFD42524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73B02-00E5-4879-8257-B08B9C9D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364BF-F0F0-40DA-88AA-38C42F0A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66ED5-E012-4EF0-8917-1BB64B6C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43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72E34-D213-43D3-9249-2A8CB104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F6D5E-CAD1-4ADB-AF87-B006C7BF5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33C0A-5CBD-452F-B25B-F1DCAD439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B88D8-7443-4CB9-98EB-9F037098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4B881-4914-4122-B23B-2CE08960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7D4F1-4D13-4467-B589-F4884EEC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83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12ED-D887-4364-8808-0519867D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1CEAE-BEF3-4136-AD95-805A33C0B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1296-4AEB-4165-A8E0-1BBBA8DB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BC4B-BCD5-4493-9DFA-529F9EA5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6014B-69B7-4A1C-83E5-FEFB8A55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45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FAF92-934B-4FB9-929D-3456D3C10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74A27-DA63-45DC-BBE4-E52400E25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B0159-06A6-4706-B81E-FA82DE3D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760DF-97CB-4FDD-B4DB-3B95C89A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98C26-5F7E-414E-8C09-7D297812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363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5316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7948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10817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554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364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0119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Main 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07079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5266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0179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7989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074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</a:pPr>
            <a:fld id="{846CE7D5-CF57-46EF-B807-FDD0502418D4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10/7/2026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</a:pPr>
            <a:fld id="{330EA680-D336-4FF7-8B7A-9848BB0A1C32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67041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2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9FF38-B44A-4419-8808-9C31A57CD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FFDB7-4F2C-418E-B06E-20AA0449B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D5481-4544-4CCC-BD96-B11D127F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4917B-4741-4F2D-BF02-027933CDAB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80DD-62C7-446A-83F7-7746C8D19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DBC47-271B-4B8E-81A3-0ED27B562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ED109-093F-4855-ACDD-65E81C528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0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oogle Shape;100;p18">
            <a:extLst>
              <a:ext uri="{FF2B5EF4-FFF2-40B4-BE49-F238E27FC236}">
                <a16:creationId xmlns:a16="http://schemas.microsoft.com/office/drawing/2014/main" id="{AE4E4E9A-11B4-3197-3688-BF0EFECA2C2A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 r="64419"/>
          <a:stretch/>
        </p:blipFill>
        <p:spPr>
          <a:xfrm>
            <a:off x="8584699" y="89211"/>
            <a:ext cx="485228" cy="4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;p15">
            <a:extLst>
              <a:ext uri="{FF2B5EF4-FFF2-40B4-BE49-F238E27FC236}">
                <a16:creationId xmlns:a16="http://schemas.microsoft.com/office/drawing/2014/main" id="{49AE969C-7FAB-306B-12CE-B86BE5F99AE2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073" y="94970"/>
            <a:ext cx="1088176" cy="511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16603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3.png"/><Relationship Id="rId1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hyperlink" Target="https://uh.edu/cbl/" TargetMode="External"/><Relationship Id="rId12" Type="http://schemas.openxmlformats.org/officeDocument/2006/relationships/hyperlink" Target="http://www.nationwide.com/" TargetMode="External"/><Relationship Id="rId17" Type="http://schemas.openxmlformats.org/officeDocument/2006/relationships/hyperlink" Target="http://www.bitdatamining.com/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hyperlink" Target="https://math.uiowa.edu/" TargetMode="External"/><Relationship Id="rId15" Type="http://schemas.openxmlformats.org/officeDocument/2006/relationships/image" Target="../media/image14.png"/><Relationship Id="rId10" Type="http://schemas.openxmlformats.org/officeDocument/2006/relationships/hyperlink" Target="http://www.pros.com/" TargetMode="External"/><Relationship Id="rId19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emf"/><Relationship Id="rId14" Type="http://schemas.openxmlformats.org/officeDocument/2006/relationships/hyperlink" Target="http://www.pioneer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aaaipress.org/ojs/index.php/aimagazine/article/viewFile/1011/92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aaipress.org/ojs/index.php/aimagazine/article/viewFile/1011/92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net_of_thing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tmhsweb/cbl-pp1" TargetMode="External"/><Relationship Id="rId7" Type="http://schemas.openxmlformats.org/officeDocument/2006/relationships/hyperlink" Target="https://www.youtube.com/watch?v=-oJlJ5oo5A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pros.com/" TargetMode="External"/><Relationship Id="rId5" Type="http://schemas.openxmlformats.org/officeDocument/2006/relationships/hyperlink" Target="http://www.pioneer.com/" TargetMode="External"/><Relationship Id="rId4" Type="http://schemas.openxmlformats.org/officeDocument/2006/relationships/hyperlink" Target="https://www.nationwide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rtner.com/it-glossary/?s=Data+mini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aryl-pregibon-a46a081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9" Type="http://schemas.openxmlformats.org/officeDocument/2006/relationships/image" Target="../media/image46.png"/><Relationship Id="rId21" Type="http://schemas.openxmlformats.org/officeDocument/2006/relationships/image" Target="../media/image37.png"/><Relationship Id="rId34" Type="http://schemas.openxmlformats.org/officeDocument/2006/relationships/customXml" Target="../ink/ink14.xml"/><Relationship Id="rId7" Type="http://schemas.openxmlformats.org/officeDocument/2006/relationships/hyperlink" Target="https://www.youtube.com/watch?v=PN1L0hPP6IY" TargetMode="External"/><Relationship Id="rId2" Type="http://schemas.openxmlformats.org/officeDocument/2006/relationships/image" Target="../media/image27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41.png"/><Relationship Id="rId41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Z93yWXb9Tb0" TargetMode="External"/><Relationship Id="rId11" Type="http://schemas.openxmlformats.org/officeDocument/2006/relationships/image" Target="../media/image32.png"/><Relationship Id="rId24" Type="http://schemas.openxmlformats.org/officeDocument/2006/relationships/customXml" Target="../ink/ink9.xml"/><Relationship Id="rId32" Type="http://schemas.openxmlformats.org/officeDocument/2006/relationships/customXml" Target="../ink/ink13.xml"/><Relationship Id="rId37" Type="http://schemas.openxmlformats.org/officeDocument/2006/relationships/image" Target="../media/image45.png"/><Relationship Id="rId40" Type="http://schemas.openxmlformats.org/officeDocument/2006/relationships/customXml" Target="../ink/ink17.xml"/><Relationship Id="rId5" Type="http://schemas.openxmlformats.org/officeDocument/2006/relationships/image" Target="../media/image30.png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10" Type="http://schemas.openxmlformats.org/officeDocument/2006/relationships/customXml" Target="../ink/ink2.xml"/><Relationship Id="rId19" Type="http://schemas.openxmlformats.org/officeDocument/2006/relationships/image" Target="../media/image36.png"/><Relationship Id="rId31" Type="http://schemas.openxmlformats.org/officeDocument/2006/relationships/image" Target="../media/image4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40.png"/><Relationship Id="rId30" Type="http://schemas.openxmlformats.org/officeDocument/2006/relationships/customXml" Target="../ink/ink12.xml"/><Relationship Id="rId35" Type="http://schemas.openxmlformats.org/officeDocument/2006/relationships/image" Target="../media/image44.png"/><Relationship Id="rId8" Type="http://schemas.openxmlformats.org/officeDocument/2006/relationships/customXml" Target="../ink/ink1.xml"/><Relationship Id="rId3" Type="http://schemas.openxmlformats.org/officeDocument/2006/relationships/image" Target="../media/image28.png"/><Relationship Id="rId12" Type="http://schemas.openxmlformats.org/officeDocument/2006/relationships/customXml" Target="../ink/ink3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8.xml"/><Relationship Id="rId5" Type="http://schemas.openxmlformats.org/officeDocument/2006/relationships/image" Target="../media/image50.png"/><Relationship Id="rId4" Type="http://schemas.openxmlformats.org/officeDocument/2006/relationships/image" Target="../media/image4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Cross_Industry_Standard_Process_for_Data_Mining" TargetMode="External"/><Relationship Id="rId5" Type="http://schemas.openxmlformats.org/officeDocument/2006/relationships/hyperlink" Target="http://www.sas.com/en_us/company-information.html" TargetMode="External"/><Relationship Id="rId4" Type="http://schemas.openxmlformats.org/officeDocument/2006/relationships/hyperlink" Target="https://en.wikipedia.org/wiki/SEMMA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emanticommunity.info/Data_Science/Big_Data_Science_for_CODATA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dataminingcasestudies.com/DMCS_WorkshopProceedings25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atillion.com/insights/5-real-life-applications-of-data-mining-and-business-intelligence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4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SEED1 </a:t>
            </a:r>
            <a:r>
              <a:rPr kumimoji="0" lang="en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Curs </a:t>
            </a:r>
            <a:r>
              <a:rPr kumimoji="0" lang="ro-RO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</a:t>
            </a:r>
            <a:br>
              <a:rPr kumimoji="0" lang="en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Introducere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in data science</a:t>
            </a:r>
            <a:endParaRPr lang="ro-RO" dirty="0">
              <a:solidFill>
                <a:srgbClr val="002060"/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Instructor: Conf. Dr.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Teodor-Ștefan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Bîldea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alibri"/>
            </a:endParaRP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SIIPA,</a:t>
            </a:r>
            <a:r>
              <a:rPr kumimoji="0" lang="ro-R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Semestrul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Calibri"/>
              </a:rPr>
              <a:t> I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solidFill>
                <a:srgbClr val="6370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dirty="0">
              <a:solidFill>
                <a:srgbClr val="6370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6370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</a:rPr>
              <a:t>Despre mine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D43391-E175-DA6F-30D4-581AF4E95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25" y="191775"/>
            <a:ext cx="1088176" cy="5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5" y="775600"/>
            <a:ext cx="8789276" cy="32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50" y="562450"/>
            <a:ext cx="8745475" cy="41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rcRect b="30153"/>
          <a:stretch/>
        </p:blipFill>
        <p:spPr>
          <a:xfrm>
            <a:off x="142825" y="540966"/>
            <a:ext cx="8839201" cy="30222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45CD9-9FE6-E75B-8ACE-A914208D1F8D}"/>
              </a:ext>
            </a:extLst>
          </p:cNvPr>
          <p:cNvSpPr txBox="1"/>
          <p:nvPr/>
        </p:nvSpPr>
        <p:spPr>
          <a:xfrm>
            <a:off x="7446874" y="2779775"/>
            <a:ext cx="672998" cy="5047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09AD4-DE66-40F9-08CA-90DF24A1B135}"/>
              </a:ext>
            </a:extLst>
          </p:cNvPr>
          <p:cNvSpPr txBox="1"/>
          <p:nvPr/>
        </p:nvSpPr>
        <p:spPr>
          <a:xfrm>
            <a:off x="6243702" y="2417861"/>
            <a:ext cx="67299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ro-R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7118-1B63-6649-F15B-79E58DA5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rgbClr val="002060"/>
                </a:solidFill>
              </a:rPr>
              <a:t>Studenți îndrumați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480E7-35E7-3FDE-B96F-53AA247FB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2020-2021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Iulia Pavel – POC: improving cashflow collection by predicting invoice payout(@Bit Software)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Gabriel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Pelmu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ș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extracting data from tables in documents via machine learning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Andrada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Iord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nescu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multiclass document classification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Loredana C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â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rnici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hydrophonic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system with incorporated ML model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2021-2022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Vlad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Blendic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implementation of  model for invoice payout forecast ( @Bit Software)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Bogdan Botez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tourism app for  a tourism 4.0 platform (POC for personalized tourism)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Jupial</a:t>
            </a:r>
            <a:r>
              <a:rPr lang="ro-RO" sz="1600" kern="1200" dirty="0">
                <a:solidFill>
                  <a:srgbClr val="002060"/>
                </a:solidFill>
                <a:latin typeface="Calibri" panose="020F0502020204030204"/>
                <a:ea typeface="+mn-ea"/>
                <a:cs typeface="+mn-cs"/>
              </a:rPr>
              <a:t>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Adriana – recommendation engine for cross-sell recommendations in warehouses of national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autoparts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distributor(@ AD AUTOTAL)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Radu-Mihai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Mihalcea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o-RO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extracting info from receipts via ML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929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4976-C015-47B7-9896-673C7329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 la matematică la data science</a:t>
            </a: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5EFC65-1570-F87A-366B-C68A677B948C}"/>
              </a:ext>
            </a:extLst>
          </p:cNvPr>
          <p:cNvGrpSpPr/>
          <p:nvPr/>
        </p:nvGrpSpPr>
        <p:grpSpPr>
          <a:xfrm>
            <a:off x="653737" y="1232454"/>
            <a:ext cx="2361539" cy="1001875"/>
            <a:chOff x="874643" y="1652604"/>
            <a:chExt cx="3148718" cy="133583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37245E5-01D7-4D13-8256-14F7A2B57B65}"/>
                </a:ext>
              </a:extLst>
            </p:cNvPr>
            <p:cNvGrpSpPr/>
            <p:nvPr/>
          </p:nvGrpSpPr>
          <p:grpSpPr>
            <a:xfrm>
              <a:off x="874643" y="1652604"/>
              <a:ext cx="3148718" cy="1335833"/>
              <a:chOff x="341905" y="1927940"/>
              <a:chExt cx="3148718" cy="133583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C121A8D-BE7F-42D4-B060-CEE1B47644F5}"/>
                  </a:ext>
                </a:extLst>
              </p:cNvPr>
              <p:cNvGrpSpPr/>
              <p:nvPr/>
            </p:nvGrpSpPr>
            <p:grpSpPr>
              <a:xfrm>
                <a:off x="341905" y="1927940"/>
                <a:ext cx="3148718" cy="1335833"/>
                <a:chOff x="341905" y="1927940"/>
                <a:chExt cx="3148718" cy="1335833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4449D02C-48EB-41EA-9EA4-F81F419896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52" t="20753" r="74396" b="63942"/>
                <a:stretch/>
              </p:blipFill>
              <p:spPr>
                <a:xfrm>
                  <a:off x="762000" y="1927940"/>
                  <a:ext cx="1880587" cy="737492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6AE3F37-7C92-4A43-87AB-65774F63AC8D}"/>
                    </a:ext>
                  </a:extLst>
                </p:cNvPr>
                <p:cNvSpPr txBox="1"/>
                <p:nvPr/>
              </p:nvSpPr>
              <p:spPr>
                <a:xfrm>
                  <a:off x="341905" y="2802108"/>
                  <a:ext cx="314871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:r>
                    <a:rPr lang="ro-RO" sz="825" kern="1200" dirty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  <a:t>Licență,  Matematică-InformaticăAnaliză (1997)</a:t>
                  </a:r>
                </a:p>
                <a:p>
                  <a:pPr defTabSz="685800">
                    <a:buClrTx/>
                  </a:pPr>
                  <a:r>
                    <a:rPr lang="ro-RO" sz="825" kern="1200" dirty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  <a:t> Master, Probabilități și Statistică (1998)</a:t>
                  </a:r>
                  <a:endParaRPr lang="en-US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412E74B-CD3A-4B35-B4B7-31D4A7066F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5188" r="94511" b="76056"/>
              <a:stretch/>
            </p:blipFill>
            <p:spPr>
              <a:xfrm>
                <a:off x="2527267" y="1996453"/>
                <a:ext cx="669235" cy="600466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0DDD02B-1091-432C-A112-A64964C1E1BC}"/>
                </a:ext>
              </a:extLst>
            </p:cNvPr>
            <p:cNvSpPr txBox="1"/>
            <p:nvPr/>
          </p:nvSpPr>
          <p:spPr>
            <a:xfrm>
              <a:off x="1300899" y="2454782"/>
              <a:ext cx="224215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M.Sc. Statistics, 1997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C551CE-D43D-9472-BF7B-B0C95A4A8F3C}"/>
              </a:ext>
            </a:extLst>
          </p:cNvPr>
          <p:cNvGrpSpPr/>
          <p:nvPr/>
        </p:nvGrpSpPr>
        <p:grpSpPr>
          <a:xfrm>
            <a:off x="3169502" y="1105941"/>
            <a:ext cx="2115715" cy="1221667"/>
            <a:chOff x="4223903" y="1572060"/>
            <a:chExt cx="2820953" cy="162889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5742FA-F85C-44A8-9CF9-F566BF53E658}"/>
                </a:ext>
              </a:extLst>
            </p:cNvPr>
            <p:cNvGrpSpPr/>
            <p:nvPr/>
          </p:nvGrpSpPr>
          <p:grpSpPr>
            <a:xfrm>
              <a:off x="4509766" y="1572060"/>
              <a:ext cx="2535090" cy="1254957"/>
              <a:chOff x="319376" y="1891107"/>
              <a:chExt cx="2535090" cy="1254957"/>
            </a:xfrm>
          </p:grpSpPr>
          <p:pic>
            <p:nvPicPr>
              <p:cNvPr id="5" name="Picture 2" descr="University of Iowa - Wikipedia">
                <a:hlinkClick r:id="rId5"/>
                <a:extLst>
                  <a:ext uri="{FF2B5EF4-FFF2-40B4-BE49-F238E27FC236}">
                    <a16:creationId xmlns:a16="http://schemas.microsoft.com/office/drawing/2014/main" id="{E1373274-8460-4A11-961E-AC7C81F088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0" y="1891107"/>
                <a:ext cx="955040" cy="9550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AA195-86AE-4B79-A7F1-504B565D47AA}"/>
                  </a:ext>
                </a:extLst>
              </p:cNvPr>
              <p:cNvSpPr txBox="1"/>
              <p:nvPr/>
            </p:nvSpPr>
            <p:spPr>
              <a:xfrm>
                <a:off x="319376" y="2853676"/>
                <a:ext cx="253509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Doctorat, Analiză Funcțională (2005)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847A861-B276-400D-9DF2-83F76C3D0F2D}"/>
                </a:ext>
              </a:extLst>
            </p:cNvPr>
            <p:cNvSpPr txBox="1"/>
            <p:nvPr/>
          </p:nvSpPr>
          <p:spPr>
            <a:xfrm>
              <a:off x="4223903" y="2523841"/>
              <a:ext cx="2535089" cy="677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Ph.D. Mathematics, 2005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85B030-5D5A-C469-FE4D-2E9299118ADB}"/>
              </a:ext>
            </a:extLst>
          </p:cNvPr>
          <p:cNvGrpSpPr/>
          <p:nvPr/>
        </p:nvGrpSpPr>
        <p:grpSpPr>
          <a:xfrm>
            <a:off x="5591303" y="1272781"/>
            <a:ext cx="2555099" cy="861388"/>
            <a:chOff x="7386892" y="1744495"/>
            <a:chExt cx="3406799" cy="114851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5A1A679-D6DD-4D19-B637-227E7A74F939}"/>
                </a:ext>
              </a:extLst>
            </p:cNvPr>
            <p:cNvGrpSpPr/>
            <p:nvPr/>
          </p:nvGrpSpPr>
          <p:grpSpPr>
            <a:xfrm>
              <a:off x="7386892" y="1744495"/>
              <a:ext cx="3252770" cy="1082522"/>
              <a:chOff x="6168977" y="2056012"/>
              <a:chExt cx="3252770" cy="108252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341875D-1D98-4B50-B9A0-35003E4349A1}"/>
                  </a:ext>
                </a:extLst>
              </p:cNvPr>
              <p:cNvGrpSpPr/>
              <p:nvPr/>
            </p:nvGrpSpPr>
            <p:grpSpPr>
              <a:xfrm>
                <a:off x="6785110" y="2056012"/>
                <a:ext cx="2636637" cy="1082522"/>
                <a:chOff x="2650434" y="2056012"/>
                <a:chExt cx="2636637" cy="1082522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D6844003-5A85-4E37-B932-E2CE1BBB410F}"/>
                    </a:ext>
                  </a:extLst>
                </p:cNvPr>
                <p:cNvGrpSpPr/>
                <p:nvPr/>
              </p:nvGrpSpPr>
              <p:grpSpPr>
                <a:xfrm>
                  <a:off x="2714174" y="2056012"/>
                  <a:ext cx="2572897" cy="625230"/>
                  <a:chOff x="3199750" y="2321780"/>
                  <a:chExt cx="2572897" cy="625230"/>
                </a:xfrm>
              </p:grpSpPr>
              <p:pic>
                <p:nvPicPr>
                  <p:cNvPr id="12" name="Picture 11">
                    <a:hlinkClick r:id="rId7"/>
                    <a:extLst>
                      <a:ext uri="{FF2B5EF4-FFF2-40B4-BE49-F238E27FC236}">
                        <a16:creationId xmlns:a16="http://schemas.microsoft.com/office/drawing/2014/main" id="{204C400F-C265-47C3-B177-4290DA7B3A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8"/>
                  <a:srcRect t="10826" r="43860"/>
                  <a:stretch/>
                </p:blipFill>
                <p:spPr>
                  <a:xfrm>
                    <a:off x="3199750" y="2321780"/>
                    <a:ext cx="2572897" cy="294725"/>
                  </a:xfrm>
                  <a:prstGeom prst="rect">
                    <a:avLst/>
                  </a:prstGeom>
                </p:spPr>
              </p:pic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id="{5E810A5E-A7F4-481A-AF5E-9C58606A65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8"/>
                  <a:srcRect l="55764" t="10826"/>
                  <a:stretch/>
                </p:blipFill>
                <p:spPr>
                  <a:xfrm>
                    <a:off x="3463911" y="2652285"/>
                    <a:ext cx="2027347" cy="29472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94D1DDD-BD49-425D-86B9-DE8AE1ACAB43}"/>
                    </a:ext>
                  </a:extLst>
                </p:cNvPr>
                <p:cNvSpPr txBox="1"/>
                <p:nvPr/>
              </p:nvSpPr>
              <p:spPr>
                <a:xfrm>
                  <a:off x="2650434" y="2846146"/>
                  <a:ext cx="2636637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buClrTx/>
                  </a:pPr>
                  <a:r>
                    <a:rPr lang="ro-RO" sz="825" kern="1200" dirty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  <a:t>Postdoctorat, Aplicații Wavelets (2006)</a:t>
                  </a:r>
                  <a:endParaRPr lang="en-US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E27F707-9C88-471E-ACA5-4A32D8E982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t="3230" r="10870"/>
              <a:stretch/>
            </p:blipFill>
            <p:spPr>
              <a:xfrm>
                <a:off x="6168977" y="2113809"/>
                <a:ext cx="686865" cy="473855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69DDB98-9103-4514-8E84-BDECE2A658F2}"/>
                </a:ext>
              </a:extLst>
            </p:cNvPr>
            <p:cNvSpPr txBox="1"/>
            <p:nvPr/>
          </p:nvSpPr>
          <p:spPr>
            <a:xfrm>
              <a:off x="7717161" y="2492903"/>
              <a:ext cx="307653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Post Doc, Data Science, 2006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F36D15-70F7-6B79-BFD5-8D91FBE92EA9}"/>
              </a:ext>
            </a:extLst>
          </p:cNvPr>
          <p:cNvGrpSpPr/>
          <p:nvPr/>
        </p:nvGrpSpPr>
        <p:grpSpPr>
          <a:xfrm>
            <a:off x="227125" y="2380098"/>
            <a:ext cx="2289503" cy="1041957"/>
            <a:chOff x="302832" y="3173465"/>
            <a:chExt cx="3052671" cy="138927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13A9C51-88E3-4DEA-8AB9-814937E7DF94}"/>
                </a:ext>
              </a:extLst>
            </p:cNvPr>
            <p:cNvGrpSpPr/>
            <p:nvPr/>
          </p:nvGrpSpPr>
          <p:grpSpPr>
            <a:xfrm>
              <a:off x="616435" y="3173465"/>
              <a:ext cx="2739068" cy="813219"/>
              <a:chOff x="616435" y="4003027"/>
              <a:chExt cx="2739068" cy="813219"/>
            </a:xfrm>
          </p:grpSpPr>
          <p:pic>
            <p:nvPicPr>
              <p:cNvPr id="20" name="Picture 19">
                <a:hlinkClick r:id="rId10"/>
                <a:extLst>
                  <a:ext uri="{FF2B5EF4-FFF2-40B4-BE49-F238E27FC236}">
                    <a16:creationId xmlns:a16="http://schemas.microsoft.com/office/drawing/2014/main" id="{9EF79E04-3F5B-4D87-8376-7032DAEDD6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1174" t="29796" r="90206" b="62870"/>
              <a:stretch/>
            </p:blipFill>
            <p:spPr>
              <a:xfrm>
                <a:off x="1203967" y="4003027"/>
                <a:ext cx="1050976" cy="502941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FD7D93-F993-423D-BA72-0D6B22F2DFCE}"/>
                  </a:ext>
                </a:extLst>
              </p:cNvPr>
              <p:cNvSpPr txBox="1"/>
              <p:nvPr/>
            </p:nvSpPr>
            <p:spPr>
              <a:xfrm>
                <a:off x="616435" y="4523858"/>
                <a:ext cx="273906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Optimizare de prețuri, cercetător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6DAAC8-9394-4BDD-819B-AD65BA216501}"/>
                </a:ext>
              </a:extLst>
            </p:cNvPr>
            <p:cNvSpPr txBox="1"/>
            <p:nvPr/>
          </p:nvSpPr>
          <p:spPr>
            <a:xfrm>
              <a:off x="302832" y="3608634"/>
              <a:ext cx="2898518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Pricing Data Scientist 2007</a:t>
              </a:r>
              <a:endParaRPr lang="ro-RO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  <a:p>
              <a:pPr defTabSz="685800">
                <a:buClrTx/>
              </a:pPr>
              <a:r>
                <a:rPr lang="ro-RO" sz="1350" i="1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Price optimization airlines,</a:t>
              </a:r>
            </a:p>
            <a:p>
              <a:pPr defTabSz="685800">
                <a:buClrTx/>
              </a:pPr>
              <a:r>
                <a:rPr lang="ro-RO" sz="1350" i="1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car rental,  industry verticals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ACA51B1-8E4F-F86D-1E7E-870C5CA47266}"/>
              </a:ext>
            </a:extLst>
          </p:cNvPr>
          <p:cNvGrpSpPr/>
          <p:nvPr/>
        </p:nvGrpSpPr>
        <p:grpSpPr>
          <a:xfrm>
            <a:off x="2289919" y="2244443"/>
            <a:ext cx="2354555" cy="965972"/>
            <a:chOff x="3053224" y="2992593"/>
            <a:chExt cx="3139407" cy="128796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FB4CD96-D216-41D8-A841-6A5A1122F5E6}"/>
                </a:ext>
              </a:extLst>
            </p:cNvPr>
            <p:cNvGrpSpPr/>
            <p:nvPr/>
          </p:nvGrpSpPr>
          <p:grpSpPr>
            <a:xfrm>
              <a:off x="3543050" y="2992593"/>
              <a:ext cx="2240943" cy="1163368"/>
              <a:chOff x="4059886" y="3822155"/>
              <a:chExt cx="2240943" cy="1163368"/>
            </a:xfrm>
          </p:grpSpPr>
          <p:pic>
            <p:nvPicPr>
              <p:cNvPr id="23" name="Picture 22">
                <a:hlinkClick r:id="rId12"/>
                <a:extLst>
                  <a:ext uri="{FF2B5EF4-FFF2-40B4-BE49-F238E27FC236}">
                    <a16:creationId xmlns:a16="http://schemas.microsoft.com/office/drawing/2014/main" id="{D6D9B51A-A702-4DC8-B0ED-F5A7AEFEBF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42723" t="24927" r="40318" b="65102"/>
              <a:stretch/>
            </p:blipFill>
            <p:spPr>
              <a:xfrm>
                <a:off x="4059886" y="3822155"/>
                <a:ext cx="2067725" cy="683813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3AF9F5-E6D5-4F08-9AF2-E67E05505AFC}"/>
                  </a:ext>
                </a:extLst>
              </p:cNvPr>
              <p:cNvSpPr txBox="1"/>
              <p:nvPr/>
            </p:nvSpPr>
            <p:spPr>
              <a:xfrm>
                <a:off x="4059886" y="4523858"/>
                <a:ext cx="22409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Știi</a:t>
                </a:r>
                <a:r>
                  <a:rPr lang="en-US" sz="825" kern="1200" dirty="0" err="1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Pricin</a:t>
                </a: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nțe actuariale- asgurări, analist senior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43C485-CC59-4DB7-AD68-D80F3333B3FF}"/>
                </a:ext>
              </a:extLst>
            </p:cNvPr>
            <p:cNvSpPr txBox="1"/>
            <p:nvPr/>
          </p:nvSpPr>
          <p:spPr>
            <a:xfrm>
              <a:off x="3053224" y="3603448"/>
              <a:ext cx="313940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Senior Pricing Analyst, 2008</a:t>
              </a:r>
              <a:endParaRPr lang="ro-RO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  <a:p>
              <a:pPr defTabSz="685800">
                <a:buClrTx/>
              </a:pPr>
              <a:r>
                <a:rPr lang="ro-RO" sz="1350" i="1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Car insurance – risk modeling</a:t>
              </a:r>
              <a:endParaRPr lang="en-US" sz="1350" i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4E8B83C-294E-6DB5-8FF2-B922B7475BDA}"/>
              </a:ext>
            </a:extLst>
          </p:cNvPr>
          <p:cNvGrpSpPr/>
          <p:nvPr/>
        </p:nvGrpSpPr>
        <p:grpSpPr>
          <a:xfrm>
            <a:off x="4528858" y="2220267"/>
            <a:ext cx="2000746" cy="1196544"/>
            <a:chOff x="6038477" y="2960356"/>
            <a:chExt cx="2667661" cy="159539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6049826-4F93-41C8-8AFB-116CEBEC784F}"/>
                </a:ext>
              </a:extLst>
            </p:cNvPr>
            <p:cNvGrpSpPr/>
            <p:nvPr/>
          </p:nvGrpSpPr>
          <p:grpSpPr>
            <a:xfrm>
              <a:off x="6465195" y="2960356"/>
              <a:ext cx="2240943" cy="1043749"/>
              <a:chOff x="6465195" y="3789918"/>
              <a:chExt cx="2240943" cy="1043749"/>
            </a:xfrm>
          </p:grpSpPr>
          <p:pic>
            <p:nvPicPr>
              <p:cNvPr id="26" name="Picture 25">
                <a:hlinkClick r:id="rId14"/>
                <a:extLst>
                  <a:ext uri="{FF2B5EF4-FFF2-40B4-BE49-F238E27FC236}">
                    <a16:creationId xmlns:a16="http://schemas.microsoft.com/office/drawing/2014/main" id="{FED4BA08-FBE7-4C02-9D4F-8CB36374F2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4630" t="16812" r="83500" b="64673"/>
              <a:stretch/>
            </p:blipFill>
            <p:spPr>
              <a:xfrm>
                <a:off x="7159131" y="3789918"/>
                <a:ext cx="686865" cy="602665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5C5C83-6F51-4E68-9970-BBC96150B43B}"/>
                  </a:ext>
                </a:extLst>
              </p:cNvPr>
              <p:cNvSpPr txBox="1"/>
              <p:nvPr/>
            </p:nvSpPr>
            <p:spPr>
              <a:xfrm>
                <a:off x="6465195" y="4541279"/>
                <a:ext cx="2240943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Bioinformatică, cercetător senior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D9D932-CCB9-4DC1-982C-73F39D6F0442}"/>
                </a:ext>
              </a:extLst>
            </p:cNvPr>
            <p:cNvSpPr txBox="1"/>
            <p:nvPr/>
          </p:nvSpPr>
          <p:spPr>
            <a:xfrm>
              <a:off x="6038477" y="3601640"/>
              <a:ext cx="26566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Senior Data Scientist 2009</a:t>
              </a:r>
              <a:endParaRPr lang="ro-RO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  <a:p>
              <a:pPr defTabSz="685800">
                <a:buClrTx/>
              </a:pPr>
              <a:r>
                <a:rPr lang="ro-RO" sz="1350" i="1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Corn DNA data mining</a:t>
              </a:r>
              <a:endParaRPr lang="en-US" sz="1350" i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6CC8CC-1490-F81E-4F87-EFB38F83C145}"/>
              </a:ext>
            </a:extLst>
          </p:cNvPr>
          <p:cNvGrpSpPr/>
          <p:nvPr/>
        </p:nvGrpSpPr>
        <p:grpSpPr>
          <a:xfrm>
            <a:off x="6585823" y="2380098"/>
            <a:ext cx="2499260" cy="1023675"/>
            <a:chOff x="8781097" y="3173465"/>
            <a:chExt cx="3332346" cy="136490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B039BD-24AC-486F-AF5B-736DFF77423C}"/>
                </a:ext>
              </a:extLst>
            </p:cNvPr>
            <p:cNvGrpSpPr/>
            <p:nvPr/>
          </p:nvGrpSpPr>
          <p:grpSpPr>
            <a:xfrm>
              <a:off x="8870504" y="3173465"/>
              <a:ext cx="2412397" cy="813219"/>
              <a:chOff x="8870504" y="4003027"/>
              <a:chExt cx="2412397" cy="813219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A1D82A0-3682-455F-B303-C820C55269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1174" t="29796" r="90206" b="62870"/>
              <a:stretch/>
            </p:blipFill>
            <p:spPr>
              <a:xfrm>
                <a:off x="8959912" y="4003027"/>
                <a:ext cx="1050976" cy="502941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1BD501-80D1-441D-97D4-08B683A2CB45}"/>
                  </a:ext>
                </a:extLst>
              </p:cNvPr>
              <p:cNvSpPr txBox="1"/>
              <p:nvPr/>
            </p:nvSpPr>
            <p:spPr>
              <a:xfrm>
                <a:off x="8870504" y="4523858"/>
                <a:ext cx="2412397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Cercetător principal, EMEA (2011)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75D85D-8609-4962-85BA-E91698118CB1}"/>
                </a:ext>
              </a:extLst>
            </p:cNvPr>
            <p:cNvSpPr txBox="1"/>
            <p:nvPr/>
          </p:nvSpPr>
          <p:spPr>
            <a:xfrm>
              <a:off x="8781097" y="3584258"/>
              <a:ext cx="3332346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EU, Lead Data Scientist 2009</a:t>
              </a:r>
              <a:endParaRPr lang="ro-RO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  <a:p>
              <a:pPr defTabSz="685800">
                <a:buClrTx/>
              </a:pPr>
              <a:r>
                <a:rPr lang="ro-RO" sz="1350" i="1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Sales Opportunity Detection Smart CPQ, Value monitorization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DA97A7-248A-CCA4-A1CF-D3408CAD221D}"/>
              </a:ext>
            </a:extLst>
          </p:cNvPr>
          <p:cNvGrpSpPr/>
          <p:nvPr/>
        </p:nvGrpSpPr>
        <p:grpSpPr>
          <a:xfrm>
            <a:off x="1350390" y="3634709"/>
            <a:ext cx="1371600" cy="1074797"/>
            <a:chOff x="1800520" y="4846277"/>
            <a:chExt cx="1828800" cy="1433062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280C611-9602-41B1-846A-1D3CCAC49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969707" y="4846277"/>
              <a:ext cx="1357313" cy="919163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A69B45-EDD0-4BEC-86D5-582AC08E7CEB}"/>
                </a:ext>
              </a:extLst>
            </p:cNvPr>
            <p:cNvSpPr txBox="1"/>
            <p:nvPr/>
          </p:nvSpPr>
          <p:spPr>
            <a:xfrm>
              <a:off x="1800520" y="5602231"/>
              <a:ext cx="182880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Co-Founder, 2016</a:t>
              </a:r>
              <a:r>
                <a:rPr lang="ro-RO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-2021</a:t>
              </a:r>
              <a:endPara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F2FEFD1-3A52-DCAA-153B-36F2A6FAEDCE}"/>
              </a:ext>
            </a:extLst>
          </p:cNvPr>
          <p:cNvGrpSpPr/>
          <p:nvPr/>
        </p:nvGrpSpPr>
        <p:grpSpPr>
          <a:xfrm>
            <a:off x="5337703" y="3634707"/>
            <a:ext cx="3207734" cy="1237470"/>
            <a:chOff x="7116936" y="4846277"/>
            <a:chExt cx="4276979" cy="164996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0BA86E4-B920-4117-BFDD-26912E117E4A}"/>
                </a:ext>
              </a:extLst>
            </p:cNvPr>
            <p:cNvGrpSpPr/>
            <p:nvPr/>
          </p:nvGrpSpPr>
          <p:grpSpPr>
            <a:xfrm>
              <a:off x="7116936" y="4846277"/>
              <a:ext cx="4276979" cy="1238197"/>
              <a:chOff x="661360" y="2025576"/>
              <a:chExt cx="4276979" cy="1238197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86A8C7-9888-485D-ADE5-B1400D16584E}"/>
                  </a:ext>
                </a:extLst>
              </p:cNvPr>
              <p:cNvSpPr txBox="1"/>
              <p:nvPr/>
            </p:nvSpPr>
            <p:spPr>
              <a:xfrm>
                <a:off x="661360" y="2802108"/>
                <a:ext cx="42769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:r>
                  <a:rPr lang="ro-RO" sz="825" kern="1200" dirty="0">
                    <a:solidFill>
                      <a:prstClr val="white"/>
                    </a:solidFill>
                    <a:latin typeface="Calibri" panose="020F0502020204030204"/>
                    <a:ea typeface="+mn-ea"/>
                    <a:cs typeface="+mn-cs"/>
                  </a:rPr>
                  <a:t>Cadru didactic asociat, cursuri  aplicative de data science și AI (2016-2020)</a:t>
                </a:r>
                <a:endParaRPr lang="en-US" sz="825" kern="1200" dirty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FA2EC16-7E77-4357-B59D-CB6172544E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-1" t="15188" r="87117" b="75790"/>
              <a:stretch/>
            </p:blipFill>
            <p:spPr>
              <a:xfrm>
                <a:off x="757356" y="2025576"/>
                <a:ext cx="1570770" cy="618764"/>
              </a:xfrm>
              <a:prstGeom prst="rect">
                <a:avLst/>
              </a:prstGeom>
            </p:spPr>
          </p:pic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370993F-1158-468A-A515-6ECFEAF00654}"/>
                </a:ext>
              </a:extLst>
            </p:cNvPr>
            <p:cNvSpPr txBox="1"/>
            <p:nvPr/>
          </p:nvSpPr>
          <p:spPr>
            <a:xfrm>
              <a:off x="7133581" y="5542130"/>
              <a:ext cx="3506082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 err="1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Conferentiar</a:t>
              </a: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, 2020</a:t>
              </a:r>
            </a:p>
            <a:p>
              <a:pPr defTabSz="685800">
                <a:buClrTx/>
              </a:pPr>
              <a:r>
                <a:rPr lang="en-US" sz="1350" kern="1200" dirty="0" err="1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Cursuri</a:t>
              </a: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 applicative de </a:t>
              </a:r>
            </a:p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Data Science/ML/AI 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F40E302-91C1-3C37-BE8A-E1389B769B7A}"/>
              </a:ext>
            </a:extLst>
          </p:cNvPr>
          <p:cNvGrpSpPr/>
          <p:nvPr/>
        </p:nvGrpSpPr>
        <p:grpSpPr>
          <a:xfrm>
            <a:off x="3125540" y="3666959"/>
            <a:ext cx="1723357" cy="1042546"/>
            <a:chOff x="4167386" y="4889279"/>
            <a:chExt cx="2297809" cy="139006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77B6ABC-A69F-4A15-A4BD-21C24838DBB8}"/>
                </a:ext>
              </a:extLst>
            </p:cNvPr>
            <p:cNvSpPr txBox="1"/>
            <p:nvPr/>
          </p:nvSpPr>
          <p:spPr>
            <a:xfrm>
              <a:off x="4374887" y="5602233"/>
              <a:ext cx="1532542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35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Founder, 2017</a:t>
              </a:r>
            </a:p>
          </p:txBody>
        </p:sp>
        <p:pic>
          <p:nvPicPr>
            <p:cNvPr id="48" name="Picture 47" descr="Text&#10;&#10;Description automatically generated">
              <a:hlinkClick r:id="rId17"/>
              <a:extLst>
                <a:ext uri="{FF2B5EF4-FFF2-40B4-BE49-F238E27FC236}">
                  <a16:creationId xmlns:a16="http://schemas.microsoft.com/office/drawing/2014/main" id="{834DE259-68E6-4754-BD46-B67341FAED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75" t="-1396" r="15102"/>
            <a:stretch/>
          </p:blipFill>
          <p:spPr>
            <a:xfrm>
              <a:off x="4167386" y="4889279"/>
              <a:ext cx="2297809" cy="456625"/>
            </a:xfrm>
            <a:prstGeom prst="rect">
              <a:avLst/>
            </a:prstGeom>
          </p:spPr>
        </p:pic>
      </p:grpSp>
      <p:pic>
        <p:nvPicPr>
          <p:cNvPr id="55" name="Google Shape;100;p18">
            <a:extLst>
              <a:ext uri="{FF2B5EF4-FFF2-40B4-BE49-F238E27FC236}">
                <a16:creationId xmlns:a16="http://schemas.microsoft.com/office/drawing/2014/main" id="{8E6B203F-2092-6017-56A1-D0ABD47663A5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 r="64419"/>
          <a:stretch/>
        </p:blipFill>
        <p:spPr>
          <a:xfrm>
            <a:off x="6664967" y="3543644"/>
            <a:ext cx="593475" cy="65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566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1836300"/>
          </a:xfrm>
          <a:prstGeom prst="rect">
            <a:avLst/>
          </a:prstGeom>
          <a:solidFill>
            <a:srgbClr val="D8FFDE">
              <a:alpha val="3115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“Computers have promised us a fountain of wisdom but delivered a flood of data”</a:t>
            </a:r>
            <a:endParaRPr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William J. Frawley, Gregory Piatetsky-Shapiro, and Christopher J. Matheus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C6D0B-63C2-FDFA-75D4-BF0F0EDFB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5" y="2028075"/>
            <a:ext cx="9115890" cy="2551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1439700"/>
          </a:xfrm>
          <a:prstGeom prst="rect">
            <a:avLst/>
          </a:prstGeom>
          <a:solidFill>
            <a:srgbClr val="D8FFDE">
              <a:alpha val="3115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060"/>
                </a:solidFill>
              </a:rPr>
              <a:t>“Computers have promised us a fountain of wisdom but delivered a flood of data”</a:t>
            </a:r>
            <a:endParaRPr>
              <a:solidFill>
                <a:srgbClr val="00206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William J. Frawley, Gregory Piatetsky-Shapiro, and Christopher J. Matheus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83B2E-4FC9-A6F7-9E33-E7D0D469F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11" y="1496195"/>
            <a:ext cx="7560081" cy="3563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F5344-54C2-F25E-3709-08DEA6B786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34" r="12686"/>
          <a:stretch/>
        </p:blipFill>
        <p:spPr>
          <a:xfrm>
            <a:off x="1170432" y="0"/>
            <a:ext cx="66422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9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961275" y="373350"/>
            <a:ext cx="85206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 urmeaza ? </a:t>
            </a:r>
            <a:endParaRPr sz="240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 multe date via </a:t>
            </a:r>
            <a:r>
              <a:rPr lang="en" sz="2400" b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IoT</a:t>
            </a:r>
            <a:r>
              <a:rPr lang="en" sz="2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(Internet of Things)</a:t>
            </a:r>
            <a:endParaRPr sz="2400"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66325"/>
            <a:ext cx="5891599" cy="367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5725" y="3038600"/>
            <a:ext cx="2645976" cy="17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8625" y="1114600"/>
            <a:ext cx="2697926" cy="16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Cateva curiozitati</a:t>
            </a:r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din experienta mea in modelare si data mining</a:t>
            </a:r>
            <a:endParaRPr sz="13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00"/>
              <a:buChar char="❏"/>
            </a:pP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Computational Biomedicine Laboratory</a:t>
            </a:r>
            <a:r>
              <a:rPr lang="en" sz="13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University of Houston:</a:t>
            </a:r>
            <a:endParaRPr sz="13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Abia prin 2005 s-a observat ca neuronul excitat transmite semnal  nu numai inainte, catre neuronii conectati la dendrite, dar si inapoi, catre neuronii care l-au facut sa emita.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Calibri"/>
              <a:buChar char="❏"/>
            </a:pP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Nationwide Insurance</a:t>
            </a: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– locul 8 in SUA in 2015, cu 3% din piata:</a:t>
            </a:r>
            <a:endParaRPr sz="13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Asiguratorii stiu de prin 2000, in urma unui studiu extins, ca scorul de credit este foarte puternic corelat cu despagubirile – cu alte cuvinte modul de cheltuire a banilor si de plata a creditelor indica/prezice stilul de sofat. Este insa ilegala utilizarea directa a acestei informatii confidentiale (credit score).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Calibri"/>
              <a:buChar char="❏"/>
            </a:pP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Pioneer</a:t>
            </a:r>
            <a:r>
              <a:rPr lang="en" sz="13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o companie DuPont (concurent cu Monsanto)</a:t>
            </a:r>
            <a:endParaRPr sz="13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Produce porumb experimental in 50 de locatii pe glob intr-o cantitate egala in 2006 cu cantitatea de porumb produsa de Australia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Intre 2006-2008 costurile de marcare a ADN-ului s-au redus cu 50-75%. Numarul de markeri genetici a crescut de la sute la zeci de mii, la fel au crescut datele colectate si folosite in modele predictive bazate pe regresie la markeri = variabile independente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Calibri"/>
              <a:buChar char="❏"/>
            </a:pP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PROS, Inc.</a:t>
            </a: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13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“The Revenue and Profit Realization Company“</a:t>
            </a:r>
            <a:endParaRPr sz="13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2019, 57% din piata de bilete de avion foloseste (diverse versiunie ale unui) soft PROS de generare a </a:t>
            </a:r>
            <a:r>
              <a:rPr lang="en" sz="10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preturilor optime</a:t>
            </a: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(Lufthansa 25+ ani)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Pricing: soft de optimizare de preturi : HP, BP, Shell, Siemens, BASF, Disney;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04040"/>
              </a:buClr>
              <a:buSzPts val="1000"/>
              <a:buFont typeface="Calibri"/>
              <a:buChar char="-"/>
            </a:pPr>
            <a:r>
              <a:rPr lang="en" sz="1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Optimizare de venit:  Lufthansa, Iberia, Swiss, Etihad, Turkish Airlines, Southwest, etc. (80 companii in 2024); Carribean, Deutsche Bahn, Hertz, Avis;</a:t>
            </a:r>
            <a:endParaRPr sz="1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Agenda curs1</a:t>
            </a:r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Ce este Data Mining?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Ce este un ‘Data Scientist’?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Trecere in revista a tehnicilor de data mining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 este Data Mining? *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Termen creat recent pentru o confluență de idei de la statistica si informatica (machine learning si metode de baze de date) aplicate la baze de date mari in stiinta , inginerie si afaceri.</a:t>
            </a: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Definitii multiple, dispute legate  de ce este si ce nu este data mining. Terminologia aferenta nu este standardizata inca (e.g. bias, clasificare, predictie)</a:t>
            </a:r>
            <a:endParaRPr lang="ro-RO"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b="1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ro-RO" sz="3200" b="1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Data Mining </a:t>
            </a:r>
            <a:r>
              <a:rPr lang="ro-RO" sz="32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devenit între timp </a:t>
            </a:r>
            <a:r>
              <a:rPr lang="ro-RO" sz="3200" b="1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25" y="4682925"/>
            <a:ext cx="7177977" cy="3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Definitii generice si punctuale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Definitiile generice includ metode  statistice traditionale, cele punctuale scot in evidenta automatizari si metode euristice.</a:t>
            </a: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E483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Exemple de nomenclatura:</a:t>
            </a: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Data mining, data dredging (dragare de date), fishing expeditions</a:t>
            </a: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Knowledge Discovery in Databases (KDD)</a:t>
            </a:r>
            <a:r>
              <a:rPr lang="ro-RO" sz="2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– una din conferințele prestigioase din domeniu</a:t>
            </a:r>
            <a:endParaRPr sz="20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Gartner Group</a:t>
            </a:r>
            <a:endParaRPr b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 b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http://www.gartner.com/it-glossary/?s=Data+mining</a:t>
            </a:r>
            <a:r>
              <a:rPr lang="en" sz="1000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+ google translate )</a:t>
            </a:r>
            <a:endParaRPr sz="900"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rgbClr val="404040"/>
                </a:solidFill>
                <a:latin typeface="Batang"/>
                <a:ea typeface="Batang"/>
                <a:cs typeface="Batang"/>
                <a:sym typeface="Batang"/>
              </a:rPr>
              <a:t>“Data mining este procesul de a descoperi corelații, modele și tendințe noi, semnificative prin analizarea unor cantități mari de date stocate în arhive, folosind tehnologiile de recunoaștere a modelelor (pattern recognition) precum și tehnici statistice și matematice”</a:t>
            </a:r>
            <a:endParaRPr sz="2400">
              <a:solidFill>
                <a:srgbClr val="404040"/>
              </a:solidFill>
              <a:latin typeface="Batang"/>
              <a:ea typeface="Batang"/>
              <a:cs typeface="Batang"/>
              <a:sym typeface="Batang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Alte definitii si comentarii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1405950" y="1266325"/>
            <a:ext cx="7426200" cy="36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Daryl Pregibon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  <a:hlinkClick r:id="rId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[1] ”KDD = Statistics at Scale and Speed”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[2] “un amestec de statistica, inteligenta artificiala, si cercetare in baze de date [mari]“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Sergey Brin – cofondator Google, PhD in DM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“Google's mission is to organize the world's information, making it universally accessible and useful”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[1] Daryl Pregibon. 2001: A statistical odyssey. KDD Conference ’99, 1999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[2] Daryl Pregibon  1997: Data Mining. Statistical Computing and Graphics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94550"/>
            <a:ext cx="928325" cy="9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7" y="2995797"/>
            <a:ext cx="928325" cy="94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De ce Data Science?</a:t>
            </a:r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Piata: tranzitia de la focus pe produs/serviciu la focus pe consumator</a:t>
            </a:r>
            <a:endParaRPr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IT: tranzitie de la inregistrari actualizate la zi catre cautare de sabloane/modele in inregistrari - Data Warehouses - OLAP</a:t>
            </a:r>
            <a:endParaRPr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Scadere dramatica a costurilor de stocare a datelor</a:t>
            </a:r>
            <a:endParaRPr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ro-RO"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Captare automatizata a datelor din tranzactii – e.g. Cod bare, POS, clicuri Mouse, localizari (GPS, tel inteligente)</a:t>
            </a:r>
            <a:endParaRPr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Internet: interactiuni personalizate (Facebook, Google),date longitudinale</a:t>
            </a:r>
            <a:endParaRPr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Accelerarea producerii de date in era mobile</a:t>
            </a:r>
            <a:endParaRPr lang="ro-RO" sz="16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-RO" sz="1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Și nu în ultimul rând: PNRR, digitalizare cu fonduri europene, start-up-uri, </a:t>
            </a:r>
            <a:r>
              <a:rPr lang="en-US" sz="1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Gen AI </a:t>
            </a:r>
            <a:r>
              <a:rPr lang="ro-RO" sz="1600" i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 sz="1600" i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64"/>
            <a:ext cx="9144000" cy="5029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650" y="56975"/>
            <a:ext cx="1088176" cy="51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6A36-30BB-AF95-0434-AAC2E6EE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Evolutie</a:t>
            </a:r>
            <a:r>
              <a:rPr lang="en-US" dirty="0"/>
              <a:t> top </a:t>
            </a:r>
            <a:r>
              <a:rPr lang="en-US" dirty="0" err="1"/>
              <a:t>companii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capitalizare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4DA0B-7908-D855-45F1-AF1F7805A3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85" r="63733"/>
          <a:stretch/>
        </p:blipFill>
        <p:spPr>
          <a:xfrm>
            <a:off x="100598" y="1181519"/>
            <a:ext cx="1603538" cy="2818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C03C8-CECB-C7AB-131E-257AF89F0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85" r="66429"/>
          <a:stretch/>
        </p:blipFill>
        <p:spPr>
          <a:xfrm>
            <a:off x="1680050" y="1151461"/>
            <a:ext cx="1489971" cy="2848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112EB8-43FC-0080-6473-BA7B3B2647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91" t="46532" r="46385"/>
          <a:stretch/>
        </p:blipFill>
        <p:spPr>
          <a:xfrm>
            <a:off x="3319115" y="1684763"/>
            <a:ext cx="1207678" cy="22685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3277BC-57B8-D939-3A14-90FC25F8E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775" y="1620571"/>
            <a:ext cx="4142177" cy="2415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91FAA7-A21C-AB1F-4786-F8E9C01DEE87}"/>
              </a:ext>
            </a:extLst>
          </p:cNvPr>
          <p:cNvSpPr txBox="1"/>
          <p:nvPr/>
        </p:nvSpPr>
        <p:spPr>
          <a:xfrm>
            <a:off x="3275572" y="1488595"/>
            <a:ext cx="6386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B6C23-AF85-2042-22B7-9D306892E6F6}"/>
              </a:ext>
            </a:extLst>
          </p:cNvPr>
          <p:cNvSpPr txBox="1"/>
          <p:nvPr/>
        </p:nvSpPr>
        <p:spPr>
          <a:xfrm>
            <a:off x="1858681" y="4213412"/>
            <a:ext cx="481282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6"/>
              </a:rPr>
              <a:t>https://www.youtube.com/watch?v=Z93yWXb9Tb0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hlinkClick r:id="rId7"/>
              </a:rPr>
              <a:t>https://www.youtube.com/watch?v=PN1L0hPP6IY</a:t>
            </a:r>
            <a:endParaRPr lang="en-US" sz="1050" dirty="0"/>
          </a:p>
          <a:p>
            <a:endParaRPr lang="en-US" sz="1050" dirty="0"/>
          </a:p>
          <a:p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80C4120-F83D-6B82-88EE-71806EA93727}"/>
                  </a:ext>
                </a:extLst>
              </p14:cNvPr>
              <p14:cNvContentPartPr/>
              <p14:nvPr/>
            </p14:nvContentPartPr>
            <p14:xfrm>
              <a:off x="471349" y="2154686"/>
              <a:ext cx="1015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80C4120-F83D-6B82-88EE-71806EA937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2709" y="2145686"/>
                <a:ext cx="1191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5C26F18-3BD4-709F-5F29-9A563E490254}"/>
                  </a:ext>
                </a:extLst>
              </p14:cNvPr>
              <p14:cNvContentPartPr/>
              <p14:nvPr/>
            </p14:nvContentPartPr>
            <p14:xfrm>
              <a:off x="485749" y="2517566"/>
              <a:ext cx="203400" cy="2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5C26F18-3BD4-709F-5F29-9A563E4902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7109" y="2508566"/>
                <a:ext cx="221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1337372-D8A9-D097-C8A5-97BE42788B6C}"/>
                  </a:ext>
                </a:extLst>
              </p14:cNvPr>
              <p14:cNvContentPartPr/>
              <p14:nvPr/>
            </p14:nvContentPartPr>
            <p14:xfrm>
              <a:off x="464149" y="3113006"/>
              <a:ext cx="114480" cy="3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1337372-D8A9-D097-C8A5-97BE42788B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5509" y="3104006"/>
                <a:ext cx="1321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C5A9287-BFB6-4216-6145-50CFF94E42BF}"/>
                  </a:ext>
                </a:extLst>
              </p14:cNvPr>
              <p14:cNvContentPartPr/>
              <p14:nvPr/>
            </p14:nvContentPartPr>
            <p14:xfrm>
              <a:off x="434989" y="3836606"/>
              <a:ext cx="160920" cy="31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C5A9287-BFB6-4216-6145-50CFF94E42B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6349" y="3827966"/>
                <a:ext cx="1785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C2F3A3C-0181-B3FE-4A1E-39CF740973BD}"/>
                  </a:ext>
                </a:extLst>
              </p14:cNvPr>
              <p14:cNvContentPartPr/>
              <p14:nvPr/>
            </p14:nvContentPartPr>
            <p14:xfrm>
              <a:off x="2009989" y="2517926"/>
              <a:ext cx="122760" cy="36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C2F3A3C-0181-B3FE-4A1E-39CF740973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00989" y="2509286"/>
                <a:ext cx="1404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6E21945-1F53-6D44-B59E-8E3D39A446FC}"/>
                  </a:ext>
                </a:extLst>
              </p14:cNvPr>
              <p14:cNvContentPartPr/>
              <p14:nvPr/>
            </p14:nvContentPartPr>
            <p14:xfrm>
              <a:off x="3468709" y="2002766"/>
              <a:ext cx="46440" cy="7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6E21945-1F53-6D44-B59E-8E3D39A446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59709" y="1993766"/>
                <a:ext cx="640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DCC81BD-646C-21BE-5969-1D045A5C8E83}"/>
                  </a:ext>
                </a:extLst>
              </p14:cNvPr>
              <p14:cNvContentPartPr/>
              <p14:nvPr/>
            </p14:nvContentPartPr>
            <p14:xfrm>
              <a:off x="5950549" y="2162606"/>
              <a:ext cx="360" cy="758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DCC81BD-646C-21BE-5969-1D045A5C8E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41909" y="2153606"/>
                <a:ext cx="18000" cy="7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299C54-F79D-404F-3EFB-9FA684F26480}"/>
                  </a:ext>
                </a:extLst>
              </p14:cNvPr>
              <p14:cNvContentPartPr/>
              <p14:nvPr/>
            </p14:nvContentPartPr>
            <p14:xfrm>
              <a:off x="5863429" y="3040646"/>
              <a:ext cx="10764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299C54-F79D-404F-3EFB-9FA684F2648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54789" y="3031646"/>
                <a:ext cx="1252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6902EAA-5EFB-286B-1F97-191FF4F18BFA}"/>
              </a:ext>
            </a:extLst>
          </p:cNvPr>
          <p:cNvGrpSpPr/>
          <p:nvPr/>
        </p:nvGrpSpPr>
        <p:grpSpPr>
          <a:xfrm>
            <a:off x="6197509" y="2772086"/>
            <a:ext cx="52560" cy="349920"/>
            <a:chOff x="6197509" y="2772086"/>
            <a:chExt cx="525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709F21-1F50-07B0-30AA-2D76075A0D95}"/>
                    </a:ext>
                  </a:extLst>
                </p14:cNvPr>
                <p14:cNvContentPartPr/>
                <p14:nvPr/>
              </p14:nvContentPartPr>
              <p14:xfrm>
                <a:off x="6209029" y="2909966"/>
                <a:ext cx="10440" cy="10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709F21-1F50-07B0-30AA-2D76075A0D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00389" y="2900966"/>
                  <a:ext cx="2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889AC5-071B-453F-5C76-1049E6B64BB2}"/>
                    </a:ext>
                  </a:extLst>
                </p14:cNvPr>
                <p14:cNvContentPartPr/>
                <p14:nvPr/>
              </p14:nvContentPartPr>
              <p14:xfrm>
                <a:off x="6197509" y="3074126"/>
                <a:ext cx="41760" cy="47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889AC5-071B-453F-5C76-1049E6B64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88869" y="3065126"/>
                  <a:ext cx="59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D11CE4-E59C-82F4-D8C6-D0D9B4E7C9E4}"/>
                    </a:ext>
                  </a:extLst>
                </p14:cNvPr>
                <p14:cNvContentPartPr/>
                <p14:nvPr/>
              </p14:nvContentPartPr>
              <p14:xfrm>
                <a:off x="6203989" y="2772086"/>
                <a:ext cx="38160" cy="27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D11CE4-E59C-82F4-D8C6-D0D9B4E7C9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95349" y="2763086"/>
                  <a:ext cx="55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341512-4B73-BEFF-1A89-158DCAB1428E}"/>
                    </a:ext>
                  </a:extLst>
                </p14:cNvPr>
                <p14:cNvContentPartPr/>
                <p14:nvPr/>
              </p14:nvContentPartPr>
              <p14:xfrm>
                <a:off x="6203629" y="2801966"/>
                <a:ext cx="30240" cy="11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341512-4B73-BEFF-1A89-158DCAB142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94629" y="2793326"/>
                  <a:ext cx="47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D5FF01E-F65C-5C79-1EB3-267A66F86F9A}"/>
                    </a:ext>
                  </a:extLst>
                </p14:cNvPr>
                <p14:cNvContentPartPr/>
                <p14:nvPr/>
              </p14:nvContentPartPr>
              <p14:xfrm>
                <a:off x="6226309" y="3091406"/>
                <a:ext cx="23760" cy="12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D5FF01E-F65C-5C79-1EB3-267A66F86F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17309" y="3082406"/>
                  <a:ext cx="4140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32BF587-7242-1043-7744-6E96434E06E7}"/>
                  </a:ext>
                </a:extLst>
              </p14:cNvPr>
              <p14:cNvContentPartPr/>
              <p14:nvPr/>
            </p14:nvContentPartPr>
            <p14:xfrm>
              <a:off x="5914189" y="3889526"/>
              <a:ext cx="197280" cy="7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32BF587-7242-1043-7744-6E96434E06E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05549" y="3880526"/>
                <a:ext cx="21492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53915095-211B-C581-EE4D-0B6A466D5500}"/>
              </a:ext>
            </a:extLst>
          </p:cNvPr>
          <p:cNvGrpSpPr/>
          <p:nvPr/>
        </p:nvGrpSpPr>
        <p:grpSpPr>
          <a:xfrm>
            <a:off x="3838789" y="2132726"/>
            <a:ext cx="337320" cy="363240"/>
            <a:chOff x="3838789" y="2132726"/>
            <a:chExt cx="33732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D6AD8B-59FE-6FFA-3977-957EB4145ED4}"/>
                    </a:ext>
                  </a:extLst>
                </p14:cNvPr>
                <p14:cNvContentPartPr/>
                <p14:nvPr/>
              </p14:nvContentPartPr>
              <p14:xfrm>
                <a:off x="4027429" y="2132726"/>
                <a:ext cx="148680" cy="200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D6AD8B-59FE-6FFA-3977-957EB4145E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18789" y="2124086"/>
                  <a:ext cx="166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3650D26-5D04-1D07-0D72-1B6C6251F5A7}"/>
                    </a:ext>
                  </a:extLst>
                </p14:cNvPr>
                <p14:cNvContentPartPr/>
                <p14:nvPr/>
              </p14:nvContentPartPr>
              <p14:xfrm>
                <a:off x="3838789" y="2399126"/>
                <a:ext cx="150480" cy="96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3650D26-5D04-1D07-0D72-1B6C6251F5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29789" y="2390126"/>
                  <a:ext cx="16812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E2C1B6A-FE90-F6D3-BD0B-E05FB7E3332E}"/>
                  </a:ext>
                </a:extLst>
              </p14:cNvPr>
              <p14:cNvContentPartPr/>
              <p14:nvPr/>
            </p14:nvContentPartPr>
            <p14:xfrm>
              <a:off x="3947509" y="3563366"/>
              <a:ext cx="234000" cy="162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E2C1B6A-FE90-F6D3-BD0B-E05FB7E3332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38869" y="3554726"/>
                <a:ext cx="251640" cy="18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8019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rcRect b="89091"/>
          <a:stretch/>
        </p:blipFill>
        <p:spPr>
          <a:xfrm>
            <a:off x="0" y="158238"/>
            <a:ext cx="9144000" cy="5265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3B6ECC-F460-2952-AA25-CCC7F0B748B7}"/>
              </a:ext>
            </a:extLst>
          </p:cNvPr>
          <p:cNvSpPr/>
          <p:nvPr/>
        </p:nvSpPr>
        <p:spPr>
          <a:xfrm>
            <a:off x="7951622" y="798725"/>
            <a:ext cx="1192378" cy="4276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E6B60-D3F5-8326-5867-4AF076BC7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260" y="928471"/>
            <a:ext cx="6978140" cy="348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10972D-C964-1AA1-5B69-6822D2951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2102954"/>
            <a:ext cx="1855058" cy="8147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6CF184-2E1B-537C-120D-BD2A5823373D}"/>
                  </a:ext>
                </a:extLst>
              </p14:cNvPr>
              <p14:cNvContentPartPr/>
              <p14:nvPr/>
            </p14:nvContentPartPr>
            <p14:xfrm>
              <a:off x="8417629" y="3076646"/>
              <a:ext cx="475560" cy="23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6CF184-2E1B-537C-120D-BD2A582337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08629" y="3067646"/>
                <a:ext cx="493200" cy="25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F638-0038-4F4C-7CAE-9B185BB2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nici</a:t>
            </a:r>
            <a:r>
              <a:rPr lang="en-US" dirty="0"/>
              <a:t> nu am </a:t>
            </a:r>
            <a:r>
              <a:rPr lang="en-US" dirty="0" err="1"/>
              <a:t>pomenit</a:t>
            </a:r>
            <a:r>
              <a:rPr lang="en-US" dirty="0"/>
              <a:t> de Gen AI…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84242-16A7-FB04-42AD-CC82CE14E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3290295" cy="33027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48D74-C2F1-651A-13CD-248345BF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35"/>
          <a:stretch/>
        </p:blipFill>
        <p:spPr>
          <a:xfrm>
            <a:off x="3601995" y="973797"/>
            <a:ext cx="4399005" cy="408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28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Tehnici esentiale in DM</a:t>
            </a:r>
            <a:endParaRPr/>
          </a:p>
        </p:txBody>
      </p:sp>
      <p:sp>
        <p:nvSpPr>
          <p:cNvPr id="205" name="Google Shape;205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Statistica (adaptat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pentru m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rimea datelor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și 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viteza de procesare din secolul 21)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Exemple: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– Statistica Descriptiv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(EDA)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– Vizualizari de date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– Modelare: Regresie, Analiza Cluster, Clasificare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Machine Learning, Inteligen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ț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Artificial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e.g. Retele Neuronale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Lucrul cu baze de date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structurare și nestructurate, SQL și no-SQL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Procesare paralela</a:t>
            </a:r>
            <a:r>
              <a:rPr lang="ro-RO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/scalabilă în cloud: AWS, Azure, Google cloud</a:t>
            </a:r>
            <a:endParaRPr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Pa</a:t>
            </a:r>
            <a:r>
              <a:rPr lang="ro-RO" b="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ș</a:t>
            </a:r>
            <a:r>
              <a:rPr lang="en" b="0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ii unui proiect de exploatare a datelor</a:t>
            </a: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In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ț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elegerea scopului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ș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a datelor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Asamblarea setului de date pentru studiu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Cur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ăț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irea, asanarea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ș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preprocesarea datelor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Reducerea/simplificarea/agregarea datelor 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Alegerea tipului de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aplicație de învățare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Alegerea algoritmului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învățare automată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Rularea algoritmului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Interpretarea rezultatului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ș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itera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ț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ii ale pa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ș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ilor 4-7 dac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ă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necesar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Integrarea procesului 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î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ntr-un sistem opera</a:t>
            </a:r>
            <a:r>
              <a:rPr lang="ro-RO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ț</a:t>
            </a:r>
            <a:r>
              <a:rPr lang="en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ional 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251716" y="2282342"/>
            <a:ext cx="7362825" cy="138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850" y="1152425"/>
            <a:ext cx="6443950" cy="37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Metodologii: </a:t>
            </a:r>
            <a:r>
              <a:rPr lang="en" sz="3000" b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SEMMA</a:t>
            </a:r>
            <a:r>
              <a:rPr lang="en" sz="3000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000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3000" b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SAS</a:t>
            </a:r>
            <a:r>
              <a:rPr lang="en" sz="3000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) vs. </a:t>
            </a:r>
            <a:r>
              <a:rPr lang="en" sz="3000" b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CRISP-DM</a:t>
            </a:r>
            <a:endParaRPr sz="3000"/>
          </a:p>
        </p:txBody>
      </p:sp>
      <p:sp>
        <p:nvSpPr>
          <p:cNvPr id="221" name="Google Shape;221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ample from data sets, Partition into Training, Validation and Test datasets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xplore data set statistically and graphically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odify:Transform variables, Impute missing values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odel: fit models e.g. regression, classfication tree, neural net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ssess: Compare models using Partition, Test datasets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Descriptiv, Predictiv, Prescriptiv</a:t>
            </a:r>
            <a:r>
              <a:rPr lang="en" b="0" u="sng" baseline="30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[1]</a:t>
            </a:r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09100"/>
            <a:ext cx="8218936" cy="37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163" y="0"/>
            <a:ext cx="7763275" cy="50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[2]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Servicii de telefonie si utilitati</a:t>
            </a:r>
            <a:endParaRPr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Clienti traseisti –CHURN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Solutie: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	Segmentarea clientilor pe baza datelor de facturare, a interactiunilor directe, a vizitelor pe site, etc.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Construirea unui scor probabilistic de pierdere a clientului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Actiune: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Oferte personalizate si stimulente pentru fidelizarea celor cu risk mare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France Telecom</a:t>
            </a:r>
            <a:endParaRPr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Odata cu implementare unei solutii de data warehouse, pe partea BI s-a introdus si un sistem CHURN de profilare a clientilor (Customer Profile System – CPS)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Profilarea preventiva a dus la retentia sporita a clientilor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/>
          </a:p>
        </p:txBody>
      </p:sp>
      <p:sp>
        <p:nvSpPr>
          <p:cNvPr id="254" name="Google Shape;254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Retail – comertul cu amanuntul</a:t>
            </a:r>
            <a:endParaRPr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Rezultate neclare din promotii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Solutie: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	Optimizarea promotiilor prin segmentarea clientilor pe baza tiparului de cumparaturi (purchase pattern)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Actiune: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Clienti care cumpara des, putin, revin in timp, si au revenit de curand vor primi carduri de loialitate, si vor fi stimulati pentru upsell (catre branduri mai scumpe) si cross-sell (propuneri pentru extinderea cosului de cumparaturi)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Clienti care cumpara mult si foarte rar pot primi  o oferta personalizata de tip ‘win-back customer’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/>
          </a:p>
        </p:txBody>
      </p:sp>
      <p:sp>
        <p:nvSpPr>
          <p:cNvPr id="261" name="Google Shape;261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Prevenirea fraudelor -Automobile Insurance Bureau of Massachusetts</a:t>
            </a:r>
            <a:endParaRPr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Fraudele in asigurari  maresc costurile si micsoreaza veniturile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Solutie: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	Folosind regresia logistica si retele neuronale s-au identificat caracteristicile cazurilor frauduloase pornind de la: date client, detalii ale accidentelor, detalii ale daunelor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Prin segmentarea clientilor in grupe de risc se previn fraude ulterioare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Actiune: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Clienti profilati ca problematici vor fi refuzati sau vor primi prime de asigurare mai mari astfel marindu-se venitul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/>
          </a:p>
        </p:txBody>
      </p:sp>
      <p:sp>
        <p:nvSpPr>
          <p:cNvPr id="268" name="Google Shape;268;p41"/>
          <p:cNvSpPr txBox="1">
            <a:spLocks noGrp="1"/>
          </p:cNvSpPr>
          <p:nvPr>
            <p:ph type="body" idx="1"/>
          </p:nvPr>
        </p:nvSpPr>
        <p:spPr>
          <a:xfrm>
            <a:off x="311700" y="10563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Agentii de Inteligenta, Criminalistica</a:t>
            </a:r>
            <a:endParaRPr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Detectarea zonelor cu grad sporit de risc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Detectarea persoanelor cu grad sporit de risc la granite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Profilarea informatiilor agentiilor de securitate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Solutie: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Segmentarea geografica pe baza unui scor din statisticile cumulate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Clasificarea traficului de frontier folosing caracteristici personale (date pasaport) si contextuale (geografie, tip transport, scopul vizitei, etc.)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Clasificare informatiilor de la agentii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Actiune:</a:t>
            </a:r>
            <a:endParaRPr sz="14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Sporirea personalului de paza si protectie a ordinii publice la locul si timpul potrivit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Control selectiv amanuntit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Construirea unui caz pentru actiuni de contra-terorism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Exemple de aplicatii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" b="0" baseline="300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b="0" u="sng" baseline="30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/>
          </a:p>
        </p:txBody>
      </p:sp>
      <p:sp>
        <p:nvSpPr>
          <p:cNvPr id="275" name="Google Shape;275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 in imagini</a:t>
            </a:r>
            <a:endParaRPr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Google cu image matching,</a:t>
            </a:r>
            <a:endParaRPr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recunoastere faciala, etc.</a:t>
            </a:r>
            <a:endParaRPr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48312"/>
                </a:solidFill>
                <a:latin typeface="Calibri"/>
                <a:ea typeface="Calibri"/>
                <a:cs typeface="Calibri"/>
                <a:sym typeface="Calibri"/>
              </a:rPr>
              <a:t>◦	</a:t>
            </a: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Determinarea sentimentului pozitiv/negativ</a:t>
            </a:r>
            <a:endParaRPr lang="en-US"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o-RO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 in text</a:t>
            </a:r>
          </a:p>
          <a:p>
            <a:pPr marL="0" lvl="0" indent="4572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Filtre SPAM – primul filtru folosea clasificatori Bayesieni</a:t>
            </a:r>
            <a:endParaRPr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7EA9CA"/>
                </a:solidFill>
                <a:latin typeface="Calibri"/>
                <a:ea typeface="Calibri"/>
                <a:cs typeface="Calibri"/>
                <a:sym typeface="Calibri"/>
              </a:rPr>
              <a:t>Retele Sociale, Targeted Marketing, etc.</a:t>
            </a:r>
            <a:endParaRPr dirty="0">
              <a:solidFill>
                <a:srgbClr val="7EA9C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Administrative</a:t>
            </a:r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</a:t>
            </a:r>
            <a:r>
              <a:rPr lang="en" dirty="0"/>
              <a:t>rmariti postarile pe elearning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 Proiecte/Seturi de Date Disponibile</a:t>
            </a:r>
            <a:endParaRPr dirty="0"/>
          </a:p>
          <a:p>
            <a:pPr marL="457200" lvl="0" indent="-3048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/>
              <a:t>Intelegerea problemei, evaluarea datelor brute si analiza initiala (partea descriptiva)</a:t>
            </a:r>
            <a:endParaRPr sz="1200"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/>
              <a:t>Masarea datelor si aplicarea unei tehnici DM (parte predictiva)</a:t>
            </a:r>
            <a:endParaRPr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 vom lucra?</a:t>
            </a:r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 3.*</a:t>
            </a:r>
            <a:endParaRPr dirty="0"/>
          </a:p>
          <a:p>
            <a:pPr marL="457200" lvl="0" indent="-3048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/>
              <a:t>numpy, pandas, scikit-learn, plotly</a:t>
            </a:r>
            <a:endParaRPr sz="1200"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/>
              <a:t>dataframes, dictionaries, lists, json files</a:t>
            </a:r>
            <a:endParaRPr sz="1200"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/>
              <a:t>Machine learning: clasificatori, regresori, validari incrucisate, linii de antrenare, validare, si cautare hiperparametrii</a:t>
            </a:r>
            <a:r>
              <a:rPr lang="ro-RO" sz="1200" dirty="0"/>
              <a:t> (parameter tuning)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Anaconda - Jupyter Notebooks/ VS code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dirty="0"/>
              <a:t>Laboratoarele se vor desfasura cu prezenta fizica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Anaconda va fi instalat pe statiile de lucru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Puteti salva in contul propriu temele de laborator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Puteti folosi laptopul vostru daca preferati</a:t>
            </a:r>
            <a:endParaRPr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Administrative</a:t>
            </a:r>
            <a:endParaRPr/>
          </a:p>
        </p:txBody>
      </p:sp>
      <p:sp>
        <p:nvSpPr>
          <p:cNvPr id="296" name="Google Shape;296;p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Etapele examinarii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Examinare</a:t>
            </a:r>
            <a:r>
              <a:rPr lang="en-US" dirty="0"/>
              <a:t> </a:t>
            </a:r>
            <a:r>
              <a:rPr lang="en-US" dirty="0" err="1"/>
              <a:t>partiala</a:t>
            </a:r>
            <a:r>
              <a:rPr lang="en-US" dirty="0"/>
              <a:t> - </a:t>
            </a:r>
            <a:r>
              <a:rPr lang="en" dirty="0"/>
              <a:t>analiza initiala a celor doua seturi de date (clasificare si regresie) precum si pregatirile in </a:t>
            </a:r>
            <a:r>
              <a:rPr lang="en"/>
              <a:t>vederea modelarii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o-RO" dirty="0"/>
              <a:t>Examen </a:t>
            </a:r>
            <a:r>
              <a:rPr lang="en" dirty="0"/>
              <a:t>- prezentarea finala a rezultatelor antrenarii modelelor si a performantei pe date test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Cerintele pentru examen vor fi pe elearning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2086</Words>
  <Application>Microsoft Office PowerPoint</Application>
  <PresentationFormat>On-screen Show (16:9)</PresentationFormat>
  <Paragraphs>217</Paragraphs>
  <Slides>36</Slides>
  <Notes>33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Calibri</vt:lpstr>
      <vt:lpstr>Calibri Light</vt:lpstr>
      <vt:lpstr>PT Sans Narrow</vt:lpstr>
      <vt:lpstr>Batang</vt:lpstr>
      <vt:lpstr>Arial</vt:lpstr>
      <vt:lpstr>Open Sans</vt:lpstr>
      <vt:lpstr>1_office theme</vt:lpstr>
      <vt:lpstr>Office Theme</vt:lpstr>
      <vt:lpstr>Tropic</vt:lpstr>
      <vt:lpstr>SEED1 - Curs 1 Introducere in data science</vt:lpstr>
      <vt:lpstr>Despre mine</vt:lpstr>
      <vt:lpstr>PowerPoint Presentation</vt:lpstr>
      <vt:lpstr>PowerPoint Presentation</vt:lpstr>
      <vt:lpstr>PowerPoint Presentation</vt:lpstr>
      <vt:lpstr>Studenți îndrumați</vt:lpstr>
      <vt:lpstr>De la matematică la data science</vt:lpstr>
      <vt:lpstr>PowerPoint Presentation</vt:lpstr>
      <vt:lpstr>PowerPoint Presentation</vt:lpstr>
      <vt:lpstr>PowerPoint Presentation</vt:lpstr>
      <vt:lpstr>Ce urmeaza ?  Mai multe date via IoT (Internet of Things)</vt:lpstr>
      <vt:lpstr>Cateva curiozitati</vt:lpstr>
      <vt:lpstr>Agenda curs1</vt:lpstr>
      <vt:lpstr>Ce este Data Mining? *</vt:lpstr>
      <vt:lpstr>Definitii generice si punctuale</vt:lpstr>
      <vt:lpstr>Gartner Group (http://www.gartner.com/it-glossary/?s=Data+mining + google translate )</vt:lpstr>
      <vt:lpstr>Alte definitii si comentarii</vt:lpstr>
      <vt:lpstr>De ce Data Science?</vt:lpstr>
      <vt:lpstr>PowerPoint Presentation</vt:lpstr>
      <vt:lpstr>Evolutie top companii dupa capitalizare</vt:lpstr>
      <vt:lpstr>PowerPoint Presentation</vt:lpstr>
      <vt:lpstr>Si nici nu am pomenit de Gen AI…</vt:lpstr>
      <vt:lpstr>Tehnici esentiale in DM</vt:lpstr>
      <vt:lpstr>Pașii unui proiect de exploatare a datelor</vt:lpstr>
      <vt:lpstr>Metodologii: SEMMA (SAS) vs. CRISP-DM</vt:lpstr>
      <vt:lpstr>Descriptiv, Predictiv, Prescriptiv[1]</vt:lpstr>
      <vt:lpstr>PowerPoint Presentation</vt:lpstr>
      <vt:lpstr>Exemple de aplicatii[1],[2]</vt:lpstr>
      <vt:lpstr>Exemple de aplicatii[1],[2]</vt:lpstr>
      <vt:lpstr>Exemple de aplicatii[1],[2]</vt:lpstr>
      <vt:lpstr>Exemple de aplicatii[1],[2]</vt:lpstr>
      <vt:lpstr>Exemple de aplicatii[1],[2]</vt:lpstr>
      <vt:lpstr>Exemple de aplicatii[1],[2]</vt:lpstr>
      <vt:lpstr>Administrative</vt:lpstr>
      <vt:lpstr>Cum vom lucra?</vt:lpstr>
      <vt:lpstr>Administrative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1</dc:title>
  <cp:lastModifiedBy>Stefan Bildea</cp:lastModifiedBy>
  <cp:revision>8</cp:revision>
  <cp:lastPrinted>2025-10-01T12:41:25Z</cp:lastPrinted>
  <dcterms:modified xsi:type="dcterms:W3CDTF">2026-10-07T13:45:25Z</dcterms:modified>
</cp:coreProperties>
</file>