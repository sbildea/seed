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Bildea" userId="14ee9846484ecb5c" providerId="LiveId" clId="{EC1449B9-BB4C-409D-8177-7E35CF6DCBAC}"/>
    <pc:docChg chg="undo custSel addSld delSld modSld">
      <pc:chgData name="Stefan Bildea" userId="14ee9846484ecb5c" providerId="LiveId" clId="{EC1449B9-BB4C-409D-8177-7E35CF6DCBAC}" dt="2026-10-12T14:26:03.839" v="63" actId="20577"/>
      <pc:docMkLst>
        <pc:docMk/>
      </pc:docMkLst>
      <pc:sldChg chg="modSp add del mod">
        <pc:chgData name="Stefan Bildea" userId="14ee9846484ecb5c" providerId="LiveId" clId="{EC1449B9-BB4C-409D-8177-7E35CF6DCBAC}" dt="2026-10-12T14:26:03.839" v="63" actId="20577"/>
        <pc:sldMkLst>
          <pc:docMk/>
          <pc:sldMk cId="0" sldId="256"/>
        </pc:sldMkLst>
        <pc:spChg chg="mod">
          <ac:chgData name="Stefan Bildea" userId="14ee9846484ecb5c" providerId="LiveId" clId="{EC1449B9-BB4C-409D-8177-7E35CF6DCBAC}" dt="2026-10-12T14:25:26.019" v="15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tefan Bildea" userId="14ee9846484ecb5c" providerId="LiveId" clId="{EC1449B9-BB4C-409D-8177-7E35CF6DCBAC}" dt="2026-10-12T14:25:33.589" v="16" actId="6549"/>
          <ac:spMkLst>
            <pc:docMk/>
            <pc:sldMk cId="0" sldId="256"/>
            <ac:spMk id="3" creationId="{00000000-0000-0000-0000-000000000000}"/>
          </ac:spMkLst>
        </pc:spChg>
        <pc:spChg chg="mod">
          <ac:chgData name="Stefan Bildea" userId="14ee9846484ecb5c" providerId="LiveId" clId="{EC1449B9-BB4C-409D-8177-7E35CF6DCBAC}" dt="2026-10-12T14:26:03.839" v="63" actId="20577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Stefan Bildea" userId="14ee9846484ecb5c" providerId="LiveId" clId="{EC1449B9-BB4C-409D-8177-7E35CF6DCBAC}" dt="2026-10-12T14:21:52.875" v="0" actId="47"/>
        <pc:sldMkLst>
          <pc:docMk/>
          <pc:sldMk cId="0" sldId="278"/>
        </pc:sldMkLst>
      </pc:sldChg>
      <pc:sldChg chg="del">
        <pc:chgData name="Stefan Bildea" userId="14ee9846484ecb5c" providerId="LiveId" clId="{EC1449B9-BB4C-409D-8177-7E35CF6DCBAC}" dt="2026-10-12T14:21:52.875" v="0" actId="47"/>
        <pc:sldMkLst>
          <pc:docMk/>
          <pc:sldMk cId="0" sldId="279"/>
        </pc:sldMkLst>
      </pc:sldChg>
      <pc:sldChg chg="del">
        <pc:chgData name="Stefan Bildea" userId="14ee9846484ecb5c" providerId="LiveId" clId="{EC1449B9-BB4C-409D-8177-7E35CF6DCBAC}" dt="2026-10-12T14:21:52.875" v="0" actId="47"/>
        <pc:sldMkLst>
          <pc:docMk/>
          <pc:sldMk cId="0" sldId="280"/>
        </pc:sldMkLst>
      </pc:sldChg>
      <pc:sldChg chg="del">
        <pc:chgData name="Stefan Bildea" userId="14ee9846484ecb5c" providerId="LiveId" clId="{EC1449B9-BB4C-409D-8177-7E35CF6DCBAC}" dt="2026-10-12T14:21:52.875" v="0" actId="47"/>
        <pc:sldMkLst>
          <pc:docMk/>
          <pc:sldMk cId="0" sldId="281"/>
        </pc:sldMkLst>
      </pc:sldChg>
      <pc:sldChg chg="del">
        <pc:chgData name="Stefan Bildea" userId="14ee9846484ecb5c" providerId="LiveId" clId="{EC1449B9-BB4C-409D-8177-7E35CF6DCBAC}" dt="2026-10-12T14:21:52.875" v="0" actId="47"/>
        <pc:sldMkLst>
          <pc:docMk/>
          <pc:sldMk cId="0" sldId="282"/>
        </pc:sldMkLst>
      </pc:sldChg>
      <pc:sldChg chg="del">
        <pc:chgData name="Stefan Bildea" userId="14ee9846484ecb5c" providerId="LiveId" clId="{EC1449B9-BB4C-409D-8177-7E35CF6DCBAC}" dt="2026-10-12T14:21:52.875" v="0" actId="47"/>
        <pc:sldMkLst>
          <pc:docMk/>
          <pc:sldMk cId="0" sldId="283"/>
        </pc:sldMkLst>
      </pc:sldChg>
      <pc:sldChg chg="del">
        <pc:chgData name="Stefan Bildea" userId="14ee9846484ecb5c" providerId="LiveId" clId="{EC1449B9-BB4C-409D-8177-7E35CF6DCBAC}" dt="2026-10-12T14:22:25.885" v="1" actId="47"/>
        <pc:sldMkLst>
          <pc:docMk/>
          <pc:sldMk cId="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14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</a:t>
            </a:r>
            <a:r>
              <a:rPr lang="ro-RO" sz="3600" b="1" dirty="0" err="1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</a:t>
            </a:r>
            <a:r>
              <a:rPr lang="ro-RO" sz="36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6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</a:t>
            </a:r>
            <a:r>
              <a:rPr lang="ro-RO" sz="36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3600" b="1" dirty="0">
              <a:solidFill>
                <a:srgbClr val="252535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 algn="ctr">
              <a:buNone/>
            </a:pPr>
            <a:r>
              <a:rPr lang="ro-RO" sz="1400" b="1" dirty="0" err="1">
                <a:solidFill>
                  <a:srgbClr val="252535"/>
                </a:solidFill>
                <a:latin typeface="Trebuchet MS" pitchFamily="34" charset="0"/>
              </a:rPr>
              <a:t>with</a:t>
            </a:r>
            <a:r>
              <a:rPr lang="ro-RO" sz="1400" b="1" dirty="0">
                <a:solidFill>
                  <a:srgbClr val="252535"/>
                </a:solidFill>
                <a:latin typeface="Trebuchet MS" pitchFamily="34" charset="0"/>
              </a:rPr>
              <a:t> emphasis on Claude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31821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o-RO" sz="1200" b="1" kern="0" spc="500" dirty="0" err="1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Bots</a:t>
            </a:r>
            <a:r>
              <a:rPr lang="ro-RO" sz="1200" b="1" kern="0" spc="5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200" b="1" kern="0" spc="5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 ·  Context Windows  ·  Prompting  ·  Claude Code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dr. Teodor-Stefan Bildea - 2026</a:t>
            </a:r>
            <a:endParaRPr lang="en-US" sz="10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7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5727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LLM?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 ·  Tokens  ·  Autocomplete  ·  Hallucination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 /  FOUNDATIONS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Started — Machine Translation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in neural machine translation research (2014–2017)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mapping French → English means learning meaning and structure, not just words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 (Attention Is All You Need, 2017) — every token attends to every other token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less like a database lookup, more like a system that absorbed language by reading everything humans ever wrote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1170432" cy="65836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26480" y="1508760"/>
            <a:ext cx="1170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508760"/>
            <a:ext cx="1170432" cy="65836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35240" y="1508760"/>
            <a:ext cx="1170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788920"/>
            <a:ext cx="1170432" cy="65836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788920"/>
            <a:ext cx="1170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2788920"/>
            <a:ext cx="1170432" cy="65836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35240" y="2788920"/>
            <a:ext cx="11704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96912" y="1837944"/>
            <a:ext cx="338328" cy="0"/>
          </a:xfrm>
          <a:prstGeom prst="line">
            <a:avLst/>
          </a:prstGeom>
          <a:noFill/>
          <a:ln w="1905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96912" y="3118104"/>
            <a:ext cx="338328" cy="0"/>
          </a:xfrm>
          <a:prstGeom prst="line">
            <a:avLst/>
          </a:prstGeom>
          <a:noFill/>
          <a:ln w="1905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 /  FOUNDATIONS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Nobody Knows Why It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describe the math: matrix multiplications, attention heads, softmax probabilities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explain why token prediction produces apparent reasoning, creativity, and useful code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interpretability problem — active research, no definitive answer yet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model empirically — if something fails, experiment, don't theorize.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325880"/>
            <a:ext cx="2743200" cy="2926080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325880"/>
            <a:ext cx="2743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E2D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303520" y="246888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08192" y="2615184"/>
            <a:ext cx="384048" cy="0"/>
          </a:xfrm>
          <a:prstGeom prst="line">
            <a:avLst/>
          </a:prstGeom>
          <a:noFill/>
          <a:ln w="1905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21040" y="2468880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0" y="2615184"/>
            <a:ext cx="0" cy="0"/>
          </a:xfrm>
          <a:prstGeom prst="line">
            <a:avLst/>
          </a:prstGeom>
          <a:noFill/>
          <a:ln w="1905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 /  TOKENS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Tokens, Not Words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3035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"Hello world" — it sees [9906, 1917] or similar token IDs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≈ ¾ of a word on average — can be a whole word, punctuation, or a fragment like 'ing'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text tokenizes less efficiently — consuming more of the context window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0" y="1261872"/>
            <a:ext cx="3063240" cy="402336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0" y="1261872"/>
            <a:ext cx="3063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68896" y="1682496"/>
            <a:ext cx="0" cy="256032"/>
          </a:xfrm>
          <a:prstGeom prst="line">
            <a:avLst/>
          </a:prstGeom>
          <a:noFill/>
          <a:ln w="12700">
            <a:solidFill>
              <a:srgbClr val="909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52160" y="1965960"/>
            <a:ext cx="1170432" cy="47548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19659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9906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68896" y="1965960"/>
            <a:ext cx="1170432" cy="47548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68896" y="1965960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1917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2651760"/>
            <a:ext cx="3108960" cy="365760"/>
          </a:xfrm>
          <a:prstGeom prst="rect">
            <a:avLst/>
          </a:prstGeom>
          <a:solidFill>
            <a:srgbClr val="F7F4EF"/>
          </a:solidFill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06440" y="267004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B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DateTime.Now.ToString("yyyy-MM-dd")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60720" y="30906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10+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4381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platform.openai.com/tokenizer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2514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45720" cy="1024128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" y="377647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is unreliable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" y="4087368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ability to count tokens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712464"/>
            <a:ext cx="2514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54680" y="3712464"/>
            <a:ext cx="45720" cy="1024128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00984" y="377647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is hard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00984" y="4087368"/>
            <a:ext cx="2267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a word: never saw individual letters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 /  CORE MECHANIC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LLMs Are Autocomplete at Scale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mechanic: given a token sequence, predict the most probable next token — then repeat.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8229600" cy="1371600"/>
          </a:xfrm>
          <a:prstGeom prst="rect">
            <a:avLst/>
          </a:prstGeom>
          <a:solidFill>
            <a:srgbClr val="EAF0F9"/>
          </a:solidFill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"Mary had a little </a:t>
            </a:r>
            <a:r>
              <a:rPr lang="en-US" sz="14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82496" y="2276856"/>
            <a:ext cx="4937760" cy="137160"/>
          </a:xfrm>
          <a:prstGeom prst="rect">
            <a:avLst/>
          </a:prstGeom>
          <a:solidFill>
            <a:srgbClr val="4E8C5A"/>
          </a:solidFill>
          <a:ln w="12700">
            <a:solidFill>
              <a:srgbClr val="4E8C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11696" y="22311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8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054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82496" y="2551176"/>
            <a:ext cx="566928" cy="137160"/>
          </a:xfrm>
          <a:prstGeom prst="rect">
            <a:avLst/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40864" y="25054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7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7797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jetski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82496" y="2825496"/>
            <a:ext cx="64008" cy="137160"/>
          </a:xfrm>
          <a:prstGeom prst="rect">
            <a:avLst/>
          </a:prstGeom>
          <a:solidFill>
            <a:srgbClr val="D05050"/>
          </a:solidFill>
          <a:ln w="12700">
            <a:solidFill>
              <a:srgbClr val="D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37944" y="27797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1170432"/>
          </a:xfrm>
          <a:prstGeom prst="rect">
            <a:avLst/>
          </a:prstGeom>
          <a:solidFill>
            <a:srgbClr val="F7F4EF"/>
          </a:solidFill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1012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my code"  →  No context = model fills ambiguity with the most probable continuation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76732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retrieving facts. </a:t>
            </a: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pattern-completion engine trained on the sum of human-produced text.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  /  HALLUCINATION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 Patterns in Code Contexts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is not random noise — it is statistically plausible wrongness. It fits the surrounding context, which is what makes it hard to catch.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4224528" cy="1207008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5720" cy="1207008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1993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API signatures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method that almost exists with slightly wrong parameters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" y="26883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Compiles cleanly, throws at runtime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64608" y="1901952"/>
            <a:ext cx="4224528" cy="1207008"/>
          </a:xfrm>
          <a:prstGeom prst="rect">
            <a:avLst/>
          </a:prstGeom>
          <a:solidFill>
            <a:srgbClr val="E4F2EF"/>
          </a:solidFill>
          <a:ln w="12700">
            <a:solidFill>
              <a:srgbClr val="4A9685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64608" y="1901952"/>
            <a:ext cx="45720" cy="1207008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10912" y="1993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drift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10912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API from a different library version than you are running 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10912" y="26883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Very common with fast-moving ecosystems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4224528" cy="1207008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227832"/>
            <a:ext cx="45720" cy="1207008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Plausible-but-wrong logic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" y="3630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structure, subtle flaw — off-by-one, wrong condition, missing null check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" y="40142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Passes a quick read, fails in edge cases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64608" y="3227832"/>
            <a:ext cx="4224528" cy="1207008"/>
          </a:xfrm>
          <a:prstGeom prst="rect">
            <a:avLst/>
          </a:prstGeom>
          <a:solidFill>
            <a:srgbClr val="FDF2E4"/>
          </a:solidFill>
          <a:ln w="12700">
            <a:solidFill>
              <a:srgbClr val="C07A3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64608" y="3227832"/>
            <a:ext cx="45720" cy="1207008"/>
          </a:xfrm>
          <a:prstGeom prst="rect">
            <a:avLst/>
          </a:prstGeom>
          <a:solidFill>
            <a:srgbClr val="C07A30"/>
          </a:solidFill>
          <a:ln w="12700">
            <a:solidFill>
              <a:srgbClr val="C07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3319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gap-filling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3630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question + vague context = Claude invents the missing details as fact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40142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less context you give, the more it guesses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explain its reasoning step by step — gaps in the explanation mean gaps in the code.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47548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/  PART 1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280160" y="822960"/>
            <a:ext cx="65836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F0F9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822960"/>
            <a:ext cx="6583680" cy="54864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987552"/>
            <a:ext cx="6217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not expect the model to understand an unclear question.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77440" y="2651760"/>
            <a:ext cx="438912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743200"/>
            <a:ext cx="6217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produce the most probable next token — not the correct answer.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7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5727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Claude Works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 ·  Compaction  ·  Memory  ·  Temperature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/  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Context Window — Working Memory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Claude knows fits in a fixed token window — not infinite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sessions with many file reads, commands, and turns fill it fast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context fades — a constraint set at session start may disappear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loads every session automatically, anchoring critical context before the first message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8346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23774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19202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719072"/>
            <a:ext cx="1508760" cy="91440"/>
          </a:xfrm>
          <a:prstGeom prst="rect">
            <a:avLst/>
          </a:prstGeom>
          <a:solidFill>
            <a:srgbClr val="4A9685">
              <a:alpha val="7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0" y="2011680"/>
            <a:ext cx="1389888" cy="91440"/>
          </a:xfrm>
          <a:prstGeom prst="rect">
            <a:avLst/>
          </a:prstGeom>
          <a:solidFill>
            <a:srgbClr val="4A9685">
              <a:alpha val="6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304288"/>
            <a:ext cx="1271016" cy="91440"/>
          </a:xfrm>
          <a:prstGeom prst="rect">
            <a:avLst/>
          </a:prstGeom>
          <a:solidFill>
            <a:srgbClr val="4A9685">
              <a:alpha val="5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2596896"/>
            <a:ext cx="1152144" cy="91440"/>
          </a:xfrm>
          <a:prstGeom prst="rect">
            <a:avLst/>
          </a:prstGeom>
          <a:solidFill>
            <a:srgbClr val="4A9685">
              <a:alpha val="4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83680" y="2889504"/>
            <a:ext cx="1033272" cy="91440"/>
          </a:xfrm>
          <a:prstGeom prst="rect">
            <a:avLst/>
          </a:prstGeom>
          <a:solidFill>
            <a:srgbClr val="4A9685">
              <a:alpha val="3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83680" y="3182112"/>
            <a:ext cx="914400" cy="91440"/>
          </a:xfrm>
          <a:prstGeom prst="rect">
            <a:avLst/>
          </a:prstGeom>
          <a:solidFill>
            <a:srgbClr val="4A9685">
              <a:alpha val="2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3474720"/>
            <a:ext cx="795528" cy="91440"/>
          </a:xfrm>
          <a:prstGeom prst="rect">
            <a:avLst/>
          </a:prstGeom>
          <a:solidFill>
            <a:srgbClr val="4A9685">
              <a:alpha val="12000"/>
            </a:srgbClr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39136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/  COMPACTION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Compaction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window fills, Claude Code summarises history to free space — then continues. You will see a notice in the UI.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2679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45720" cy="95097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detail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3225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file paths, constraints, decisions may not survive the summary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938528"/>
            <a:ext cx="2679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73552" y="1938528"/>
            <a:ext cx="45720" cy="95097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19856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Mid-task drift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9856" y="23225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already done may repeat; uncompleted steps may be skipped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90088"/>
            <a:ext cx="2679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45720" cy="95097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confidence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" y="33741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continues without announcing what was lost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73552" y="2990088"/>
            <a:ext cx="267919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73552" y="2990088"/>
            <a:ext cx="45720" cy="95097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9856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instructions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9856" y="33741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rules may weaken or disappear after compaction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compaction, re-anchor: "Summarise what has been done and what step we are on before continuing"</a:t>
            </a:r>
            <a:endParaRPr lang="en-US" sz="1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/  EXTERNAL MEMORY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Markdown Files as External Memory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temporary.  Markdown files are permanent.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92224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792224"/>
            <a:ext cx="45720" cy="85953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1847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PLAN.md / TASK.md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217627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with [ ] / [x] markers. After compaction: 'Read PLAN.md and continue from the first unchecked item.'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761488"/>
            <a:ext cx="45720" cy="85953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" y="2816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DECISIONS.md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" y="314553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and rationale that would otherwise be lost in chat history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82296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45720" cy="859536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37856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" y="411480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instructions loaded every session — the contract, not a verbal briefing.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matters beyond this conversation — write it to a file.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/ 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Prompt, User Turn, Assistant Turn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261872"/>
            <a:ext cx="6949440" cy="1042416"/>
          </a:xfrm>
          <a:prstGeom prst="rect">
            <a:avLst/>
          </a:prstGeom>
          <a:solidFill>
            <a:srgbClr val="E4F2EF"/>
          </a:solidFill>
          <a:ln w="12700">
            <a:solidFill>
              <a:srgbClr val="4A9685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131673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353312"/>
            <a:ext cx="0" cy="841248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07792" y="135331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Code's loaded context, persona, tools, and CLAUDE.md — before you type anything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450592"/>
            <a:ext cx="69494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1872" y="250545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2542032"/>
            <a:ext cx="0" cy="841248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07792" y="254203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message — task, context, examples, constraints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3639312"/>
            <a:ext cx="6949440" cy="1042416"/>
          </a:xfrm>
          <a:prstGeom prst="rect">
            <a:avLst/>
          </a:prstGeom>
          <a:solidFill>
            <a:srgbClr val="E4F2EF"/>
          </a:solidFill>
          <a:ln w="12700">
            <a:solidFill>
              <a:srgbClr val="4A9685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61872" y="369417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730752"/>
            <a:ext cx="0" cy="841248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3730752"/>
            <a:ext cx="4983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response — then the cycle repeats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never a blank slate — context is loaded before your first message.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4A9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/  MEMORY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Stateless — But Not Stateful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3566160"/>
          </a:xfrm>
          <a:prstGeom prst="rect">
            <a:avLst/>
          </a:prstGeom>
          <a:solidFill>
            <a:srgbClr val="E4F2EF"/>
          </a:solidFill>
          <a:ln w="12700">
            <a:solidFill>
              <a:srgbClr val="4A9685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45720"/>
          </a:xfrm>
          <a:prstGeom prst="rect">
            <a:avLst/>
          </a:prstGeom>
          <a:solidFill>
            <a:srgbClr val="4A9685"/>
          </a:solidFill>
          <a:ln w="12700">
            <a:solidFill>
              <a:srgbClr val="4A96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a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context is retained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054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decisions and file contents remembered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638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holds the entire thread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234440"/>
            <a:ext cx="3977640" cy="3566160"/>
          </a:xfrm>
          <a:prstGeom prst="rect">
            <a:avLst/>
          </a:prstGeom>
          <a:solidFill>
            <a:srgbClr val="FCEAEA"/>
          </a:solidFill>
          <a:ln w="12700">
            <a:solidFill>
              <a:srgbClr val="D0505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92040" y="1234440"/>
            <a:ext cx="3977640" cy="45720"/>
          </a:xfrm>
          <a:prstGeom prst="rect">
            <a:avLst/>
          </a:prstGeom>
          <a:solidFill>
            <a:srgbClr val="D05050"/>
          </a:solidFill>
          <a:ln w="12700">
            <a:solidFill>
              <a:srgbClr val="D05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3533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sessions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84708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starts completely fresh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054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unless explicitly provided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1638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assuming Claude recalls last session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Everything that must persist across sessions belongs in CLAUDE.md or a markdown file</a:t>
            </a:r>
            <a:r>
              <a:rPr lang="en-US" sz="1100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  /  SETTINGS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and Determinism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3566160"/>
          </a:xfrm>
          <a:prstGeom prst="rect">
            <a:avLst/>
          </a:prstGeom>
          <a:solidFill>
            <a:srgbClr val="EAF0F9"/>
          </a:solidFill>
          <a:ln w="12700">
            <a:solidFill>
              <a:srgbClr val="5B82B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4360" y="131673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2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Temperature/Effort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deterministic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84832"/>
            <a:ext cx="365760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579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tokens preferred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523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code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467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default for coding tasks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234440"/>
            <a:ext cx="3977640" cy="3566160"/>
          </a:xfrm>
          <a:prstGeom prst="rect">
            <a:avLst/>
          </a:prstGeom>
          <a:solidFill>
            <a:srgbClr val="F0EDF9"/>
          </a:solidFill>
          <a:ln w="12700">
            <a:solidFill>
              <a:srgbClr val="7060A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31673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060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Temperature/Effort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55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varied and creative output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084832"/>
            <a:ext cx="365760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15798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Lower-probability tokens explored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75234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brainstorming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3467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ideation tasks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7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5727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Writing Prompts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Work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1272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 ·  Persona  ·  Few-Shot  ·  Context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 /  PROMPTING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Anatomy of a Good Prompt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5720" cy="749808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13167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ROLE / CONTEXT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1609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Claude? What is the environment and project?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5720" cy="749808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15798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TASK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" y="2450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do you want? Be specific and unambiguous.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45720" cy="749808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" y="29992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CONSTRAINTS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it avoid? What must not change?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5074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45720" cy="749808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" y="3840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OUTPUT FORMAT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" y="4133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only? With explanation? Specific length?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1261872"/>
            <a:ext cx="3063240" cy="3383280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0448" y="13350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70448" y="1664208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working on a .NET 8 API.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 this method to be async.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change the method signature.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only the updated method,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explanation.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 /  PERSONA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 Matters — Claude Adapts to the Role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persona activates a different slice of the model's training. Same code, same question — very different outputs.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8229600" cy="365760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ASSIGNED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34840" y="181051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CLAUDE FOCUSES 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45720" cy="749808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" y="225856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.NET Security Engineer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7408" y="2249424"/>
            <a:ext cx="0" cy="585216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53712" y="225856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SQL injection risk, auth surfaces, secrets in logs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5720" cy="749808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308152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 — Junior Dev Onboarding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07408" y="3072384"/>
            <a:ext cx="0" cy="585216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53712" y="308152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clarity, readability, edge cases, gentle suggestions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82296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45720" cy="749808"/>
          </a:xfrm>
          <a:prstGeom prst="rect">
            <a:avLst/>
          </a:prstGeom>
          <a:solidFill>
            <a:srgbClr val="628F62"/>
          </a:solidFill>
          <a:ln w="12700">
            <a:solidFill>
              <a:srgbClr val="628F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" y="39044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 — High-Throughput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07408" y="3895344"/>
            <a:ext cx="0" cy="585216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53712" y="39044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Allocations, blocking calls, N+1 queries, caching opportunities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Add your standing persona to CLAUDE.md so Claude always starts with the right perspective.</a:t>
            </a:r>
            <a:endParaRPr lang="en-US" sz="1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 /  TECHNIQUES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Show, Don't Just Tell — Few-Shot Prompting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8229600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examples of desired input → output is one of the most powerful prompting techniques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matches patterns from examples rather than interpreting vague instructions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Code: showing existing code patterns guides Claude to match your project style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89504"/>
            <a:ext cx="3886200" cy="1691640"/>
          </a:xfrm>
          <a:prstGeom prst="rect">
            <a:avLst/>
          </a:prstGeom>
          <a:solidFill>
            <a:srgbClr val="FCEAEA"/>
          </a:solidFill>
          <a:ln w="12700">
            <a:solidFill>
              <a:srgbClr val="D0505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29626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5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Vague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" y="33284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"Format the dates nicely"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2889504"/>
            <a:ext cx="3886200" cy="1691640"/>
          </a:xfrm>
          <a:prstGeom prst="rect">
            <a:avLst/>
          </a:prstGeom>
          <a:solidFill>
            <a:srgbClr val="E8F4EB"/>
          </a:solidFill>
          <a:ln w="12700">
            <a:solidFill>
              <a:srgbClr val="4E8C5A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56048" y="296265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8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With 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6048" y="332841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28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20240315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28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Output: March 15, 2024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 /  TECHNIQUES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 Complex Tasks Down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252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"do everything" prompt forces many decisions at once — bad early choices cascade into bigger problems.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47088"/>
            <a:ext cx="1965960" cy="2834640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1965960" cy="402336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591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1783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places the old pattern is used across the codebase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852928"/>
            <a:ext cx="210312" cy="0"/>
          </a:xfrm>
          <a:prstGeom prst="line">
            <a:avLst/>
          </a:prstGeom>
          <a:noFill/>
          <a:ln w="1905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33472" y="1847088"/>
            <a:ext cx="1965960" cy="2834640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33472" y="1847088"/>
            <a:ext cx="1965960" cy="402336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33472" y="18653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24912" y="23591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24912" y="2852928"/>
            <a:ext cx="1783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the refactor plan — review and approve before any changes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99432" y="2852928"/>
            <a:ext cx="210312" cy="0"/>
          </a:xfrm>
          <a:prstGeom prst="line">
            <a:avLst/>
          </a:prstGeom>
          <a:noFill/>
          <a:ln w="1905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9744" y="1847088"/>
            <a:ext cx="1965960" cy="2834640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9744" y="1847088"/>
            <a:ext cx="1965960" cy="402336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9744" y="18653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1184" y="23591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01184" y="2852928"/>
            <a:ext cx="1783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one module at a time, verifying each increment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75704" y="2852928"/>
            <a:ext cx="210312" cy="0"/>
          </a:xfrm>
          <a:prstGeom prst="line">
            <a:avLst/>
          </a:prstGeom>
          <a:noFill/>
          <a:ln w="1905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86016" y="1847088"/>
            <a:ext cx="1965960" cy="2834640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86016" y="1847088"/>
            <a:ext cx="1965960" cy="402336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986016" y="18653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77456" y="2359152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77456" y="2852928"/>
            <a:ext cx="1783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check boundaries, confirm nothing regressed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47548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  /  PART 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1280160" y="822960"/>
            <a:ext cx="658368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EDEE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822960"/>
            <a:ext cx="6583680" cy="54864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63040" y="987552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is a collaborator,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an oracle.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377440" y="2798064"/>
            <a:ext cx="438912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2889504"/>
            <a:ext cx="6217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 confident even when wrong. Review its output, push back, iterate — do not treat a first response as final.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"/>
            <a:ext cx="45720" cy="4526280"/>
          </a:xfrm>
          <a:prstGeom prst="rect">
            <a:avLst/>
          </a:prstGeom>
          <a:solidFill>
            <a:srgbClr val="C06B70"/>
          </a:solidFill>
          <a:ln w="12700">
            <a:solidFill>
              <a:srgbClr val="C0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06B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  /  CONTEXT 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vs. Context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3977640" cy="3584448"/>
          </a:xfrm>
          <a:prstGeom prst="rect">
            <a:avLst/>
          </a:prstGeom>
          <a:solidFill>
            <a:srgbClr val="F9EDEE"/>
          </a:solidFill>
          <a:ln w="12700">
            <a:solidFill>
              <a:srgbClr val="C06B70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6B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perfect single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066544"/>
            <a:ext cx="365760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2140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'Word this request better'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'Find the right phrasing'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7355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'Add more detail to the question'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1225296"/>
            <a:ext cx="3977640" cy="3584448"/>
          </a:xfrm>
          <a:prstGeom prst="rect">
            <a:avLst/>
          </a:prstGeom>
          <a:solidFill>
            <a:srgbClr val="E4F2EF"/>
          </a:solidFill>
          <a:ln w="12700">
            <a:solidFill>
              <a:srgbClr val="4A9685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12984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6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everything Claude can see when it acts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2066544"/>
            <a:ext cx="365760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212140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with standing project knowledge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loaded before starting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7355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/clear to remove stale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84962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examples of what NOT to 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depends more on what Claude knows than on how cleverly you word the request.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66928"/>
            <a:ext cx="731520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8"/>
            </a:solidFill>
            <a:prstDash val="solid"/>
          </a:ln>
          <a:effectLst>
            <a:outerShdw blurRad="101600" dist="25400" dir="8100000" algn="bl" rotWithShape="0">
              <a:srgbClr val="9090A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566928"/>
            <a:ext cx="7315200" cy="54864"/>
          </a:xfrm>
          <a:prstGeom prst="rect">
            <a:avLst/>
          </a:prstGeom>
          <a:solidFill>
            <a:srgbClr val="5B82B8"/>
          </a:solidFill>
          <a:ln w="12700">
            <a:solidFill>
              <a:srgbClr val="5B82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71323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5B8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MENTAL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133856"/>
            <a:ext cx="6949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2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is a token-prediction engine trained on human knowledge, guided by your instructions, operating within a context window.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194560" y="2724912"/>
            <a:ext cx="4754880" cy="0"/>
          </a:xfrm>
          <a:prstGeom prst="line">
            <a:avLst/>
          </a:prstGeom>
          <a:noFill/>
          <a:ln w="12700">
            <a:solidFill>
              <a:srgbClr val="E2D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281635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4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your instructions match the task, the better the output.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401568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not magic — </a:t>
            </a:r>
            <a:r>
              <a:rPr lang="en-US" sz="1300" b="1" dirty="0">
                <a:solidFill>
                  <a:srgbClr val="25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very powerful autocomplete.</a:t>
            </a:r>
            <a:r>
              <a:rPr lang="en-US" sz="1300" dirty="0">
                <a:solidFill>
                  <a:srgbClr val="9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Treat it like a collaborator, not a calculator.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1583</Words>
  <Application>Microsoft Office PowerPoint</Application>
  <PresentationFormat>On-screen Show (16:9)</PresentationFormat>
  <Paragraphs>242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Claude to Use It Better</dc:title>
  <dc:subject>PptxGenJS Presentation</dc:subject>
  <dc:creator>PptxGenJS</dc:creator>
  <cp:lastModifiedBy>Stefan Bildea</cp:lastModifiedBy>
  <cp:revision>1</cp:revision>
  <cp:lastPrinted>2026-10-12T14:24:30Z</cp:lastPrinted>
  <dcterms:created xsi:type="dcterms:W3CDTF">2026-03-23T10:05:15Z</dcterms:created>
  <dcterms:modified xsi:type="dcterms:W3CDTF">2026-10-12T14:26:11Z</dcterms:modified>
</cp:coreProperties>
</file>