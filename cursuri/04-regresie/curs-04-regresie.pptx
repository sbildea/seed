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64" r:id="rId1"/>
  </p:sldMasterIdLst>
  <p:notesMasterIdLst>
    <p:notesMasterId r:id="rId88"/>
  </p:notesMasterIdLst>
  <p:sldIdLst>
    <p:sldId id="367" r:id="rId2"/>
    <p:sldId id="306" r:id="rId3"/>
    <p:sldId id="257" r:id="rId4"/>
    <p:sldId id="309" r:id="rId5"/>
    <p:sldId id="303" r:id="rId6"/>
    <p:sldId id="258" r:id="rId7"/>
    <p:sldId id="364" r:id="rId8"/>
    <p:sldId id="261" r:id="rId9"/>
    <p:sldId id="311" r:id="rId10"/>
    <p:sldId id="304" r:id="rId11"/>
    <p:sldId id="259" r:id="rId12"/>
    <p:sldId id="263" r:id="rId13"/>
    <p:sldId id="264" r:id="rId14"/>
    <p:sldId id="260" r:id="rId15"/>
    <p:sldId id="266" r:id="rId16"/>
    <p:sldId id="265" r:id="rId17"/>
    <p:sldId id="268" r:id="rId18"/>
    <p:sldId id="365" r:id="rId19"/>
    <p:sldId id="270" r:id="rId20"/>
    <p:sldId id="276" r:id="rId21"/>
    <p:sldId id="284" r:id="rId22"/>
    <p:sldId id="285" r:id="rId23"/>
    <p:sldId id="345" r:id="rId24"/>
    <p:sldId id="344" r:id="rId25"/>
    <p:sldId id="278" r:id="rId26"/>
    <p:sldId id="277" r:id="rId27"/>
    <p:sldId id="279" r:id="rId28"/>
    <p:sldId id="280" r:id="rId29"/>
    <p:sldId id="281" r:id="rId30"/>
    <p:sldId id="282" r:id="rId31"/>
    <p:sldId id="312" r:id="rId32"/>
    <p:sldId id="313" r:id="rId33"/>
    <p:sldId id="348" r:id="rId34"/>
    <p:sldId id="314" r:id="rId35"/>
    <p:sldId id="283" r:id="rId36"/>
    <p:sldId id="300" r:id="rId37"/>
    <p:sldId id="299" r:id="rId38"/>
    <p:sldId id="301" r:id="rId39"/>
    <p:sldId id="302" r:id="rId40"/>
    <p:sldId id="612" r:id="rId41"/>
    <p:sldId id="353" r:id="rId42"/>
    <p:sldId id="608" r:id="rId43"/>
    <p:sldId id="368" r:id="rId44"/>
    <p:sldId id="554" r:id="rId45"/>
    <p:sldId id="287" r:id="rId46"/>
    <p:sldId id="271" r:id="rId47"/>
    <p:sldId id="595" r:id="rId48"/>
    <p:sldId id="289" r:id="rId49"/>
    <p:sldId id="290" r:id="rId50"/>
    <p:sldId id="291" r:id="rId51"/>
    <p:sldId id="292" r:id="rId52"/>
    <p:sldId id="293" r:id="rId53"/>
    <p:sldId id="272" r:id="rId54"/>
    <p:sldId id="510" r:id="rId55"/>
    <p:sldId id="523" r:id="rId56"/>
    <p:sldId id="522" r:id="rId57"/>
    <p:sldId id="525" r:id="rId58"/>
    <p:sldId id="526" r:id="rId59"/>
    <p:sldId id="527" r:id="rId60"/>
    <p:sldId id="594" r:id="rId61"/>
    <p:sldId id="318" r:id="rId62"/>
    <p:sldId id="596" r:id="rId63"/>
    <p:sldId id="446" r:id="rId64"/>
    <p:sldId id="432" r:id="rId65"/>
    <p:sldId id="324" r:id="rId66"/>
    <p:sldId id="317" r:id="rId67"/>
    <p:sldId id="329" r:id="rId68"/>
    <p:sldId id="331" r:id="rId69"/>
    <p:sldId id="351" r:id="rId70"/>
    <p:sldId id="597" r:id="rId71"/>
    <p:sldId id="335" r:id="rId72"/>
    <p:sldId id="598" r:id="rId73"/>
    <p:sldId id="354" r:id="rId74"/>
    <p:sldId id="611" r:id="rId75"/>
    <p:sldId id="545" r:id="rId76"/>
    <p:sldId id="568" r:id="rId77"/>
    <p:sldId id="569" r:id="rId78"/>
    <p:sldId id="570" r:id="rId79"/>
    <p:sldId id="571" r:id="rId80"/>
    <p:sldId id="572" r:id="rId81"/>
    <p:sldId id="605" r:id="rId82"/>
    <p:sldId id="574" r:id="rId83"/>
    <p:sldId id="575" r:id="rId84"/>
    <p:sldId id="586" r:id="rId85"/>
    <p:sldId id="587" r:id="rId86"/>
    <p:sldId id="607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2"/>
    <p:restoredTop sz="83125" autoAdjust="0"/>
  </p:normalViewPr>
  <p:slideViewPr>
    <p:cSldViewPr snapToGrid="0" snapToObjects="1">
      <p:cViewPr varScale="1">
        <p:scale>
          <a:sx n="65" d="100"/>
          <a:sy n="65" d="100"/>
        </p:scale>
        <p:origin x="604" y="272"/>
      </p:cViewPr>
      <p:guideLst>
        <p:guide orient="horz" pos="22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0C28CB8B-D633-48A1-8252-973CD3B09C26}"/>
    <pc:docChg chg="undo custSel modSld">
      <pc:chgData name="Stefan Bildea" userId="14ee9846484ecb5c" providerId="LiveId" clId="{0C28CB8B-D633-48A1-8252-973CD3B09C26}" dt="2025-11-11T22:11:24.322" v="2" actId="20577"/>
      <pc:docMkLst>
        <pc:docMk/>
      </pc:docMkLst>
      <pc:sldChg chg="modSp mod">
        <pc:chgData name="Stefan Bildea" userId="14ee9846484ecb5c" providerId="LiveId" clId="{0C28CB8B-D633-48A1-8252-973CD3B09C26}" dt="2025-11-11T22:11:24.322" v="2" actId="20577"/>
        <pc:sldMkLst>
          <pc:docMk/>
          <pc:sldMk cId="0" sldId="367"/>
        </pc:sldMkLst>
        <pc:spChg chg="mod">
          <ac:chgData name="Stefan Bildea" userId="14ee9846484ecb5c" providerId="LiveId" clId="{0C28CB8B-D633-48A1-8252-973CD3B09C26}" dt="2025-11-11T22:11:24.322" v="2" actId="20577"/>
          <ac:spMkLst>
            <pc:docMk/>
            <pc:sldMk cId="0" sldId="367"/>
            <ac:spMk id="6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0.45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1.63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7.01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08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44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81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9.1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9.54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3217 872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42.20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43.8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5.27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6.41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25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6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99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  <inkml:trace contextRef="#ctx0" brushRef="#br0" timeOffset="1">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8.3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8.7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6.9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7.96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8.3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8.68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03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42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78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27.26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455 0,'-4'11,"0"0,1-1,0 1,-2 14,0 7,-40 245,-13 357,41 289,17-892,-1 0,-4 533,-24-1,-75 403,47-474,28-243,-42 473,56 180,32-696,44 211,-41-312,4-1,40 108,-42-157,1-1,3-1,2-1,3-1,49 63,-48-74,2-2,77 67,-83-83,0-2,2-1,0-1,1-1,47 17,1-7,2-4,0-3,116 12,259 1,1000-22,-1084-14,-19 1,1152-2,-239 74,-12 89,472 57,-717-110,-175-16,-61-49,-420-26,-218-2,-126-12,0-1,0 0,1-1,-1 0,0 0,0-1,0 0,12-5,-15 4,-1 1,0-2,1 1,-1 0,-1-1,1 0,-1 0,1-1,-1 1,0-1,-1 0,6-8,0-6,1 0,7-25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28.58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0,'621'23,"-620"-23,1004 29,-492-19,938 112,-7 103,-927-139,569 69,2013 27,-2993-183,361 3,-6 31,369 120,-796-145,-1 2,-1 2,1 1,39 22,107 79,-135-84,221 133,-140-89,121 94,-235-160,0 1,0 0,-1 1,0 0,-1 1,0 0,-1 0,0 1,-1 0,0 0,-1 1,-1-1,0 2,0-1,-1 0,-1 1,3 21,0 26,-2 1,-3-1,-9 83,-4-47,-35 135,-77 205,70-206,-29 289,49-168,-34 265,39-419,-20 125,-7 50,-24 138,-59 321,69-384,66-422,-78 512,36 9,43-70,3-369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32.81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0,'4'4,"0"-2,0 1,0 0,0-1,1 0,-1 0,1 0,6 1,2 2,199 69,254 53,491 35,-750-132,80 13,917 127,667 80,-961-85,-142-5,13-40,-150-48,580 71,-732-86,71 10,240 16,-679-73,546 69,-535-62,148 25,293 85,-373-73,315 82,-441-120,-39-8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34.22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305 1,'-1'1,"0"0,0 0,0 1,0-1,0 0,0 1,1-1,-1 1,0-1,1 1,-1-1,1 1,0 0,0-1,-1 1,1-1,0 3,-1 8,-28 363,9-101,-30 606,-15 149,42-814,-48 575,51 6,23 1,1-312,-3 1507,-1-1251,0-701,-5 139,2-166,0-20,-3-64,0-35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35.2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553 0,'-22'467,"7"-239,-27 311,-3 67,23 344,24 1,0-478,-38 255,-78 105,61-508,-7 56,48-275,-50 448,29 6,33-378,-2 63,1-217,-5 30,1-42,4-16,1 0,0 0,0 0,0 0,-1 0,1 0,0 0,0 0,-1 0,1 0,0 0,0 0,0 0,-1 0,1 0,0 0,0 0,0-1,-1 1,1 0,0 0,0 0,0 0,0 0,0-1,-1 1,1 0,0 0,0 0,0-1,0 1,0 0,0 0,0 0,0-1,0 1,0 0,0 0,0 0,0-1,0 1,0 0,0 0,0-1,0 1,0 0,0-1,-5-24,-1-31,-4-69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36.55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86 0,'0'45,"-15"426,-53 482,66 148,51-263,16-344,-13-109,-22 1,-29-381,36 365,2 27,-37-359,35 368,-1-142,29 177,-57-402,-5-33,-1-6,0-12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37.62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148 0,'0'127,"-11"433,-33-13,-16 261,27 426,35 2,1-633,16 1595,-11-1248,-4-283,27 9,-29-656,68 502,-53-451,-17-70,1 0,-1 0,0 0,0 0,0 0,1-1,-1 1,0 0,1 0,-1 0,1 0,-1-1,1 1,-1 0,1-1,-1 1,1 0,0-1,-1 1,1-1,0 1,0-1,0 1,7-12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38.96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0,'0'5,"0"6,0 6,0 24,5 11,1 29,15 39,3 34,-2 8,-5 17,-5-14,-10-44,-5-43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45.72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1211 1,'-4'4,"-1"-1,1 1,-1-1,0 0,1 0,-11 4,-10 5,-14 14,1 1,-47 45,-61 73,86-83,28-32,-1-3,-42 28,43-33,1 1,0 2,-29 32,-48 78,78-93,-1-2,-3-2,-53 50,23-38,-37 35,82-63,12-7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46.80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2133 0,'-22'25,"1"0,-28 44,34-45,-1-1,-2 0,0-1,-29 26,-86 58,-25 20,-78 98,187-182,-90 58,15-11,-54 38,-50 42,157-102,4 3,2 2,-63 93,0-3,-14 18,138-173,-40 50,28-45,16-12,-1 0,1 0,0 0,-1 0,1 0,-1 0,1 0,0 0,-1 0,1 0,-1 0,1 0,-1 0,1 0,0 0,-1 0,1 0,0 0,-1 0,1-1,-1 1,1 0,0 0,-1-1,1 1,0 0,0 0,-1-1,1 1,0 0,0-1,-1 1,1 0,0-1,0 1,0 0,-1-1,1 0,-3-16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47.71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1657 1,'-1'8,"0"0,-1 0,1 0,-2 0,1 0,-1 0,0-1,0 1,-1-1,0 0,-1 0,1 0,-1-1,0 0,-1 0,-7 7,-10 7,0-1,-2-1,-26 16,-329 174,30-20,216-113,-220 86,344-157,-39 15,1 2,-78 47,112-56,9-4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48.34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452 1,'-4'5,"-7"11,-2 8,-7 4,-6 3,-8 5,2 2,7-2,-3-1,3-2,2-2,-4 3,-4 1,-5-1,-2-1,-4-1,6-7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51.98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1372,'1'-15,"0"0,1 0,1 0,5-18,4-16,56-399,-27 146,-24 196,41-228,-47 295,-11 39,0 0,0 0,0 0,0 0,0 0,0 0,0 0,0 0,0 1,0-1,0 0,0 0,0 0,0 0,0 0,0 0,0 0,1 0,-1 0,0 0,0 1,0-1,0 0,0 0,0 0,0 0,0 0,0 0,0 0,0 0,0 0,0 0,1 0,-1 0,0 0,0 0,0 0,0 0,0 0,0 0,0 0,0 0,0 0,1 0,-1 0,0 0,0 0,0 0,0 0,0 0,0 0,0 0,0 0,0 0,0 0,1 0,-1 0,0 0,0 0,0 0,0 0,0 0,0-1,0 1,1 24,-17 192,2-75,8-53,-31 464,22 5,14-505,-2 0,-19 97,11-99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52.68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0,'5'0,"6"0,16 10,17 3,17-1,6-3,-3-2,-7-2,-9-3,-8-1,-10-1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55.49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1869 881,'-3'-2,"0"0,0 0,0 0,-1 0,1 1,-1-1,1 1,-1 0,0 0,-6-1,-14-4,-56-20,-1 3,-2 4,0 4,0 3,-90 0,126 11,1 1,-93 14,111-8,-1 1,1 1,0 1,1 2,-50 26,45-18,1 2,-47 42,-47 58,25-23,69-68,1 1,1 2,2 0,2 2,0 1,3 1,-31 67,23-27,3 1,3 1,4 1,3 1,-9 113,9 416,18-544,-1 91,11 339,-7-446,3-1,2 1,2-2,2 1,2-2,40 85,-25-75,2-2,3-1,2-2,81 88,-76-96,143 169,-156-175,37 39,-49-61,1 1,0-2,1 0,26 14,19 3,0-2,126 37,-155-56,82 27,169 59,-240-82,0-2,1-1,0-3,1-2,0-1,0-3,0-2,0-2,70-11,-108 10,0 0,-1 0,1-1,-1-1,0 1,0-2,0 1,-1-1,0 0,0-1,0 0,0 0,-1-1,0 0,0 0,9-14,102-133,113-141,-156 215,-56 62,0-1,-1-1,-1-1,0 0,-2-1,21-41,8-53,44-183,-48 151,65-254,-34-2,-42 103,-18-564,-14 811,-3-1,-2 1,-28-97,-43-91,-170-357,234 571,-1 0,-2 1,0 1,-2 0,-1 2,0 0,-2 1,-1 2,-35-25,17 17,-1 2,-2 2,-1 3,0 1,-58-17,52 23,-1 2,-1 2,-66-3,-166 5,232 10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56.97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2915,'7'-4,"-1"1,0-1,0 0,-1 0,1 0,6-8,7-5,395-317,-305 249,361-244,29 31,197-56,-271 176,594-164,-744 275,529-57,-494 93,1026-112,-624 55,1022-120,-1209 148,1096-108,-312 115,-930 63,-307-3,-1 3,-1 2,79 26,-120-29,-1 2,45 23,-57-25,0 2,-1-1,0 2,0 0,15 17,0 5,-2 1,-2 1,32 56,48 122,-106-213,156 316,-8-18,-27 27,-86-218,9 22,153 397,-118-368,172 259,140 120,-224-316,-48-46,23 29,-113-171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58.05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0 620,'4'3,"0"-1,-1 1,2-1,-1-1,0 1,0-1,0 1,1-1,-1 0,8 0,13 4,62 28,-64-23,1 0,1-2,0 0,46 6,-67-14,-1 0,1 0,-1 0,0-1,1 0,-1 0,0 0,0 0,1 0,-1 0,0-1,0 0,-1 0,1 1,0-2,0 1,-1 0,0 0,1-1,-1 1,0-1,0 0,0 0,0 0,-1 0,2-4,4-8,-1-1,-1 0,7-30,-12 46,8-41,-3 0,2-58,-10-85,0 67,2 62,1 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59.16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0,'0'24,"0"56,0 34,0 31,14 19,5 6,4-11,8-9,-1-6,-2-18,10-11,-2-35,-8-31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19:59.82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0 186,'14'0,"34"0,13 0,21 0,39-14,3-5,11-4,0-8,7 2,-16 5,-6 7,-18 7,-17-1,-23 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0.48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0,'40'90,"-5"2,34 128,-31-89,134 436,-161-533,-5-10,2-1,20 43,-24-59,0-1,0 0,0 0,1 0,0 0,0-1,0 0,1 0,0 0,0-1,0 1,0-2,1 1,7 3,11 1,-1-1,1-1,1-1,-1-1,43 0,131-11,-127 1,109-23,-161 24,-1 0,1-1,-2-1,1-1,-1 0,0-2,0 0,-2-1,1 0,24-24,-23 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0.95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0 211,'10'0,"31"-5,24-11,5-3,20-3,18-12,1-1,-9 2,-16 6,-24 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1.70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0 504,'10'0,"7"0,11-10,15-2,34-20,51-13,20-8,36-10,11 0,-13 8,-19 2,-22 10,-35 9,-26 9,-27 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2.57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797 0,'-4'6,"0"0,0 0,0-1,-1 0,0 1,0-2,0 1,0-1,-1 1,-10 5,-8 2,-37 15,48-21,-244 87,11-5,245-87,-16 5,1 2,-1 0,-28 19,42-25,-1 1,1 0,0 0,0 0,0 1,0-1,1 1,-1 0,-2 5,4-7,0 1,1-1,-1 0,0 1,1 0,0-1,0 1,-1-1,1 1,1-1,-1 1,0-1,1 1,-1-1,1 1,0-1,1 4,2 3,1-1,0 0,0 0,1 0,0 0,0-1,8 7,57 45,-50-41,107 76,-75-57,-1 2,61 60,-99-84,0 0,-1 1,-1 1,0 0,-1 1,-1 0,-1 1,0 0,-1 0,-2 0,7 30,-8-25,-2 0,0 1,-2 0,-1-1,-5 47,3-64,1 0,-2 1,1-1,-1 0,0 0,0 0,0-1,-1 1,0-1,-1 0,1 0,-1 0,0 0,-1-1,-11 9,7-7,-1 0,0-1,0-1,-1 1,1-2,-1 0,0 0,-20 3,-16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3.30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1,'0'14,"0"15,0 26,10 13,7 10,2 20,-3 18,-4 22,-4-7,6-11,1-13,-3-13,2-24,-2-24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3.83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0,'19'0,"45"0,35 14,35 6,33-2,26-3,19-5,2-3,4-4,-8-1,-14-2,-3-11,-30-3,-32-4,-38 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7.1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7.57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7.96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0,'5'0,"1"0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09.15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1165,'0'-11,"1"-1,1 0,3-15,4-23,3-422,-1 8,-8 442,0-1,8-24,-11 45,1 1,-1-1,1 0,0 0,0 0,0 0,0 1,0-1,0 0,2-1,-3 3,1 0,-1-1,1 1,-1 0,1-1,-1 1,1 0,-1 0,0 0,1-1,-1 1,1 0,-1 0,1 0,0 0,-1 0,1 0,-1 0,1 0,-1 0,1 0,-1 0,1 0,0 1,1 0,1 1,-1 0,0-1,1 1,-1 0,0 1,0-1,-1 0,4 5,5 9,-1 0,0 1,-2 0,0 0,0 1,6 31,13 114,-18 35,-5-66,0-103,0 0,14 46,1-16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0.58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185 408,'1'96,"4"1,4-1,4 0,4-1,5 0,47 130,-64-213,4 14,2 0,23 40,-31-60,1 0,0 0,0-1,1 0,0 0,0 0,0 0,0-1,1 1,0-1,-1-1,2 1,-1-1,0 0,12 3,-8-4,0 0,1-1,-1-1,0 0,1 0,-1-1,0 0,1-1,-1 0,0-1,0 0,0 0,-1-1,1 0,-1-1,0 0,14-11,1-2,-1 0,-1-2,0-1,35-45,-44 48,-1-1,-1 0,-1 0,0-1,9-28,-6 7,14-73,-20 71,-3 0,-1 0,-2 0,-2 0,-2 0,-2 0,-1 0,-16-50,-1 16,-3 1,-4 1,-50-92,77 160,-1 1,1 0,-1 0,-1 0,1 0,-1 1,0 0,0 0,0 0,-1 1,0-1,0 1,0 1,0-1,-1 1,1 0,-1 0,0 1,1 0,-1 0,0 1,-1 0,1 0,0 1,0-1,-8 2,2 0,1 1,-1 0,0 1,1 1,0-1,0 2,-23 11,-1 5,-37 29,14-9,-165 99,154-94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2.25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903 1,'-6'4,"1"0,-1 0,1 0,0 1,0 0,1 0,0 1,0-1,0 1,-6 12,7-13,-55 99,-26 42,68-121,-1-2,-1 0,-40 37,-131 95,-17 15,184-148,1 1,1 1,1 0,1 2,1 0,-17 38,11-20,1-8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3.1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1985 0,'-59'61,"36"-36,-1-2,-36 29,-8-5,-2-3,-90 41,-161 55,48-22,6-3,-121 59,359-157,2 0,0 2,2 0,0 2,1 1,1 1,1 1,-33 47,53-70,1 1,-1 1,1-1,-1 0,1 1,0-1,-1 1,0 4,2-7,0 1,0-1,0 0,0 0,0 1,0-1,0 0,0 0,0 0,0 1,0-1,0 0,1 0,-1 0,0 1,0-1,0 0,0 0,0 0,1 0,-1 1,0-1,0 0,0 0,1 0,-1 0,0 0,0 0,0 0,1 1,-1-1,0 0,17-1,25-9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3.78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1518 1,'0'14,"0"0,-1 1,-1-1,-7 28,6-34,0 0,0 0,-1-1,0 1,0-1,-1 0,0 0,0 0,-1-1,-6 7,-2-2,1 0,-1-1,-1-1,-16 8,-70 30,84-39,-68 25,-89 23,46-18,-207 47,273-73,2 3,-1 3,2 2,-75 37,111-45,0 2,-40 30,23-10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5.18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1703 0,'-54'2,"0"2,0 3,1 2,0 3,1 1,0 3,1 2,1 3,0 1,-72 47,91-49,1 1,2 2,0 1,-39 43,-82 122,-20 21,53-71,63-72,-129 174,156-201,2 1,1 2,2 0,-19 61,23-45,3 0,3 1,-4 66,2 180,13-275,0 132,32 252,-13-295,6-1,68 202,-48-198,123 230,-127-285,2-1,3-2,3-3,90 89,284 197,-305-263,162 91,-193-130,2-4,171 57,-209-85,1-1,1-3,0-3,0-1,0-3,96-7,-104-1,-1-1,0-3,-1-1,0-3,-1-1,0-2,-1-2,59-35,-84 42,0 0,-1-2,0 1,-1-2,-1 0,0 0,-1-1,19-29,-3-7,35-85,-54 116,265-715,-242 626,-6-2,-4 0,-5-2,-5 0,-5 0,-4-1,-6 0,-5 1,-32-162,24 208,-3 2,-3 0,-45-92,-114-173,-11 19,99 163,-198-275,276 403,-11-16,-71-94,75 104,-1 0,-43-35,32 33,-41-23,59 41,0 1,-1 1,0 0,-36-10,20 12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6.1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0 851,'5'7,"0"-1,0 0,0 0,1 0,0-1,0 0,0 0,11 6,-10-6,43 27,91 41,-68-37,11 7,39 22,165 59,-97-61,299 58,-119-40,-40-8,-30-19,476 22,-257-71,-411-11,-1-4,185-41,-61-16,383-167,-575 218,-2-2,-1-2,0-1,64-49,-88 58,1-1,-2 0,1-1,-2-1,0 1,-1-2,0 1,-1-2,-1 1,-1-1,0 0,-1-1,7-35,0-30,1-97,-9-91,-5 204,0-224,-1 188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6.89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64,'0'-4,"9"-3,9 1,0-9,3-1,2 2,7 12,3 22,-4 21,2 5,-3-7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7.61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0,'0'10,"5"17,2 33,-1 11,-1 13,-2 11,0 19,7-1,4 9,-2-12,-3-9,-2-23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8.25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0 169,'10'5,"7"1,26 0,57-20,32-8,21-5,19 2,19 6,-5 5,6-4,-7 1,-30 3,-36 4,-39 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8.86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1,'2'35,"6"39,0-1,-2 17,25 496,-31-554,0-5,1 0,8 46,-7-65,0-1,0 1,0-1,1 1,1-1,-1 0,1 0,0-1,0 1,1-1,0 0,0 0,1 0,5 5,1-3,0-1,0 0,0-1,1 0,0-1,0 0,0-1,0-1,1 0,0 0,25 0,-6-2,-1-2,0-1,1-1,33-8,-40 5,0-1,-1-1,0-1,34-18,-45 20,-1-1,0-1,0 0,-1 0,0-1,-1-1,0 0,16-22,-8 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19.76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1 363,'9'0,"14"-5,7-1,17 0,40 2,19-5,30-9,21-12,2-10,-20 2,-30 2,-28 8,-28-6,-23-7,-26 3,-14 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20.4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99,'10'10,"17"2,33 0,30-2,29-3,14-3,2-1,-6-12,-12-4,-15-4,-21 0,-24-6,-7 1,3 3,10 6,-4 0,-14 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21.66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571 0,'0'6,"-1"-1,0 0,0 0,0 0,-1 0,0 0,0 0,0 0,-1 0,1-1,-1 1,0-1,0 0,-1 0,1 0,-1 0,0 0,0-1,-5 4,-11 7,-1-1,-41 20,35-19,-66 30,-34 18,112-53,1 1,-1 0,2 1,0 1,0 0,-12 16,17-19,0 1,1 0,0 1,1 0,0 0,-5 15,10-22,-1 0,1 0,1 0,-1 0,0 0,1 1,0-1,0 0,1 0,-1 1,1-1,-1 0,2 0,-1 0,0 0,1 0,-1 0,1 0,0-1,0 1,1-1,-1 1,4 3,13 12,-1-1,39 27,54 29,10-5,201 82,-61-33,-239-107,0 1,0 1,32 25,-48-33,0 0,-1 1,1-1,-1 1,0 1,-1-1,1 1,-1 0,-1 0,1 0,-1 0,-1 0,1 1,-1 0,2 13,-2-1,-2 0,0 0,-1 0,-5 33,5-49,-1 0,1 1,-1-1,1 0,-1 0,-1 0,1 0,-1-1,1 1,-1 0,0-1,0 0,-1 0,1 0,0 0,-1 0,0-1,0 1,0-1,0 0,0-1,0 1,-6 1,-11 3,0-2,0 0,-38 1,44-4,-74 4,-141-10,158-3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22.29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1,'0'14,"9"15,23 36,6 45,1 18,9 12,-4 29,0-3,-8-7,-5 8,7 5,-4-37,-6-55,-14-52,-9-34,-5-17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17:20:23.09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1 286,'0'-2,"1"1,-1-1,1 1,0-1,-1 1,1-1,0 1,0-1,0 1,1 0,-1 0,0-1,0 1,1 0,-1 0,2-1,1-1,18-12,0 1,1 1,1 1,0 1,1 0,30-7,-26 8,83-27,1 5,1 5,1 5,164-10,209 28,-438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916D4-D3FC-7E44-806B-AFE67B3FD2D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87189-9274-814D-9CD5-CBA9E19E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45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Supposed we were asked by a client to provide advice on how to improve sales of a particular product. </a:t>
            </a:r>
          </a:p>
          <a:p>
            <a:endParaRPr lang="en-US" sz="1200" dirty="0"/>
          </a:p>
          <a:p>
            <a:r>
              <a:rPr lang="en-US" sz="1200" dirty="0"/>
              <a:t>Does that footnote</a:t>
            </a:r>
            <a:r>
              <a:rPr lang="en-US" sz="1200" baseline="0" dirty="0"/>
              <a:t> belong on this slide?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40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an example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8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20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34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x</a:t>
            </a:r>
            <a:r>
              <a:rPr lang="en-US" baseline="0" dirty="0"/>
              <a:t> and y to uppercase? (DLS)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7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55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it clear that </a:t>
            </a:r>
            <a:r>
              <a:rPr lang="en-US" dirty="0" err="1"/>
              <a:t>x_q</a:t>
            </a:r>
            <a:r>
              <a:rPr lang="en-US" dirty="0"/>
              <a:t> is really </a:t>
            </a:r>
            <a:r>
              <a:rPr lang="en-US" dirty="0" err="1"/>
              <a:t>x_i,q</a:t>
            </a:r>
            <a:r>
              <a:rPr lang="en-US" dirty="0"/>
              <a:t>?</a:t>
            </a:r>
            <a:r>
              <a:rPr lang="en-US" baseline="0" dirty="0"/>
              <a:t> (DLS)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60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it clear that </a:t>
            </a:r>
            <a:r>
              <a:rPr lang="en-US" dirty="0" err="1"/>
              <a:t>x_q</a:t>
            </a:r>
            <a:r>
              <a:rPr lang="en-US" dirty="0"/>
              <a:t> is really </a:t>
            </a:r>
            <a:r>
              <a:rPr lang="en-US" dirty="0" err="1"/>
              <a:t>x_i,q</a:t>
            </a:r>
            <a:r>
              <a:rPr lang="en-US" dirty="0"/>
              <a:t>?</a:t>
            </a:r>
            <a:r>
              <a:rPr lang="en-US" baseline="0" dirty="0"/>
              <a:t> (DLS)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41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04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53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33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</a:t>
            </a:r>
            <a:r>
              <a:rPr lang="en-US" baseline="0" dirty="0"/>
              <a:t> </a:t>
            </a:r>
            <a:r>
              <a:rPr lang="en-US" baseline="0" dirty="0" err="1"/>
              <a:t>y_hat</a:t>
            </a:r>
            <a:r>
              <a:rPr lang="en-US" baseline="0" dirty="0"/>
              <a:t> instead of </a:t>
            </a:r>
            <a:r>
              <a:rPr lang="en-US" baseline="0" dirty="0" err="1"/>
              <a:t>f_hat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I think the index on </a:t>
            </a:r>
            <a:r>
              <a:rPr lang="en-US" baseline="0" dirty="0" err="1"/>
              <a:t>y_hat</a:t>
            </a:r>
            <a:r>
              <a:rPr lang="en-US" baseline="0" dirty="0"/>
              <a:t> is wrong but I can’t change it b/c it’s an image. (DLS)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24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96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31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64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72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03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972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799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176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indeces</a:t>
            </a:r>
            <a:r>
              <a:rPr lang="en-US" baseline="0" dirty="0"/>
              <a:t> and show k-nearest</a:t>
            </a:r>
          </a:p>
          <a:p>
            <a:endParaRPr lang="en-US" baseline="0" dirty="0"/>
          </a:p>
          <a:p>
            <a:r>
              <a:rPr lang="en-US" baseline="0" dirty="0"/>
              <a:t>Do you want to mention that RMSE isn’t always great b/c it’s not smooth?  This would give them an idea on the things to consider when choosing loss functions.  (DLS)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873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040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058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this to a nicer</a:t>
            </a:r>
            <a:r>
              <a:rPr lang="en-US" baseline="0" dirty="0"/>
              <a:t> plot </a:t>
            </a:r>
          </a:p>
          <a:p>
            <a:endParaRPr lang="en-US" dirty="0"/>
          </a:p>
          <a:p>
            <a:r>
              <a:rPr lang="en-US" dirty="0"/>
              <a:t>The subscript</a:t>
            </a:r>
            <a:r>
              <a:rPr lang="en-US" baseline="0" dirty="0"/>
              <a:t> on the summation should be </a:t>
            </a:r>
            <a:r>
              <a:rPr lang="en-US" baseline="0" dirty="0" err="1"/>
              <a:t>i</a:t>
            </a:r>
            <a:r>
              <a:rPr lang="en-US" baseline="0" dirty="0"/>
              <a:t>=1 for clarity. I can’t seem to change this either</a:t>
            </a:r>
            <a:r>
              <a:rPr lang="mr-IN" baseline="0" dirty="0"/>
              <a:t>…</a:t>
            </a:r>
            <a:r>
              <a:rPr lang="en-US" baseline="0" dirty="0"/>
              <a:t> (DLS)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92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815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339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692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057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Axes labels! (DLS)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50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Axes labels! (DLS)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14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94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568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847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2A77D-B1C3-7C44-941B-3A8BDB817C3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018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2A77D-B1C3-7C44-941B-3A8BDB817C3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64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18" Type="http://schemas.openxmlformats.org/officeDocument/2006/relationships/customXml" Target="../ink/ink12.xml"/><Relationship Id="rId3" Type="http://schemas.openxmlformats.org/officeDocument/2006/relationships/image" Target="../media/image2.png"/><Relationship Id="rId21" Type="http://schemas.openxmlformats.org/officeDocument/2006/relationships/customXml" Target="../ink/ink15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1.xml"/><Relationship Id="rId2" Type="http://schemas.openxmlformats.org/officeDocument/2006/relationships/image" Target="../media/image1.png"/><Relationship Id="rId16" Type="http://schemas.openxmlformats.org/officeDocument/2006/relationships/customXml" Target="../ink/ink10.xml"/><Relationship Id="rId20" Type="http://schemas.openxmlformats.org/officeDocument/2006/relationships/customXml" Target="../ink/ink14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5.png"/><Relationship Id="rId15" Type="http://schemas.openxmlformats.org/officeDocument/2006/relationships/customXml" Target="../ink/ink9.xml"/><Relationship Id="rId23" Type="http://schemas.openxmlformats.org/officeDocument/2006/relationships/customXml" Target="../ink/ink17.xml"/><Relationship Id="rId10" Type="http://schemas.openxmlformats.org/officeDocument/2006/relationships/image" Target="../media/image6.png"/><Relationship Id="rId19" Type="http://schemas.openxmlformats.org/officeDocument/2006/relationships/customXml" Target="../ink/ink13.xml"/><Relationship Id="rId4" Type="http://schemas.openxmlformats.org/officeDocument/2006/relationships/customXml" Target="../ink/ink1.xml"/><Relationship Id="rId9" Type="http://schemas.openxmlformats.org/officeDocument/2006/relationships/customXml" Target="../ink/ink5.xml"/><Relationship Id="rId14" Type="http://schemas.openxmlformats.org/officeDocument/2006/relationships/image" Target="../media/image7.png"/><Relationship Id="rId22" Type="http://schemas.openxmlformats.org/officeDocument/2006/relationships/customXml" Target="../ink/ink16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customXml" Target="../ink/ink23.xml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12" Type="http://schemas.openxmlformats.org/officeDocument/2006/relationships/customXml" Target="../ink/ink22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18.xml"/><Relationship Id="rId11" Type="http://schemas.openxmlformats.org/officeDocument/2006/relationships/customXml" Target="../ink/ink21.xml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customXml" Target="../ink/ink20.xml"/><Relationship Id="rId14" Type="http://schemas.openxmlformats.org/officeDocument/2006/relationships/customXml" Target="../ink/ink2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94902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3400" b="0" i="0" baseline="0">
                <a:solidFill>
                  <a:srgbClr val="464646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r>
              <a:rPr lang="ro-RO" dirty="0"/>
              <a:t>Curs</a:t>
            </a:r>
            <a:r>
              <a:rPr lang="en-US" dirty="0"/>
              <a:t> #: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82800" y="2958528"/>
            <a:ext cx="802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32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ADS1</a:t>
            </a:r>
            <a:endParaRPr lang="en-US" sz="2400" b="0" i="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pPr algn="ctr"/>
            <a:r>
              <a:rPr lang="ro-RO"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Teodor-Ștefan Bîldea</a:t>
            </a:r>
            <a:endParaRPr lang="en-US" sz="2400" b="0" i="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4F978E-AB5A-4EF8-9169-97393E45D4EF}"/>
              </a:ext>
            </a:extLst>
          </p:cNvPr>
          <p:cNvGrpSpPr/>
          <p:nvPr userDrawn="1"/>
        </p:nvGrpSpPr>
        <p:grpSpPr>
          <a:xfrm>
            <a:off x="4573239" y="4103661"/>
            <a:ext cx="3098800" cy="1504984"/>
            <a:chOff x="5420732" y="4428552"/>
            <a:chExt cx="2741961" cy="13139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FF51675-7BEC-4D30-9AFA-8F57E1E826D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AC716E-D964-4FCD-B25A-2C8E424ADA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493416" cy="767276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>
                <a:solidFill>
                  <a:srgbClr val="46464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89856"/>
            <a:ext cx="12192000" cy="0"/>
          </a:xfrm>
          <a:prstGeom prst="line">
            <a:avLst/>
          </a:prstGeom>
          <a:ln w="952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AD6993-E1DC-4309-A89E-A9286067D75D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BB25837-4C99-43BE-82BB-7791F37C2AA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B2F48C4-D66A-462E-B412-07AC2533259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617F77-D016-430E-9084-4A62A0DAF261}"/>
                  </a:ext>
                </a:extLst>
              </p14:cNvPr>
              <p14:cNvContentPartPr/>
              <p14:nvPr userDrawn="1"/>
            </p14:nvContentPartPr>
            <p14:xfrm>
              <a:off x="5451429" y="666154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617F77-D016-430E-9084-4A62A0DAF2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2429" y="66525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92CAA3-2BE9-43EB-961C-5624C76E11D0}"/>
                  </a:ext>
                </a:extLst>
              </p14:cNvPr>
              <p14:cNvContentPartPr/>
              <p14:nvPr userDrawn="1"/>
            </p14:nvContentPartPr>
            <p14:xfrm>
              <a:off x="5494989" y="6495943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92CAA3-2BE9-43EB-961C-5624C76E11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5989" y="64869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B345A17-F251-42C9-A678-28B52AD4046F}"/>
                  </a:ext>
                </a:extLst>
              </p14:cNvPr>
              <p14:cNvContentPartPr/>
              <p14:nvPr userDrawn="1"/>
            </p14:nvContentPartPr>
            <p14:xfrm>
              <a:off x="5477709" y="6557143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B345A17-F251-42C9-A678-28B52AD404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68709" y="654814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F2F5F418-37C1-435C-B0E4-A547D23BB866}"/>
              </a:ext>
            </a:extLst>
          </p:cNvPr>
          <p:cNvGrpSpPr/>
          <p:nvPr/>
        </p:nvGrpSpPr>
        <p:grpSpPr>
          <a:xfrm>
            <a:off x="6784149" y="6478663"/>
            <a:ext cx="1158480" cy="313920"/>
            <a:chOff x="6784149" y="6478663"/>
            <a:chExt cx="115848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34603A-3554-49E1-91A9-90D546850491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34603A-3554-49E1-91A9-90D5468504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696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3985D9-7F05-4853-88B0-65632B0AA766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3985D9-7F05-4853-88B0-65632B0AA7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75149" y="64696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B346F1A-5E63-44BE-9AA7-FAC5EBAF1F1F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B346F1A-5E63-44BE-9AA7-FAC5EBAF1F1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75149" y="64696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C21F62-2E96-4CCA-9AD4-EA1E1B687272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C21F62-2E96-4CCA-9AD4-EA1E1B6872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696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795F83-762E-4B9D-B89D-F01A41F88353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1158480" cy="31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795F83-762E-4B9D-B89D-F01A41F883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75149" y="6469663"/>
                  <a:ext cx="117612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F2D1880-E5EF-4259-9436-78ECCAAFD6A4}"/>
                  </a:ext>
                </a:extLst>
              </p14:cNvPr>
              <p14:cNvContentPartPr/>
              <p14:nvPr userDrawn="1"/>
            </p14:nvContentPartPr>
            <p14:xfrm>
              <a:off x="9901389" y="6504943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F2D1880-E5EF-4259-9436-78ECCAAFD6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92389" y="64959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3D8241-EC57-4040-A98E-A96DA46C72AE}"/>
                  </a:ext>
                </a:extLst>
              </p14:cNvPr>
              <p14:cNvContentPartPr/>
              <p14:nvPr userDrawn="1"/>
            </p14:nvContentPartPr>
            <p14:xfrm>
              <a:off x="9352749" y="3308503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3D8241-EC57-4040-A98E-A96DA46C72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43749" y="32995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AF526E8-6E2B-471E-8AF8-4D0CDF5F290E}"/>
                  </a:ext>
                </a:extLst>
              </p14:cNvPr>
              <p14:cNvContentPartPr/>
              <p14:nvPr userDrawn="1"/>
            </p14:nvContentPartPr>
            <p14:xfrm>
              <a:off x="775029" y="6644263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AF526E8-6E2B-471E-8AF8-4D0CDF5F29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029" y="66352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F715B1-FC5B-438F-9591-681E83730B61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F715B1-FC5B-438F-9591-681E83730B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7DC0CD7-EABA-4CED-985D-879755DEA735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7DC0CD7-EABA-4CED-985D-879755DEA7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05B70B4-470F-4A36-8BD9-7BFBF985DA17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05B70B4-470F-4A36-8BD9-7BFBF985DA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EBB5F3E-CBE0-48B1-8789-7C3606D873AA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EBB5F3E-CBE0-48B1-8789-7C3606D873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61B9389-4577-4319-BD57-ED7E5DAE8293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61B9389-4577-4319-BD57-ED7E5DAE82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C3D89F5-A352-4129-999B-6BDA1EF15986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C3D89F5-A352-4129-999B-6BDA1EF159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951" y="357487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1" name="Picture 10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CE1402-E415-4CFD-BA45-D412A1A1E22F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D8D1454-33B6-4F1D-83AF-7311DD9CF8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C2239C-A0A0-43D8-AB56-EBF6C71D484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78DB12-1C4F-4BDA-B944-ABDBFF2A9609}"/>
                  </a:ext>
                </a:extLst>
              </p14:cNvPr>
              <p14:cNvContentPartPr/>
              <p14:nvPr userDrawn="1"/>
            </p14:nvContentPartPr>
            <p14:xfrm>
              <a:off x="5677509" y="644374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78DB12-1C4F-4BDA-B944-ABDBFF2A96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68509" y="643474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511744A-4631-44F2-A9F5-9E58F9520181}"/>
              </a:ext>
            </a:extLst>
          </p:cNvPr>
          <p:cNvGrpSpPr/>
          <p:nvPr/>
        </p:nvGrpSpPr>
        <p:grpSpPr>
          <a:xfrm>
            <a:off x="5677509" y="6600703"/>
            <a:ext cx="360" cy="360"/>
            <a:chOff x="5677509" y="6600703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1F2FF3-B3EA-4C10-BBF1-B3AA98D76706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1F2FF3-B3EA-4C10-BBF1-B3AA98D767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509" y="65917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61A54A-93E5-42B1-AD15-078AB00BCE83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61A54A-93E5-42B1-AD15-078AB00BCE8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68509" y="65917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275BBC-244F-428B-ABD9-6D47AF6B5840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275BBC-244F-428B-ABD9-6D47AF6B58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68509" y="65917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CB135F-355D-431E-B0FE-B41CA0902920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CB135F-355D-431E-B0FE-B41CA09029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68509" y="65917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B1084F6-AB4C-46BA-9967-AC10661D706D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B1084F6-AB4C-46BA-9967-AC10661D70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509" y="659170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79BE68B-8435-4942-A94F-4CD236ED7E63}"/>
                  </a:ext>
                </a:extLst>
              </p14:cNvPr>
              <p14:cNvContentPartPr/>
              <p14:nvPr userDrawn="1"/>
            </p14:nvContentPartPr>
            <p14:xfrm>
              <a:off x="5599389" y="6609703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79BE68B-8435-4942-A94F-4CD236ED7E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90389" y="660070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206D7EC-7AC7-424B-A384-CE26A63C1C45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493416" cy="767276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>
                <a:solidFill>
                  <a:srgbClr val="46464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11542" y="6400800"/>
            <a:ext cx="1277257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89856"/>
            <a:ext cx="12192000" cy="0"/>
          </a:xfrm>
          <a:prstGeom prst="line">
            <a:avLst/>
          </a:prstGeom>
          <a:ln w="952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59349" y="6400800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</a:t>
            </a:r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, 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BILDEA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952DDE2-A861-4604-84E4-2B029CE0D8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201" y="6234854"/>
            <a:ext cx="1000595" cy="5310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109057" y="6109785"/>
            <a:ext cx="12891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Pavlos Protopapas</a:t>
            </a:r>
          </a:p>
        </p:txBody>
      </p: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4" name="Picture 13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5" name="Picture 14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B4531E-22DB-4EE2-9EF8-3E39893CD0D3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719F49B-652A-4515-A341-17F90A9BA06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2BCEEF6-CB58-4AA2-B3C1-75147CC4CB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6" name="Picture 15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7" name="Picture 16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200EDA-1345-47B6-8C46-79894D34D23F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9216A0B-F649-4297-8FC8-424439526C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3198D62-93FA-42B2-8E95-1905986F76B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9958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2" name="Picture 11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801572D-F2CB-4CF8-B06F-4DCAEEBE301B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2FAA3C-C78F-4FB3-8A19-681E71D0D08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EED26DC-8270-4596-B6E6-388E0ECE81B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4665787-721E-4024-9717-7B149537F13B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0" name="Picture 9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1" name="Picture 10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BCCF41B-D47C-43CD-80E4-D3C90D579ABB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B057DC-CD1A-4923-9864-6361E676BC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98E0093-C42B-4A7C-92A9-4F2C94E520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710340C-CB8E-43F4-9352-74EE385CD5D9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596482"/>
            <a:ext cx="10972800" cy="211114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D7D0E46-E74B-4B8A-834F-520DE11C4A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7424" y="5250694"/>
            <a:ext cx="2588525" cy="136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6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57" r:id="rId2"/>
    <p:sldLayoutId id="2147484058" r:id="rId3"/>
    <p:sldLayoutId id="2147483966" r:id="rId4"/>
    <p:sldLayoutId id="2147483968" r:id="rId5"/>
    <p:sldLayoutId id="2147484060" r:id="rId6"/>
    <p:sldLayoutId id="2147484061" r:id="rId7"/>
    <p:sldLayoutId id="2147484062" r:id="rId8"/>
    <p:sldLayoutId id="2147484063" r:id="rId9"/>
    <p:sldLayoutId id="2147483973" r:id="rId10"/>
    <p:sldLayoutId id="2147483974" r:id="rId11"/>
    <p:sldLayoutId id="2147484066" r:id="rId12"/>
    <p:sldLayoutId id="2147483976" r:id="rId13"/>
    <p:sldLayoutId id="2147484075" r:id="rId14"/>
  </p:sldLayoutIdLst>
  <p:hf hdr="0" ftr="0" dt="0"/>
  <p:txStyles>
    <p:titleStyle>
      <a:lvl1pPr algn="ctr" defTabSz="457182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Karla"/>
          <a:ea typeface="+mj-ea"/>
          <a:cs typeface="Karla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10.png"/><Relationship Id="rId10" Type="http://schemas.openxmlformats.org/officeDocument/2006/relationships/image" Target="../media/image161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10.png"/><Relationship Id="rId10" Type="http://schemas.openxmlformats.org/officeDocument/2006/relationships/image" Target="../media/image161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image" Target="../media/image36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emf"/><Relationship Id="rId4" Type="http://schemas.openxmlformats.org/officeDocument/2006/relationships/image" Target="../media/image6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1.png"/><Relationship Id="rId4" Type="http://schemas.openxmlformats.org/officeDocument/2006/relationships/image" Target="../media/image12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8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4" Type="http://schemas.openxmlformats.org/officeDocument/2006/relationships/image" Target="../media/image8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8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.xml"/><Relationship Id="rId21" Type="http://schemas.openxmlformats.org/officeDocument/2006/relationships/image" Target="../media/image1180.png"/><Relationship Id="rId42" Type="http://schemas.openxmlformats.org/officeDocument/2006/relationships/customXml" Target="../ink/ink45.xml"/><Relationship Id="rId47" Type="http://schemas.openxmlformats.org/officeDocument/2006/relationships/image" Target="../media/image1310.png"/><Relationship Id="rId63" Type="http://schemas.openxmlformats.org/officeDocument/2006/relationships/image" Target="../media/image137.png"/><Relationship Id="rId68" Type="http://schemas.openxmlformats.org/officeDocument/2006/relationships/customXml" Target="../ink/ink59.xml"/><Relationship Id="rId84" Type="http://schemas.openxmlformats.org/officeDocument/2006/relationships/customXml" Target="../ink/ink67.xml"/><Relationship Id="rId16" Type="http://schemas.openxmlformats.org/officeDocument/2006/relationships/customXml" Target="../ink/ink32.xml"/><Relationship Id="rId11" Type="http://schemas.openxmlformats.org/officeDocument/2006/relationships/image" Target="../media/image1100.png"/><Relationship Id="rId32" Type="http://schemas.openxmlformats.org/officeDocument/2006/relationships/customXml" Target="../ink/ink40.xml"/><Relationship Id="rId37" Type="http://schemas.openxmlformats.org/officeDocument/2006/relationships/image" Target="../media/image1260.png"/><Relationship Id="rId53" Type="http://schemas.openxmlformats.org/officeDocument/2006/relationships/image" Target="../media/image310.png"/><Relationship Id="rId58" Type="http://schemas.openxmlformats.org/officeDocument/2006/relationships/customXml" Target="../ink/ink54.xml"/><Relationship Id="rId74" Type="http://schemas.openxmlformats.org/officeDocument/2006/relationships/customXml" Target="../ink/ink62.xml"/><Relationship Id="rId79" Type="http://schemas.openxmlformats.org/officeDocument/2006/relationships/image" Target="../media/image146.png"/><Relationship Id="rId5" Type="http://schemas.openxmlformats.org/officeDocument/2006/relationships/image" Target="../media/image1050.png"/><Relationship Id="rId19" Type="http://schemas.openxmlformats.org/officeDocument/2006/relationships/image" Target="../media/image1170.png"/><Relationship Id="rId14" Type="http://schemas.openxmlformats.org/officeDocument/2006/relationships/customXml" Target="../ink/ink31.xml"/><Relationship Id="rId22" Type="http://schemas.openxmlformats.org/officeDocument/2006/relationships/customXml" Target="../ink/ink35.xml"/><Relationship Id="rId27" Type="http://schemas.openxmlformats.org/officeDocument/2006/relationships/image" Target="../media/image1210.png"/><Relationship Id="rId30" Type="http://schemas.openxmlformats.org/officeDocument/2006/relationships/customXml" Target="../ink/ink39.xml"/><Relationship Id="rId35" Type="http://schemas.openxmlformats.org/officeDocument/2006/relationships/image" Target="../media/image1250.png"/><Relationship Id="rId43" Type="http://schemas.openxmlformats.org/officeDocument/2006/relationships/image" Target="../media/image1290.png"/><Relationship Id="rId48" Type="http://schemas.openxmlformats.org/officeDocument/2006/relationships/customXml" Target="../ink/ink48.xml"/><Relationship Id="rId56" Type="http://schemas.openxmlformats.org/officeDocument/2006/relationships/customXml" Target="../ink/ink53.xml"/><Relationship Id="rId64" Type="http://schemas.openxmlformats.org/officeDocument/2006/relationships/customXml" Target="../ink/ink57.xml"/><Relationship Id="rId69" Type="http://schemas.openxmlformats.org/officeDocument/2006/relationships/image" Target="../media/image141.png"/><Relationship Id="rId77" Type="http://schemas.openxmlformats.org/officeDocument/2006/relationships/image" Target="../media/image145.png"/><Relationship Id="rId8" Type="http://schemas.openxmlformats.org/officeDocument/2006/relationships/customXml" Target="../ink/ink28.xml"/><Relationship Id="rId51" Type="http://schemas.openxmlformats.org/officeDocument/2006/relationships/image" Target="../media/image133.png"/><Relationship Id="rId72" Type="http://schemas.openxmlformats.org/officeDocument/2006/relationships/customXml" Target="../ink/ink61.xml"/><Relationship Id="rId80" Type="http://schemas.openxmlformats.org/officeDocument/2006/relationships/customXml" Target="../ink/ink65.xml"/><Relationship Id="rId85" Type="http://schemas.openxmlformats.org/officeDocument/2006/relationships/image" Target="../media/image149.png"/><Relationship Id="rId3" Type="http://schemas.openxmlformats.org/officeDocument/2006/relationships/image" Target="../media/image1030.png"/><Relationship Id="rId12" Type="http://schemas.openxmlformats.org/officeDocument/2006/relationships/customXml" Target="../ink/ink30.xml"/><Relationship Id="rId17" Type="http://schemas.openxmlformats.org/officeDocument/2006/relationships/image" Target="../media/image1160.png"/><Relationship Id="rId25" Type="http://schemas.openxmlformats.org/officeDocument/2006/relationships/image" Target="../media/image1200.png"/><Relationship Id="rId33" Type="http://schemas.openxmlformats.org/officeDocument/2006/relationships/image" Target="../media/image1240.png"/><Relationship Id="rId38" Type="http://schemas.openxmlformats.org/officeDocument/2006/relationships/customXml" Target="../ink/ink43.xml"/><Relationship Id="rId46" Type="http://schemas.openxmlformats.org/officeDocument/2006/relationships/customXml" Target="../ink/ink47.xml"/><Relationship Id="rId59" Type="http://schemas.openxmlformats.org/officeDocument/2006/relationships/image" Target="../media/image135.png"/><Relationship Id="rId67" Type="http://schemas.openxmlformats.org/officeDocument/2006/relationships/image" Target="../media/image139.png"/><Relationship Id="rId20" Type="http://schemas.openxmlformats.org/officeDocument/2006/relationships/customXml" Target="../ink/ink34.xml"/><Relationship Id="rId41" Type="http://schemas.openxmlformats.org/officeDocument/2006/relationships/image" Target="../media/image1280.png"/><Relationship Id="rId54" Type="http://schemas.openxmlformats.org/officeDocument/2006/relationships/customXml" Target="../ink/ink51.xml"/><Relationship Id="rId62" Type="http://schemas.openxmlformats.org/officeDocument/2006/relationships/customXml" Target="../ink/ink56.xml"/><Relationship Id="rId70" Type="http://schemas.openxmlformats.org/officeDocument/2006/relationships/customXml" Target="../ink/ink60.xml"/><Relationship Id="rId75" Type="http://schemas.openxmlformats.org/officeDocument/2006/relationships/image" Target="../media/image144.png"/><Relationship Id="rId83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15" Type="http://schemas.openxmlformats.org/officeDocument/2006/relationships/image" Target="../media/image1150.png"/><Relationship Id="rId23" Type="http://schemas.openxmlformats.org/officeDocument/2006/relationships/image" Target="../media/image1190.png"/><Relationship Id="rId28" Type="http://schemas.openxmlformats.org/officeDocument/2006/relationships/customXml" Target="../ink/ink38.xml"/><Relationship Id="rId36" Type="http://schemas.openxmlformats.org/officeDocument/2006/relationships/customXml" Target="../ink/ink42.xml"/><Relationship Id="rId49" Type="http://schemas.openxmlformats.org/officeDocument/2006/relationships/image" Target="../media/image1320.png"/><Relationship Id="rId57" Type="http://schemas.openxmlformats.org/officeDocument/2006/relationships/image" Target="../media/image134.png"/><Relationship Id="rId10" Type="http://schemas.openxmlformats.org/officeDocument/2006/relationships/customXml" Target="../ink/ink29.xml"/><Relationship Id="rId31" Type="http://schemas.openxmlformats.org/officeDocument/2006/relationships/image" Target="../media/image1230.png"/><Relationship Id="rId44" Type="http://schemas.openxmlformats.org/officeDocument/2006/relationships/customXml" Target="../ink/ink46.xml"/><Relationship Id="rId52" Type="http://schemas.openxmlformats.org/officeDocument/2006/relationships/customXml" Target="../ink/ink50.xml"/><Relationship Id="rId60" Type="http://schemas.openxmlformats.org/officeDocument/2006/relationships/customXml" Target="../ink/ink55.xml"/><Relationship Id="rId65" Type="http://schemas.openxmlformats.org/officeDocument/2006/relationships/image" Target="../media/image138.png"/><Relationship Id="rId73" Type="http://schemas.openxmlformats.org/officeDocument/2006/relationships/image" Target="../media/image143.png"/><Relationship Id="rId78" Type="http://schemas.openxmlformats.org/officeDocument/2006/relationships/customXml" Target="../ink/ink64.xml"/><Relationship Id="rId81" Type="http://schemas.openxmlformats.org/officeDocument/2006/relationships/image" Target="../media/image147.png"/><Relationship Id="rId86" Type="http://schemas.openxmlformats.org/officeDocument/2006/relationships/customXml" Target="../ink/ink68.xml"/><Relationship Id="rId4" Type="http://schemas.openxmlformats.org/officeDocument/2006/relationships/customXml" Target="../ink/ink26.xml"/><Relationship Id="rId9" Type="http://schemas.openxmlformats.org/officeDocument/2006/relationships/image" Target="../media/image1090.png"/><Relationship Id="rId13" Type="http://schemas.openxmlformats.org/officeDocument/2006/relationships/image" Target="../media/image1120.png"/><Relationship Id="rId18" Type="http://schemas.openxmlformats.org/officeDocument/2006/relationships/customXml" Target="../ink/ink33.xml"/><Relationship Id="rId39" Type="http://schemas.openxmlformats.org/officeDocument/2006/relationships/image" Target="../media/image1270.png"/><Relationship Id="rId34" Type="http://schemas.openxmlformats.org/officeDocument/2006/relationships/customXml" Target="../ink/ink41.xml"/><Relationship Id="rId50" Type="http://schemas.openxmlformats.org/officeDocument/2006/relationships/customXml" Target="../ink/ink49.xml"/><Relationship Id="rId55" Type="http://schemas.openxmlformats.org/officeDocument/2006/relationships/customXml" Target="../ink/ink52.xml"/><Relationship Id="rId76" Type="http://schemas.openxmlformats.org/officeDocument/2006/relationships/customXml" Target="../ink/ink63.xml"/><Relationship Id="rId7" Type="http://schemas.openxmlformats.org/officeDocument/2006/relationships/image" Target="../media/image1070.png"/><Relationship Id="rId71" Type="http://schemas.openxmlformats.org/officeDocument/2006/relationships/image" Target="../media/image142.png"/><Relationship Id="rId2" Type="http://schemas.openxmlformats.org/officeDocument/2006/relationships/customXml" Target="../ink/ink25.xml"/><Relationship Id="rId29" Type="http://schemas.openxmlformats.org/officeDocument/2006/relationships/image" Target="../media/image1220.png"/><Relationship Id="rId24" Type="http://schemas.openxmlformats.org/officeDocument/2006/relationships/customXml" Target="../ink/ink36.xml"/><Relationship Id="rId40" Type="http://schemas.openxmlformats.org/officeDocument/2006/relationships/customXml" Target="../ink/ink44.xml"/><Relationship Id="rId45" Type="http://schemas.openxmlformats.org/officeDocument/2006/relationships/image" Target="../media/image1300.png"/><Relationship Id="rId66" Type="http://schemas.openxmlformats.org/officeDocument/2006/relationships/customXml" Target="../ink/ink58.xml"/><Relationship Id="rId87" Type="http://schemas.openxmlformats.org/officeDocument/2006/relationships/image" Target="../media/image151.png"/><Relationship Id="rId61" Type="http://schemas.openxmlformats.org/officeDocument/2006/relationships/image" Target="../media/image136.png"/><Relationship Id="rId82" Type="http://schemas.openxmlformats.org/officeDocument/2006/relationships/customXml" Target="../ink/ink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28600" y="1699022"/>
            <a:ext cx="11734800" cy="1790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ADS1 - Curs 6</a:t>
            </a:r>
            <a:br>
              <a:rPr lang="en" dirty="0"/>
            </a:br>
            <a:r>
              <a:rPr lang="en-US" dirty="0" err="1"/>
              <a:t>Regresie</a:t>
            </a:r>
            <a:endParaRPr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-US" dirty="0">
                <a:cs typeface="Calibri"/>
              </a:rPr>
              <a:t>Instructor: Conf. Dr. </a:t>
            </a:r>
            <a:r>
              <a:rPr lang="en-US" dirty="0" err="1">
                <a:cs typeface="Calibri"/>
              </a:rPr>
              <a:t>Teodor-Ștefan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Bîldea</a:t>
            </a:r>
            <a:endParaRPr lang="en-US" dirty="0">
              <a:cs typeface="Calibri"/>
            </a:endParaRPr>
          </a:p>
          <a:p>
            <a:r>
              <a:rPr lang="en-US" dirty="0" err="1">
                <a:cs typeface="Calibri"/>
              </a:rPr>
              <a:t>Semestrul</a:t>
            </a:r>
            <a:r>
              <a:rPr lang="en-US" dirty="0">
                <a:cs typeface="Calibri"/>
              </a:rPr>
              <a:t> I</a:t>
            </a:r>
          </a:p>
          <a:p>
            <a:r>
              <a:rPr lang="en-US" dirty="0">
                <a:cs typeface="Calibri"/>
              </a:rPr>
              <a:t>An I – </a:t>
            </a:r>
            <a:r>
              <a:rPr lang="ro-RO" dirty="0">
                <a:cs typeface="Calibri"/>
              </a:rPr>
              <a:t>SIIPA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Cuprins</a:t>
            </a:r>
            <a:r>
              <a:rPr lang="en-US" dirty="0"/>
              <a:t> Curs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355102"/>
            <a:ext cx="10102809" cy="4674402"/>
          </a:xfrm>
          <a:noFill/>
          <a:ln w="12700">
            <a:noFill/>
          </a:ln>
          <a:effectLst/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b="1" dirty="0" err="1"/>
              <a:t>Modelare</a:t>
            </a:r>
            <a:r>
              <a:rPr lang="en-US" b="1" dirty="0"/>
              <a:t> s</a:t>
            </a:r>
            <a:r>
              <a:rPr lang="ro-RO" b="1" dirty="0"/>
              <a:t>tatistică</a:t>
            </a:r>
            <a:endParaRPr lang="en-US" b="1" dirty="0"/>
          </a:p>
          <a:p>
            <a:pPr>
              <a:spcAft>
                <a:spcPts val="1200"/>
              </a:spcAft>
            </a:pPr>
            <a:r>
              <a:rPr lang="en-US" dirty="0"/>
              <a:t>	k-Nearest Neighbors (</a:t>
            </a:r>
            <a:r>
              <a:rPr lang="en-US" dirty="0" err="1"/>
              <a:t>kNN</a:t>
            </a:r>
            <a:r>
              <a:rPr lang="en-US" dirty="0"/>
              <a:t>) </a:t>
            </a:r>
          </a:p>
          <a:p>
            <a:pPr>
              <a:spcBef>
                <a:spcPts val="1872"/>
              </a:spcBef>
              <a:spcAft>
                <a:spcPts val="1200"/>
              </a:spcAft>
            </a:pPr>
            <a:r>
              <a:rPr lang="ro-RO" b="1" dirty="0"/>
              <a:t>Evaluarea modelului</a:t>
            </a:r>
            <a:endParaRPr lang="en-US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	</a:t>
            </a:r>
            <a:r>
              <a:rPr lang="ro-RO" dirty="0"/>
              <a:t>Cât de bun e modelul pentru prognoză</a:t>
            </a:r>
            <a:r>
              <a:rPr lang="en-US" dirty="0"/>
              <a:t>? </a:t>
            </a:r>
            <a:endParaRPr lang="en-US" b="1" dirty="0"/>
          </a:p>
          <a:p>
            <a:pPr>
              <a:spcBef>
                <a:spcPts val="1872"/>
              </a:spcBef>
              <a:spcAft>
                <a:spcPts val="1200"/>
              </a:spcAft>
            </a:pPr>
            <a:r>
              <a:rPr lang="en-US" b="1" dirty="0" err="1"/>
              <a:t>Compar</a:t>
            </a:r>
            <a:r>
              <a:rPr lang="ro-RO" b="1" dirty="0"/>
              <a:t>area  a două modele statistice</a:t>
            </a:r>
            <a:endParaRPr lang="en-US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	</a:t>
            </a:r>
            <a:r>
              <a:rPr lang="ro-RO" dirty="0"/>
              <a:t>Cum putem alege între două modele</a:t>
            </a:r>
            <a:r>
              <a:rPr lang="en-US" dirty="0"/>
              <a:t>?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3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Prognoza unei variabile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266" y="1279757"/>
            <a:ext cx="10327008" cy="2111143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 err="1"/>
              <a:t>Să</a:t>
            </a:r>
            <a:r>
              <a:rPr lang="ro-RO" sz="2400" dirty="0"/>
              <a:t> ne</a:t>
            </a:r>
            <a:r>
              <a:rPr lang="en-US" sz="2400" dirty="0"/>
              <a:t> </a:t>
            </a:r>
            <a:r>
              <a:rPr lang="en-US" sz="2400" dirty="0" err="1"/>
              <a:t>imaginăm</a:t>
            </a:r>
            <a:r>
              <a:rPr lang="en-US" sz="2400" dirty="0"/>
              <a:t> un </a:t>
            </a:r>
            <a:r>
              <a:rPr lang="en-US" sz="2400" dirty="0" err="1"/>
              <a:t>scenariu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care am </a:t>
            </a:r>
            <a:r>
              <a:rPr lang="en-US" sz="2400" dirty="0" err="1"/>
              <a:t>dori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prezicem</a:t>
            </a:r>
            <a:r>
              <a:rPr lang="en-US" sz="2400" dirty="0"/>
              <a:t> o </a:t>
            </a:r>
            <a:r>
              <a:rPr lang="en-US" sz="2400" dirty="0" err="1"/>
              <a:t>variabilă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alt</a:t>
            </a:r>
            <a:r>
              <a:rPr lang="ro-RO" sz="2400" dirty="0"/>
              <a:t>ă</a:t>
            </a:r>
            <a:r>
              <a:rPr lang="en-US" sz="2400" dirty="0"/>
              <a:t> (</a:t>
            </a:r>
            <a:r>
              <a:rPr lang="en-US" sz="2400" dirty="0" err="1"/>
              <a:t>sau</a:t>
            </a:r>
            <a:r>
              <a:rPr lang="en-US" sz="2400" dirty="0"/>
              <a:t> un set de </a:t>
            </a:r>
            <a:r>
              <a:rPr lang="en-US" sz="2400" dirty="0" err="1"/>
              <a:t>alte</a:t>
            </a:r>
            <a:r>
              <a:rPr lang="en-US" sz="2400" dirty="0"/>
              <a:t>) </a:t>
            </a:r>
            <a:r>
              <a:rPr lang="en-US" sz="2400" dirty="0" err="1"/>
              <a:t>variabil</a:t>
            </a:r>
            <a:r>
              <a:rPr lang="ro-RO" sz="2400" dirty="0"/>
              <a:t>ă(</a:t>
            </a:r>
            <a:r>
              <a:rPr lang="en-US" sz="2400" dirty="0"/>
              <a:t>e</a:t>
            </a:r>
            <a:r>
              <a:rPr lang="ro-RO" sz="2400" dirty="0"/>
              <a:t>)</a:t>
            </a:r>
            <a:r>
              <a:rPr 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400" b="1" dirty="0"/>
              <a:t>E</a:t>
            </a:r>
            <a:r>
              <a:rPr lang="ro-RO" sz="2400" b="1" dirty="0"/>
              <a:t>xemple</a:t>
            </a:r>
            <a:r>
              <a:rPr lang="en-US" sz="2400" b="1" dirty="0"/>
              <a:t>:</a:t>
            </a:r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en-US" sz="2400" dirty="0" err="1"/>
              <a:t>Prezicerea</a:t>
            </a:r>
            <a:r>
              <a:rPr lang="en-US" sz="2400" dirty="0"/>
              <a:t> </a:t>
            </a:r>
            <a:r>
              <a:rPr lang="ro-RO" sz="2400" dirty="0"/>
              <a:t>numărului</a:t>
            </a:r>
            <a:r>
              <a:rPr lang="en-US" sz="2400" dirty="0"/>
              <a:t> de </a:t>
            </a:r>
            <a:r>
              <a:rPr lang="en-US" sz="2400" dirty="0" err="1"/>
              <a:t>vizualiz</a:t>
            </a:r>
            <a:r>
              <a:rPr lang="ro-RO" sz="2400" dirty="0"/>
              <a:t>ă</a:t>
            </a:r>
            <a:r>
              <a:rPr lang="en-US" sz="2400" dirty="0"/>
              <a:t>r</a:t>
            </a:r>
            <a:r>
              <a:rPr lang="ro-RO" sz="2400" dirty="0"/>
              <a:t>i</a:t>
            </a:r>
            <a:r>
              <a:rPr lang="en-US" sz="2400" dirty="0"/>
              <a:t> pe care </a:t>
            </a:r>
            <a:r>
              <a:rPr lang="ro-RO" sz="2400" dirty="0"/>
              <a:t>îl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primi</a:t>
            </a:r>
            <a:r>
              <a:rPr lang="en-US" sz="2400" dirty="0"/>
              <a:t> un videoclip YouTube </a:t>
            </a:r>
            <a:r>
              <a:rPr lang="en-US" sz="2400" dirty="0" err="1"/>
              <a:t>săptămâna</a:t>
            </a:r>
            <a:r>
              <a:rPr lang="en-US" sz="2400" dirty="0"/>
              <a:t> </a:t>
            </a:r>
            <a:r>
              <a:rPr lang="en-US" sz="2400" dirty="0" err="1"/>
              <a:t>viitoare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funcție</a:t>
            </a:r>
            <a:r>
              <a:rPr lang="en-US" sz="2400" dirty="0"/>
              <a:t> de </a:t>
            </a:r>
            <a:r>
              <a:rPr lang="en-US" sz="2400" dirty="0" err="1"/>
              <a:t>durata</a:t>
            </a:r>
            <a:r>
              <a:rPr lang="en-US" sz="2400" dirty="0"/>
              <a:t> </a:t>
            </a:r>
            <a:r>
              <a:rPr lang="en-US" sz="2400" dirty="0" err="1"/>
              <a:t>videoclipului</a:t>
            </a:r>
            <a:r>
              <a:rPr lang="en-US" sz="2400" dirty="0"/>
              <a:t>, data la care a </a:t>
            </a:r>
            <a:r>
              <a:rPr lang="en-US" sz="2400" dirty="0" err="1"/>
              <a:t>fost</a:t>
            </a:r>
            <a:r>
              <a:rPr lang="en-US" sz="2400" dirty="0"/>
              <a:t> </a:t>
            </a:r>
            <a:r>
              <a:rPr lang="en-US" sz="2400" dirty="0" err="1"/>
              <a:t>postat</a:t>
            </a:r>
            <a:r>
              <a:rPr lang="en-US" sz="2400" dirty="0"/>
              <a:t>, </a:t>
            </a:r>
            <a:r>
              <a:rPr lang="en-US" sz="2400" dirty="0" err="1"/>
              <a:t>numărul</a:t>
            </a:r>
            <a:r>
              <a:rPr lang="en-US" sz="2400" dirty="0"/>
              <a:t> anterior de </a:t>
            </a:r>
            <a:r>
              <a:rPr lang="en-US" sz="2400" dirty="0" err="1"/>
              <a:t>vizionări</a:t>
            </a:r>
            <a:r>
              <a:rPr lang="en-US" sz="2400" dirty="0"/>
              <a:t> etc.</a:t>
            </a:r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en-US" sz="2400" dirty="0" err="1"/>
              <a:t>Prezicerea</a:t>
            </a:r>
            <a:r>
              <a:rPr lang="en-US" sz="2400" dirty="0"/>
              <a:t> </a:t>
            </a:r>
            <a:r>
              <a:rPr lang="en-US" sz="2400" dirty="0" err="1"/>
              <a:t>filmelor</a:t>
            </a:r>
            <a:r>
              <a:rPr lang="en-US" sz="2400" dirty="0"/>
              <a:t> pe care le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evalua</a:t>
            </a:r>
            <a:r>
              <a:rPr lang="en-US" sz="2400" dirty="0"/>
              <a:t> un </a:t>
            </a:r>
            <a:r>
              <a:rPr lang="en-US" sz="2400" dirty="0" err="1"/>
              <a:t>utilizator</a:t>
            </a:r>
            <a:r>
              <a:rPr lang="en-US" sz="2400" dirty="0"/>
              <a:t> Netflix pe </a:t>
            </a:r>
            <a:r>
              <a:rPr lang="en-US" sz="2400" dirty="0" err="1"/>
              <a:t>baza</a:t>
            </a:r>
            <a:r>
              <a:rPr lang="en-US" sz="2400" dirty="0"/>
              <a:t> </a:t>
            </a:r>
            <a:r>
              <a:rPr lang="en-US" sz="2400" dirty="0" err="1"/>
              <a:t>evaluărilor</a:t>
            </a:r>
            <a:r>
              <a:rPr lang="en-US" sz="2400" dirty="0"/>
              <a:t> l</a:t>
            </a:r>
            <a:r>
              <a:rPr lang="ro-RO" sz="2400" dirty="0"/>
              <a:t>ui</a:t>
            </a:r>
            <a:r>
              <a:rPr lang="en-US" sz="2400" dirty="0"/>
              <a:t> </a:t>
            </a:r>
            <a:r>
              <a:rPr lang="en-US" sz="2400" dirty="0" err="1"/>
              <a:t>anterioare</a:t>
            </a:r>
            <a:r>
              <a:rPr lang="en-US" sz="2400" dirty="0"/>
              <a:t>, a </a:t>
            </a:r>
            <a:r>
              <a:rPr lang="en-US" sz="2400" dirty="0" err="1"/>
              <a:t>datelor</a:t>
            </a:r>
            <a:r>
              <a:rPr lang="en-US" sz="2400" dirty="0"/>
              <a:t> </a:t>
            </a:r>
            <a:r>
              <a:rPr lang="en-US" sz="2400" dirty="0" err="1"/>
              <a:t>demografice</a:t>
            </a:r>
            <a:r>
              <a:rPr lang="en-US" sz="2400" dirty="0"/>
              <a:t>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4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</a:t>
            </a:r>
            <a:r>
              <a:rPr lang="ro-RO" dirty="0"/>
              <a:t>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980849"/>
              </p:ext>
            </p:extLst>
          </p:nvPr>
        </p:nvGraphicFramePr>
        <p:xfrm>
          <a:off x="3211466" y="3296797"/>
          <a:ext cx="5769068" cy="2194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42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316">
                <a:tc>
                  <a:txBody>
                    <a:bodyPr/>
                    <a:lstStyle/>
                    <a:p>
                      <a:r>
                        <a:rPr dirty="0"/>
                        <a:t>TV</a:t>
                      </a:r>
                      <a:endParaRPr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radio</a:t>
                      </a:r>
                      <a:endParaRPr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newspaper</a:t>
                      </a:r>
                      <a:endParaRPr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sales</a:t>
                      </a:r>
                      <a:endParaRPr b="0"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dirty="0"/>
                        <a:t>230.1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17.2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45.9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151.5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dirty="0"/>
                        <a:t>180.8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12.9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326248" y="141556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endParaRPr lang="en-US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57631" y="1461024"/>
            <a:ext cx="232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Karla" charset="0"/>
                <a:ea typeface="Karla" charset="0"/>
                <a:cs typeface="Karla" charset="0"/>
              </a:rPr>
              <a:t>,</a:t>
            </a:r>
          </a:p>
          <a:p>
            <a:pPr algn="ctr"/>
            <a:endParaRPr lang="en-US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833415" y="946122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Setul</a:t>
            </a:r>
            <a:r>
              <a:rPr lang="en-US" dirty="0"/>
              <a:t> de date </a:t>
            </a:r>
            <a:r>
              <a:rPr lang="en-US" dirty="0" err="1"/>
              <a:t>publicitare</a:t>
            </a:r>
            <a:r>
              <a:rPr lang="en-US" dirty="0"/>
              <a:t> </a:t>
            </a:r>
            <a:r>
              <a:rPr lang="en-US" dirty="0" err="1"/>
              <a:t>constă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vânzările</a:t>
            </a:r>
            <a:r>
              <a:rPr lang="en-US" dirty="0"/>
              <a:t> </a:t>
            </a:r>
            <a:r>
              <a:rPr lang="ro-RO" dirty="0"/>
              <a:t>unui </a:t>
            </a:r>
            <a:r>
              <a:rPr lang="en-US" dirty="0" err="1"/>
              <a:t>produs</a:t>
            </a:r>
            <a:r>
              <a:rPr lang="en-US" dirty="0"/>
              <a:t> </a:t>
            </a:r>
            <a:r>
              <a:rPr lang="ro-RO" dirty="0"/>
              <a:t>în</a:t>
            </a:r>
            <a:r>
              <a:rPr lang="en-US" dirty="0"/>
              <a:t> 200 de </a:t>
            </a:r>
            <a:r>
              <a:rPr lang="en-US" dirty="0" err="1"/>
              <a:t>piețe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, </a:t>
            </a:r>
            <a:r>
              <a:rPr lang="en-US" dirty="0" err="1"/>
              <a:t>împreună</a:t>
            </a:r>
            <a:r>
              <a:rPr lang="en-US" dirty="0"/>
              <a:t> cu </a:t>
            </a:r>
            <a:r>
              <a:rPr lang="en-US" dirty="0" err="1"/>
              <a:t>bugetele</a:t>
            </a:r>
            <a:r>
              <a:rPr lang="en-US" dirty="0"/>
              <a:t> </a:t>
            </a:r>
            <a:r>
              <a:rPr lang="en-US" dirty="0" err="1"/>
              <a:t>publicitare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produs</a:t>
            </a:r>
            <a:r>
              <a:rPr lang="en-US" dirty="0"/>
              <a:t> din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piețe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medii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: TV, radio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ziar</a:t>
            </a:r>
            <a:r>
              <a:rPr lang="en-US" dirty="0"/>
              <a:t>. </a:t>
            </a:r>
            <a:r>
              <a:rPr lang="en-US" dirty="0" err="1"/>
              <a:t>Totul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unități</a:t>
            </a:r>
            <a:r>
              <a:rPr lang="en-US" dirty="0"/>
              <a:t> de 1000 USD.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629" y="5730889"/>
            <a:ext cx="10479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cifrele</a:t>
            </a:r>
            <a:r>
              <a:rPr lang="en-US" dirty="0"/>
              <a:t> din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prezentare</a:t>
            </a:r>
            <a:r>
              <a:rPr lang="en-US" dirty="0"/>
              <a:t> sunt </a:t>
            </a:r>
            <a:r>
              <a:rPr lang="en-US" dirty="0" err="1"/>
              <a:t>preluate</a:t>
            </a:r>
            <a:r>
              <a:rPr lang="en-US" dirty="0"/>
              <a:t> din „An Introduction to Statistical Learning, with applications in R” (Springer, 2013) </a:t>
            </a:r>
            <a:r>
              <a:rPr lang="en-US" dirty="0" err="1"/>
              <a:t>autori</a:t>
            </a:r>
            <a:r>
              <a:rPr lang="en-US" dirty="0"/>
              <a:t>: G. James, D. Witten, T. Hastie </a:t>
            </a:r>
            <a:r>
              <a:rPr lang="en-US" dirty="0" err="1"/>
              <a:t>și</a:t>
            </a:r>
            <a:r>
              <a:rPr lang="en-US" dirty="0"/>
              <a:t> R. </a:t>
            </a:r>
            <a:r>
              <a:rPr lang="en-US" dirty="0" err="1"/>
              <a:t>Tibshirani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066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Variabile răspuns/target</a:t>
            </a:r>
            <a:r>
              <a:rPr lang="en-US" dirty="0">
                <a:solidFill>
                  <a:srgbClr val="C00000"/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dirty="0"/>
              <a:t>vs. </a:t>
            </a:r>
            <a:r>
              <a:rPr lang="ro-RO" dirty="0"/>
              <a:t>Variabile predictor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496" y="983807"/>
            <a:ext cx="10910212" cy="2111143"/>
          </a:xfrm>
        </p:spPr>
        <p:txBody>
          <a:bodyPr/>
          <a:lstStyle/>
          <a:p>
            <a:endParaRPr lang="en-US" dirty="0"/>
          </a:p>
          <a:p>
            <a:r>
              <a:rPr lang="en-US" dirty="0" err="1"/>
              <a:t>Există</a:t>
            </a:r>
            <a:r>
              <a:rPr lang="en-US" dirty="0"/>
              <a:t> o </a:t>
            </a:r>
            <a:r>
              <a:rPr lang="en-US" dirty="0" err="1"/>
              <a:t>asimetrie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:</a:t>
            </a:r>
            <a:endParaRPr lang="ro-RO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Variabila</a:t>
            </a:r>
            <a:r>
              <a:rPr lang="en-US" dirty="0"/>
              <a:t> pe care am </a:t>
            </a:r>
            <a:r>
              <a:rPr lang="en-US" dirty="0" err="1"/>
              <a:t>dori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o </a:t>
            </a:r>
            <a:r>
              <a:rPr lang="en-US" dirty="0" err="1"/>
              <a:t>prezicem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dificil</a:t>
            </a:r>
            <a:r>
              <a:rPr lang="en-US" dirty="0"/>
              <a:t> de </a:t>
            </a:r>
            <a:r>
              <a:rPr lang="en-US" dirty="0" err="1"/>
              <a:t>măsurat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importantă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cealaltă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influențată</a:t>
            </a:r>
            <a:r>
              <a:rPr lang="en-US" dirty="0"/>
              <a:t> direct </a:t>
            </a:r>
            <a:r>
              <a:rPr lang="en-US" dirty="0" err="1"/>
              <a:t>sau</a:t>
            </a:r>
            <a:r>
              <a:rPr lang="en-US" dirty="0"/>
              <a:t> indirect de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celeilalte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Astfel</a:t>
            </a:r>
            <a:r>
              <a:rPr lang="en-US" dirty="0"/>
              <a:t>, am </a:t>
            </a:r>
            <a:r>
              <a:rPr lang="en-US" dirty="0" err="1"/>
              <a:t>dori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definim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de </a:t>
            </a:r>
            <a:r>
              <a:rPr lang="en-US" dirty="0" err="1"/>
              <a:t>variabile</a:t>
            </a:r>
            <a:r>
              <a:rPr lang="en-US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variabile</a:t>
            </a:r>
            <a:r>
              <a:rPr lang="en-US" dirty="0"/>
              <a:t> a </a:t>
            </a:r>
            <a:r>
              <a:rPr lang="en-US" dirty="0" err="1"/>
              <a:t>căror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dorim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o </a:t>
            </a:r>
            <a:r>
              <a:rPr lang="en-US" dirty="0" err="1"/>
              <a:t>prezicem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variabile</a:t>
            </a:r>
            <a:r>
              <a:rPr lang="en-US" dirty="0"/>
              <a:t> ale </a:t>
            </a:r>
            <a:r>
              <a:rPr lang="en-US" dirty="0" err="1"/>
              <a:t>căror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le </a:t>
            </a:r>
            <a:r>
              <a:rPr lang="en-US" dirty="0" err="1"/>
              <a:t>folosim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ne face </a:t>
            </a:r>
            <a:r>
              <a:rPr lang="en-US" dirty="0" err="1"/>
              <a:t>predicția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6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16531"/>
            <a:ext cx="11509333" cy="767276"/>
          </a:xfrm>
        </p:spPr>
        <p:txBody>
          <a:bodyPr/>
          <a:lstStyle/>
          <a:p>
            <a:r>
              <a:rPr lang="ro-RO" dirty="0"/>
              <a:t>Variabile răspuns/target</a:t>
            </a:r>
            <a:r>
              <a:rPr lang="en-US" dirty="0">
                <a:solidFill>
                  <a:srgbClr val="C00000"/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dirty="0"/>
              <a:t>vs. </a:t>
            </a:r>
            <a:r>
              <a:rPr lang="ro-RO" dirty="0"/>
              <a:t>Variabile predictor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083018"/>
              </p:ext>
            </p:extLst>
          </p:nvPr>
        </p:nvGraphicFramePr>
        <p:xfrm>
          <a:off x="3171125" y="3168091"/>
          <a:ext cx="5769068" cy="2194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42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rgbClr val="002060"/>
                          </a:solidFill>
                        </a:rP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2060"/>
                          </a:solidFill>
                        </a:rPr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rgbClr val="002060"/>
                          </a:solidFill>
                        </a:rPr>
                        <a:t>ziare</a:t>
                      </a:r>
                      <a:endParaRPr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vânzări</a:t>
                      </a:r>
                      <a:endParaRPr b="0"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230.1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22.1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10.4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17.2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9.3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151.5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18.5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dirty="0"/>
                        <a:t>180.8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12.9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326248" y="141556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endParaRPr lang="en-US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8217562" y="1359195"/>
            <a:ext cx="2312895" cy="1470212"/>
          </a:xfrm>
          <a:prstGeom prst="wedgeRoundRectCallout">
            <a:avLst>
              <a:gd name="adj1" fmla="val -36037"/>
              <a:gd name="adj2" fmla="val 69309"/>
              <a:gd name="adj3" fmla="val 16667"/>
            </a:avLst>
          </a:prstGeom>
          <a:noFill/>
          <a:ln w="15875" cap="rnd" cmpd="thickThin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280671" y="1461024"/>
            <a:ext cx="21866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latin typeface="Karla" charset="0"/>
                <a:ea typeface="Karla" charset="0"/>
                <a:cs typeface="Karla" charset="0"/>
              </a:rPr>
              <a:t>Y</a:t>
            </a:r>
          </a:p>
          <a:p>
            <a:pPr algn="ctr"/>
            <a:r>
              <a:rPr lang="ro-RO" dirty="0">
                <a:latin typeface="Karla" charset="0"/>
                <a:ea typeface="Karla" charset="0"/>
                <a:cs typeface="Karla" charset="0"/>
              </a:rPr>
              <a:t>Observație</a:t>
            </a:r>
            <a:endParaRPr lang="en-US" dirty="0">
              <a:latin typeface="Karla" charset="0"/>
              <a:ea typeface="Karla" charset="0"/>
              <a:cs typeface="Karla" charset="0"/>
            </a:endParaRPr>
          </a:p>
          <a:p>
            <a:pPr algn="ctr"/>
            <a:r>
              <a:rPr lang="ro-RO" b="1" dirty="0">
                <a:solidFill>
                  <a:srgbClr val="C00000"/>
                </a:solidFill>
                <a:latin typeface="Karla" charset="0"/>
                <a:ea typeface="Karla" charset="0"/>
                <a:cs typeface="Karla" charset="0"/>
              </a:rPr>
              <a:t>Variabila </a:t>
            </a:r>
            <a:r>
              <a:rPr lang="ro-RO" dirty="0">
                <a:latin typeface="Karla" charset="0"/>
                <a:ea typeface="Karla" charset="0"/>
                <a:cs typeface="Karla" charset="0"/>
              </a:rPr>
              <a:t>răspuns</a:t>
            </a:r>
            <a:endParaRPr lang="en-US" dirty="0">
              <a:latin typeface="Karla" charset="0"/>
              <a:ea typeface="Karla" charset="0"/>
              <a:cs typeface="Karla" charset="0"/>
            </a:endParaRPr>
          </a:p>
          <a:p>
            <a:pPr algn="ctr"/>
            <a:r>
              <a:rPr lang="ro-RO" dirty="0">
                <a:latin typeface="Karla" charset="0"/>
                <a:ea typeface="Karla" charset="0"/>
                <a:cs typeface="Karla" charset="0"/>
              </a:rPr>
              <a:t>Variabilă dependentă</a:t>
            </a:r>
            <a:endParaRPr lang="en-US" dirty="0">
              <a:latin typeface="Karla" charset="0"/>
              <a:ea typeface="Karla" charset="0"/>
              <a:cs typeface="Karla" charset="0"/>
            </a:endParaRPr>
          </a:p>
          <a:p>
            <a:pPr algn="ctr"/>
            <a:endParaRPr lang="en-US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 flipH="1">
            <a:off x="1720969" y="1340843"/>
            <a:ext cx="2313901" cy="1470212"/>
          </a:xfrm>
          <a:prstGeom prst="wedgeRoundRectCallout">
            <a:avLst>
              <a:gd name="adj1" fmla="val -53797"/>
              <a:gd name="adj2" fmla="val 70007"/>
              <a:gd name="adj3" fmla="val 16667"/>
            </a:avLst>
          </a:prstGeom>
          <a:noFill/>
          <a:ln w="15875" cap="rnd" cmpd="thickThin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278203" y="1421835"/>
            <a:ext cx="15292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Karla" charset="0"/>
                <a:ea typeface="Karla" charset="0"/>
                <a:cs typeface="Karla" charset="0"/>
              </a:rPr>
              <a:t>X</a:t>
            </a:r>
          </a:p>
          <a:p>
            <a:pPr algn="ctr"/>
            <a:r>
              <a:rPr lang="en-US" b="1" dirty="0">
                <a:solidFill>
                  <a:srgbClr val="C00000"/>
                </a:solidFill>
                <a:latin typeface="Karla" charset="0"/>
                <a:ea typeface="Karla" charset="0"/>
                <a:cs typeface="Karla" charset="0"/>
              </a:rPr>
              <a:t>predictor</a:t>
            </a:r>
            <a:r>
              <a:rPr lang="ro-RO" b="1" dirty="0">
                <a:solidFill>
                  <a:srgbClr val="C00000"/>
                </a:solidFill>
                <a:latin typeface="Karla" charset="0"/>
                <a:ea typeface="Karla" charset="0"/>
                <a:cs typeface="Karla" charset="0"/>
              </a:rPr>
              <a:t>i</a:t>
            </a:r>
            <a:endParaRPr lang="en-US" b="1" dirty="0">
              <a:solidFill>
                <a:srgbClr val="C00000"/>
              </a:solidFill>
              <a:latin typeface="Karla" charset="0"/>
              <a:ea typeface="Karla" charset="0"/>
              <a:cs typeface="Karla" charset="0"/>
            </a:endParaRPr>
          </a:p>
          <a:p>
            <a:pPr algn="ctr"/>
            <a:r>
              <a:rPr lang="ro-RO" dirty="0">
                <a:latin typeface="Karla" charset="0"/>
                <a:ea typeface="Karla" charset="0"/>
                <a:cs typeface="Karla" charset="0"/>
              </a:rPr>
              <a:t>atribute</a:t>
            </a:r>
            <a:endParaRPr lang="en-US" dirty="0">
              <a:latin typeface="Karla" charset="0"/>
              <a:ea typeface="Karla" charset="0"/>
              <a:cs typeface="Karla" charset="0"/>
            </a:endParaRPr>
          </a:p>
          <a:p>
            <a:pPr algn="ctr"/>
            <a:r>
              <a:rPr lang="en-US" dirty="0" err="1">
                <a:latin typeface="Karla" charset="0"/>
                <a:ea typeface="Karla" charset="0"/>
                <a:cs typeface="Karla" charset="0"/>
              </a:rPr>
              <a:t>covaria</a:t>
            </a:r>
            <a:r>
              <a:rPr lang="ro-RO" dirty="0">
                <a:latin typeface="Karla" charset="0"/>
                <a:ea typeface="Karla" charset="0"/>
                <a:cs typeface="Karla" charset="0"/>
              </a:rPr>
              <a:t>bile</a:t>
            </a:r>
            <a:endParaRPr lang="en-US" dirty="0">
              <a:latin typeface="Karla" charset="0"/>
              <a:ea typeface="Karla" charset="0"/>
              <a:cs typeface="Karla" charset="0"/>
            </a:endParaRPr>
          </a:p>
          <a:p>
            <a:pPr algn="ctr"/>
            <a:endParaRPr lang="en-US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3" name="Left Brace 2"/>
          <p:cNvSpPr/>
          <p:nvPr/>
        </p:nvSpPr>
        <p:spPr>
          <a:xfrm rot="16200000">
            <a:off x="5372964" y="3333750"/>
            <a:ext cx="368193" cy="4771872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9169" y="5950420"/>
            <a:ext cx="1878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Karla" charset="0"/>
                <a:ea typeface="Karla" charset="0"/>
                <a:cs typeface="Karla" charset="0"/>
              </a:rPr>
              <a:t>p</a:t>
            </a:r>
            <a:r>
              <a:rPr lang="en-US" sz="2800" dirty="0">
                <a:latin typeface="Karla" charset="0"/>
                <a:ea typeface="Karla" charset="0"/>
                <a:cs typeface="Karla" charset="0"/>
              </a:rPr>
              <a:t> predictor</a:t>
            </a:r>
            <a:r>
              <a:rPr lang="ro-RO" sz="2800" dirty="0">
                <a:latin typeface="Karla" charset="0"/>
                <a:ea typeface="Karla" charset="0"/>
                <a:cs typeface="Karla" charset="0"/>
              </a:rPr>
              <a:t>i</a:t>
            </a:r>
            <a:endParaRPr lang="en-US" sz="2800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10" name="Left Brace 9"/>
          <p:cNvSpPr/>
          <p:nvPr/>
        </p:nvSpPr>
        <p:spPr>
          <a:xfrm>
            <a:off x="2606722" y="3589362"/>
            <a:ext cx="327547" cy="170597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123338" y="4180737"/>
            <a:ext cx="1969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Karla" charset="0"/>
                <a:ea typeface="Karla" charset="0"/>
                <a:cs typeface="Karla" charset="0"/>
              </a:rPr>
              <a:t>n</a:t>
            </a:r>
            <a:r>
              <a:rPr lang="en-US" sz="2800" dirty="0">
                <a:latin typeface="Karla" charset="0"/>
                <a:ea typeface="Karla" charset="0"/>
                <a:cs typeface="Karla" charset="0"/>
              </a:rPr>
              <a:t>  </a:t>
            </a:r>
            <a:r>
              <a:rPr lang="en-US" sz="2800" dirty="0" err="1">
                <a:latin typeface="Karla" charset="0"/>
                <a:ea typeface="Karla" charset="0"/>
                <a:cs typeface="Karla" charset="0"/>
              </a:rPr>
              <a:t>observa</a:t>
            </a:r>
            <a:r>
              <a:rPr lang="ro-RO" sz="2800" dirty="0">
                <a:latin typeface="Karla" charset="0"/>
                <a:ea typeface="Karla" charset="0"/>
                <a:cs typeface="Karla" charset="0"/>
              </a:rPr>
              <a:t>ții</a:t>
            </a:r>
            <a:endParaRPr lang="en-US" sz="2800" dirty="0"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294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16531"/>
            <a:ext cx="11509333" cy="767276"/>
          </a:xfrm>
        </p:spPr>
        <p:txBody>
          <a:bodyPr/>
          <a:lstStyle/>
          <a:p>
            <a:r>
              <a:rPr lang="ro-RO" dirty="0"/>
              <a:t>Variabile răspuns/target</a:t>
            </a:r>
            <a:r>
              <a:rPr lang="en-US" dirty="0">
                <a:solidFill>
                  <a:srgbClr val="C00000"/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dirty="0"/>
              <a:t>vs. </a:t>
            </a:r>
            <a:r>
              <a:rPr lang="ro-RO" dirty="0"/>
              <a:t>Variabile predictor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789138"/>
              </p:ext>
            </p:extLst>
          </p:nvPr>
        </p:nvGraphicFramePr>
        <p:xfrm>
          <a:off x="3171125" y="3168091"/>
          <a:ext cx="5769068" cy="2194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42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rgbClr val="002060"/>
                          </a:solidFill>
                        </a:rP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2060"/>
                          </a:solidFill>
                        </a:rPr>
                        <a:t>radio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rgbClr val="002060"/>
                          </a:solidFill>
                        </a:rPr>
                        <a:t>ziare</a:t>
                      </a:r>
                      <a:endParaRPr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vânzări</a:t>
                      </a:r>
                      <a:endParaRPr b="0"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230.1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22.1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10.4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17.2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9.3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t>151.5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18.5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dirty="0"/>
                        <a:t>180.8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12.9</a:t>
                      </a:r>
                    </a:p>
                  </a:txBody>
                  <a:tcPr>
                    <a:solidFill>
                      <a:schemeClr val="accent2">
                        <a:alpha val="6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326248" y="141556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endParaRPr lang="en-US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8217562" y="1359195"/>
            <a:ext cx="2312895" cy="1470212"/>
          </a:xfrm>
          <a:prstGeom prst="wedgeRoundRectCallout">
            <a:avLst>
              <a:gd name="adj1" fmla="val -36037"/>
              <a:gd name="adj2" fmla="val 69309"/>
              <a:gd name="adj3" fmla="val 16667"/>
            </a:avLst>
          </a:prstGeom>
          <a:noFill/>
          <a:ln w="15875" cap="rnd" cmpd="thickThin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80671" y="1461024"/>
                <a:ext cx="2186689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𝑌</m:t>
                      </m:r>
                      <m:r>
                        <a:rPr lang="en-US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r>
                  <a:rPr lang="ro-RO" dirty="0">
                    <a:latin typeface="Karla" charset="0"/>
                    <a:ea typeface="Karla" charset="0"/>
                    <a:cs typeface="Karla" charset="0"/>
                  </a:rPr>
                  <a:t>Observație</a:t>
                </a:r>
                <a:endParaRPr lang="en-US" dirty="0">
                  <a:latin typeface="Karla" charset="0"/>
                  <a:ea typeface="Karla" charset="0"/>
                  <a:cs typeface="Karla" charset="0"/>
                </a:endParaRPr>
              </a:p>
              <a:p>
                <a:pPr algn="ctr"/>
                <a:r>
                  <a:rPr lang="ro-RO" dirty="0">
                    <a:latin typeface="Karla" charset="0"/>
                    <a:ea typeface="Karla" charset="0"/>
                    <a:cs typeface="Karla" charset="0"/>
                  </a:rPr>
                  <a:t>Variabila</a:t>
                </a:r>
                <a:r>
                  <a:rPr lang="ro-RO" b="1" dirty="0">
                    <a:solidFill>
                      <a:srgbClr val="C00000"/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b="1" dirty="0">
                    <a:solidFill>
                      <a:schemeClr val="accent2"/>
                    </a:solidFill>
                    <a:latin typeface="Karla" charset="0"/>
                    <a:ea typeface="Karla" charset="0"/>
                    <a:cs typeface="Karla" charset="0"/>
                  </a:rPr>
                  <a:t>răspuns</a:t>
                </a:r>
                <a:endParaRPr lang="en-US" b="1" dirty="0">
                  <a:solidFill>
                    <a:schemeClr val="accent2"/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pPr algn="ctr"/>
                <a:r>
                  <a:rPr lang="ro-RO" dirty="0">
                    <a:latin typeface="Karla" charset="0"/>
                    <a:ea typeface="Karla" charset="0"/>
                    <a:cs typeface="Karla" charset="0"/>
                  </a:rPr>
                  <a:t>Variabilă dependentă</a:t>
                </a:r>
                <a:endParaRPr lang="en-US" dirty="0">
                  <a:latin typeface="Karla" charset="0"/>
                  <a:ea typeface="Karla" charset="0"/>
                  <a:cs typeface="Karla" charset="0"/>
                </a:endParaRPr>
              </a:p>
              <a:p>
                <a:pPr algn="ctr"/>
                <a:endParaRPr lang="en-US" dirty="0"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671" y="1461024"/>
                <a:ext cx="2186689" cy="1477328"/>
              </a:xfrm>
              <a:prstGeom prst="rect">
                <a:avLst/>
              </a:prstGeom>
              <a:blipFill>
                <a:blip r:embed="rId3"/>
                <a:stretch>
                  <a:fillRect l="-2228" r="-2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ular Callout 11"/>
          <p:cNvSpPr/>
          <p:nvPr/>
        </p:nvSpPr>
        <p:spPr>
          <a:xfrm flipH="1">
            <a:off x="1238250" y="1156745"/>
            <a:ext cx="2796620" cy="1654310"/>
          </a:xfrm>
          <a:prstGeom prst="wedgeRoundRectCallout">
            <a:avLst>
              <a:gd name="adj1" fmla="val -53797"/>
              <a:gd name="adj2" fmla="val 70007"/>
              <a:gd name="adj3" fmla="val 16667"/>
            </a:avLst>
          </a:prstGeom>
          <a:noFill/>
          <a:ln w="15875" cap="rnd" cmpd="thickThin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33408" y="1173264"/>
                <a:ext cx="2477922" cy="17980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𝑋</m:t>
                      </m:r>
                      <m:r>
                        <a:rPr lang="en-US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b="1" i="1" dirty="0">
                  <a:latin typeface="Karla" charset="0"/>
                  <a:ea typeface="Karla" charset="0"/>
                  <a:cs typeface="Karla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,…</m:t>
                      </m:r>
                      <m:r>
                        <a:rPr lang="en-US" b="0" i="1" smtClean="0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r>
                        <a:rPr lang="en-US" b="0" i="1" smtClean="0">
                          <a:latin typeface="Cambria Math" charset="0"/>
                        </a:rPr>
                        <m:t>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𝑛𝑗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o-RO" b="1" dirty="0">
                  <a:solidFill>
                    <a:srgbClr val="C00000"/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pPr algn="ctr"/>
                <a:r>
                  <a:rPr lang="en-US" b="1" dirty="0">
                    <a:solidFill>
                      <a:srgbClr val="C00000"/>
                    </a:solidFill>
                    <a:latin typeface="Karla" charset="0"/>
                    <a:ea typeface="Karla" charset="0"/>
                    <a:cs typeface="Karla" charset="0"/>
                  </a:rPr>
                  <a:t>predictor</a:t>
                </a:r>
                <a:r>
                  <a:rPr lang="ro-RO" b="1" dirty="0">
                    <a:solidFill>
                      <a:srgbClr val="C00000"/>
                    </a:solidFill>
                    <a:latin typeface="Karla" charset="0"/>
                    <a:ea typeface="Karla" charset="0"/>
                    <a:cs typeface="Karla" charset="0"/>
                  </a:rPr>
                  <a:t>i</a:t>
                </a:r>
                <a:endParaRPr lang="en-US" b="1" dirty="0">
                  <a:solidFill>
                    <a:srgbClr val="C00000"/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pPr algn="ctr"/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features</a:t>
                </a:r>
              </a:p>
              <a:p>
                <a:pPr algn="ctr"/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covaria</a:t>
                </a:r>
                <a:r>
                  <a:rPr lang="ro-RO" dirty="0">
                    <a:latin typeface="Karla" charset="0"/>
                    <a:ea typeface="Karla" charset="0"/>
                    <a:cs typeface="Karla" charset="0"/>
                  </a:rPr>
                  <a:t>bile</a:t>
                </a:r>
                <a:endParaRPr lang="en-US" dirty="0">
                  <a:latin typeface="Karla" charset="0"/>
                  <a:ea typeface="Karla" charset="0"/>
                  <a:cs typeface="Karla" charset="0"/>
                </a:endParaRPr>
              </a:p>
              <a:p>
                <a:pPr algn="ctr"/>
                <a:endParaRPr lang="en-US" dirty="0"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408" y="1173264"/>
                <a:ext cx="2477922" cy="17980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Left Brace 2"/>
          <p:cNvSpPr/>
          <p:nvPr/>
        </p:nvSpPr>
        <p:spPr>
          <a:xfrm rot="16200000">
            <a:off x="5372964" y="3333750"/>
            <a:ext cx="368193" cy="4771872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9169" y="5950420"/>
            <a:ext cx="1878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Karla" charset="0"/>
                <a:ea typeface="Karla" charset="0"/>
                <a:cs typeface="Karla" charset="0"/>
              </a:rPr>
              <a:t>p</a:t>
            </a:r>
            <a:r>
              <a:rPr lang="en-US" sz="2800" dirty="0">
                <a:latin typeface="Karla" charset="0"/>
                <a:ea typeface="Karla" charset="0"/>
                <a:cs typeface="Karla" charset="0"/>
              </a:rPr>
              <a:t> predictor</a:t>
            </a:r>
            <a:r>
              <a:rPr lang="ro-RO" sz="2800" dirty="0">
                <a:latin typeface="Karla" charset="0"/>
                <a:ea typeface="Karla" charset="0"/>
                <a:cs typeface="Karla" charset="0"/>
              </a:rPr>
              <a:t>i</a:t>
            </a:r>
            <a:endParaRPr lang="en-US" sz="2800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10" name="Left Brace 9"/>
          <p:cNvSpPr/>
          <p:nvPr/>
        </p:nvSpPr>
        <p:spPr>
          <a:xfrm>
            <a:off x="2606722" y="3589362"/>
            <a:ext cx="327547" cy="170597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123338" y="4180737"/>
            <a:ext cx="1969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Karla" charset="0"/>
                <a:ea typeface="Karla" charset="0"/>
                <a:cs typeface="Karla" charset="0"/>
              </a:rPr>
              <a:t>n</a:t>
            </a:r>
            <a:r>
              <a:rPr lang="en-US" sz="2800" dirty="0">
                <a:latin typeface="Karla" charset="0"/>
                <a:ea typeface="Karla" charset="0"/>
                <a:cs typeface="Karla" charset="0"/>
              </a:rPr>
              <a:t>  </a:t>
            </a:r>
            <a:r>
              <a:rPr lang="en-US" sz="2800" dirty="0" err="1">
                <a:latin typeface="Karla" charset="0"/>
                <a:ea typeface="Karla" charset="0"/>
                <a:cs typeface="Karla" charset="0"/>
              </a:rPr>
              <a:t>observa</a:t>
            </a:r>
            <a:r>
              <a:rPr lang="ro-RO" sz="2800" dirty="0">
                <a:latin typeface="Karla" charset="0"/>
                <a:ea typeface="Karla" charset="0"/>
                <a:cs typeface="Karla" charset="0"/>
              </a:rPr>
              <a:t>ții</a:t>
            </a:r>
            <a:endParaRPr lang="en-US" sz="2800" dirty="0"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435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6834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Defini</a:t>
            </a:r>
            <a:r>
              <a:rPr lang="ro-RO" dirty="0">
                <a:solidFill>
                  <a:schemeClr val="bg1">
                    <a:lumMod val="95000"/>
                  </a:schemeClr>
                </a:solidFill>
              </a:rPr>
              <a:t>ție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3414" y="1015473"/>
                <a:ext cx="10753340" cy="3901702"/>
              </a:xfrm>
              <a:solidFill>
                <a:schemeClr val="bg1">
                  <a:lumMod val="85000"/>
                  <a:alpha val="92000"/>
                </a:schemeClr>
              </a:solidFill>
            </p:spPr>
            <p:txBody>
              <a:bodyPr/>
              <a:lstStyle/>
              <a:p>
                <a:pPr>
                  <a:spcAft>
                    <a:spcPts val="1800"/>
                  </a:spcAft>
                </a:pPr>
                <a:r>
                  <a:rPr lang="ro-RO" sz="2400" dirty="0"/>
                  <a:t>Avem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𝑝</m:t>
                    </m:r>
                    <m:r>
                      <a:rPr lang="en-US" sz="2400" b="0" i="1" smtClean="0">
                        <a:latin typeface="Cambria Math" charset="0"/>
                      </a:rPr>
                      <m:t>+1 </m:t>
                    </m:r>
                  </m:oMath>
                </a14:m>
                <a:r>
                  <a:rPr lang="ro-RO" sz="2400" dirty="0"/>
                  <a:t>variabile</a:t>
                </a:r>
                <a:r>
                  <a:rPr lang="en-US" sz="2400" dirty="0"/>
                  <a:t> </a:t>
                </a:r>
                <a:r>
                  <a:rPr lang="ro-RO" sz="2400" dirty="0"/>
                  <a:t>numerice și facem un set 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𝑛</m:t>
                    </m:r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observa</a:t>
                </a:r>
                <a:r>
                  <a:rPr lang="ro-RO" sz="2400" dirty="0"/>
                  <a:t>ții</a:t>
                </a:r>
                <a:r>
                  <a:rPr lang="en-US" sz="2400" dirty="0"/>
                  <a:t>. </a:t>
                </a:r>
                <a:endParaRPr lang="ro-RO" sz="2400" dirty="0"/>
              </a:p>
              <a:p>
                <a:pPr>
                  <a:spcAft>
                    <a:spcPts val="1800"/>
                  </a:spcAft>
                </a:pPr>
                <a:r>
                  <a:rPr lang="ro-RO" sz="2400" dirty="0"/>
                  <a:t>Definim</a:t>
                </a:r>
                <a:r>
                  <a:rPr lang="en-US" sz="2400" dirty="0"/>
                  <a:t>:</a:t>
                </a:r>
              </a:p>
              <a:p>
                <a:pPr marL="923925" indent="-344488">
                  <a:spcAft>
                    <a:spcPts val="1800"/>
                  </a:spcAft>
                  <a:buFont typeface="Arial" charset="0"/>
                  <a:buChar char="•"/>
                </a:pPr>
                <a:r>
                  <a:rPr lang="en-US" sz="2400" dirty="0"/>
                  <a:t>variabila pe care am dori să o </a:t>
                </a:r>
                <a:r>
                  <a:rPr lang="en-US" sz="2400" dirty="0" err="1"/>
                  <a:t>prezicem</a:t>
                </a:r>
                <a:r>
                  <a:rPr lang="ro-RO" sz="2400" dirty="0"/>
                  <a:t> și o numim</a:t>
                </a:r>
                <a:r>
                  <a:rPr lang="en-US" sz="2400" dirty="0"/>
                  <a:t> </a:t>
                </a:r>
                <a:r>
                  <a:rPr lang="en-US" sz="2400" b="1" dirty="0"/>
                  <a:t>rezultatul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sau</a:t>
                </a:r>
                <a:r>
                  <a:rPr lang="en-US" sz="2400" dirty="0"/>
                  <a:t> </a:t>
                </a:r>
                <a:r>
                  <a:rPr lang="en-US" sz="2400" b="1" dirty="0" err="1"/>
                  <a:t>variabila</a:t>
                </a:r>
                <a:r>
                  <a:rPr lang="en-US" sz="2400" b="1" dirty="0"/>
                  <a:t> răspuns</a:t>
                </a:r>
                <a:r>
                  <a:rPr lang="en-US" sz="2400" dirty="0"/>
                  <a:t>; de obicei, </a:t>
                </a:r>
                <a:r>
                  <a:rPr lang="en-US" sz="2400" dirty="0" err="1"/>
                  <a:t>notăm</a:t>
                </a:r>
                <a:r>
                  <a:rPr lang="en-US" sz="2400" dirty="0"/>
                  <a:t> această variabilă prin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charset="0"/>
                      </a:rPr>
                      <m:t>𝑌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ro-RO" sz="2400" dirty="0"/>
                  <a:t>iar observațiile/măsurătorile/valorile individuale prin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en-US" sz="2400" b="0" dirty="0"/>
              </a:p>
              <a:p>
                <a:pPr marL="923925" indent="-344488">
                  <a:spcAft>
                    <a:spcPts val="1800"/>
                  </a:spcAft>
                  <a:buFont typeface="Arial" charset="0"/>
                  <a:buChar char="•"/>
                </a:pPr>
                <a:r>
                  <a:rPr lang="en-US" sz="2400" dirty="0"/>
                  <a:t>variabilele pe care le folosim pentru a face </a:t>
                </a:r>
                <a:r>
                  <a:rPr lang="en-US" sz="2400" dirty="0" err="1"/>
                  <a:t>predicțiile</a:t>
                </a:r>
                <a:r>
                  <a:rPr lang="en-US" sz="2400" dirty="0"/>
                  <a:t> </a:t>
                </a:r>
                <a:r>
                  <a:rPr lang="ro-RO" sz="2400" dirty="0"/>
                  <a:t>și le numim </a:t>
                </a:r>
                <a:r>
                  <a:rPr lang="en-US" sz="2400" b="1" dirty="0" err="1"/>
                  <a:t>caracteristic</a:t>
                </a:r>
                <a:r>
                  <a:rPr lang="ro-RO" sz="2400" b="1" dirty="0"/>
                  <a:t>i </a:t>
                </a:r>
                <a:r>
                  <a:rPr lang="ro-RO" sz="2400" dirty="0"/>
                  <a:t>(features)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sau</a:t>
                </a:r>
                <a:r>
                  <a:rPr lang="en-US" sz="2400" dirty="0"/>
                  <a:t> </a:t>
                </a:r>
                <a:r>
                  <a:rPr lang="en-US" sz="2400" b="1" dirty="0" err="1"/>
                  <a:t>variabile</a:t>
                </a:r>
                <a:r>
                  <a:rPr lang="en-US" sz="2400" b="1" dirty="0"/>
                  <a:t> predictor</a:t>
                </a:r>
                <a:r>
                  <a:rPr lang="en-US" sz="2400" dirty="0"/>
                  <a:t>; de obicei, </a:t>
                </a:r>
                <a:r>
                  <a:rPr lang="en-US" sz="2400" dirty="0" err="1"/>
                  <a:t>notăm</a:t>
                </a:r>
                <a:r>
                  <a:rPr lang="en-US" sz="2400" dirty="0"/>
                  <a:t> aceste variabile prin</a:t>
                </a:r>
                <a:r>
                  <a:rPr lang="ro-RO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𝑋</m:t>
                    </m:r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iar valorile lor cu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3414" y="1015473"/>
                <a:ext cx="10753340" cy="3901702"/>
              </a:xfrm>
              <a:blipFill>
                <a:blip r:embed="rId3"/>
                <a:stretch>
                  <a:fillRect l="-907" t="-1250" b="-4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3415" y="5032311"/>
                <a:ext cx="1058164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b="1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Obs</a:t>
                </a:r>
                <a:r>
                  <a:rPr lang="en-US" sz="2400" b="1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𝑖</m:t>
                    </m:r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 </m:t>
                    </m:r>
                  </m:oMath>
                </a14:m>
                <a:r>
                  <a:rPr lang="en-US" sz="2400" dirty="0" err="1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indexe</a:t>
                </a:r>
                <a:r>
                  <a:rPr lang="ro-RO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ază</a:t>
                </a:r>
                <a:r>
                  <a:rPr lang="en-US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observațiile</a:t>
                </a:r>
                <a:r>
                  <a:rPr lang="en-US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𝑖</m:t>
                    </m:r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=1,…,</m:t>
                    </m:r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𝑛</m:t>
                    </m:r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) </m:t>
                    </m:r>
                  </m:oMath>
                </a14:m>
                <a:r>
                  <a:rPr lang="ro-RO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iar</a:t>
                </a:r>
                <a:r>
                  <a:rPr lang="en-US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𝑗</m:t>
                    </m:r>
                  </m:oMath>
                </a14:m>
                <a:r>
                  <a:rPr lang="en-US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indexe</a:t>
                </a:r>
                <a:r>
                  <a:rPr lang="ro-RO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ază valorile variabilei</a:t>
                </a:r>
                <a:r>
                  <a:rPr lang="en-US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 predictor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j</m:t>
                    </m:r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=1,…,</m:t>
                    </m:r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𝑝</m:t>
                    </m:r>
                    <m:r>
                      <a:rPr lang="en-US" sz="2400">
                        <a:solidFill>
                          <a:srgbClr val="464646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464646"/>
                    </a:solidFill>
                    <a:latin typeface="Karla" charset="0"/>
                    <a:ea typeface="Karla" charset="0"/>
                    <a:cs typeface="Karl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15" y="5032311"/>
                <a:ext cx="10581643" cy="830997"/>
              </a:xfrm>
              <a:prstGeom prst="rect">
                <a:avLst/>
              </a:prstGeom>
              <a:blipFill>
                <a:blip r:embed="rId4"/>
                <a:stretch>
                  <a:fillRect l="-922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98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4000" dirty="0"/>
              <a:t>Modelare Statistică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8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 real</a:t>
            </a:r>
            <a:r>
              <a:rPr lang="en-US" dirty="0"/>
              <a:t> vs. </a:t>
            </a:r>
            <a:r>
              <a:rPr lang="ro-RO" dirty="0"/>
              <a:t>Model </a:t>
            </a:r>
            <a:r>
              <a:rPr lang="en-US" dirty="0"/>
              <a:t>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3415" y="983807"/>
                <a:ext cx="10327008" cy="4815744"/>
              </a:xfrm>
            </p:spPr>
            <p:txBody>
              <a:bodyPr/>
              <a:lstStyle/>
              <a:p>
                <a:pPr>
                  <a:spcAft>
                    <a:spcPts val="1800"/>
                  </a:spcAft>
                </a:pPr>
                <a:r>
                  <a:rPr lang="en-US" sz="2400" dirty="0"/>
                  <a:t>Vom </a:t>
                </a:r>
                <a:r>
                  <a:rPr lang="en-US" sz="2400" dirty="0" err="1"/>
                  <a:t>presupune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variabila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răspuns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este în legătura cu predictorii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prin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intermediul</a:t>
                </a:r>
                <a:r>
                  <a:rPr lang="en-US" sz="2400" dirty="0"/>
                  <a:t> </a:t>
                </a:r>
                <a:r>
                  <a:rPr lang="ro-RO" sz="2400" dirty="0"/>
                  <a:t>unei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funcții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necunoscute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exprimate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în</a:t>
                </a:r>
                <a:r>
                  <a:rPr lang="en-US" sz="2400" dirty="0"/>
                  <a:t> general ca:</a:t>
                </a:r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𝜀</m:t>
                      </m:r>
                    </m:oMath>
                  </m:oMathPara>
                </a14:m>
                <a:endParaRPr lang="en-US" sz="2400" b="0" dirty="0"/>
              </a:p>
              <a:p>
                <a:pPr>
                  <a:spcAft>
                    <a:spcPts val="1800"/>
                  </a:spcAft>
                </a:pPr>
                <a:r>
                  <a:rPr lang="ro-RO" sz="2400" dirty="0"/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4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ci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charset="0"/>
                      </a:rPr>
                      <m:t>𝑓</m:t>
                    </m:r>
                  </m:oMath>
                </a14:m>
                <a:r>
                  <a:rPr lang="en-US" sz="2400" dirty="0"/>
                  <a:t> este funcția necunoscută care exprimă o regulă de bază pentru relaționare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lui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cu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𝜀</m:t>
                    </m:r>
                    <m:r>
                      <a:rPr lang="en-US" sz="2400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o-RO" sz="2400" dirty="0"/>
                  <a:t>este cantitatea aleatoare</a:t>
                </a:r>
                <a:r>
                  <a:rPr lang="en-US" sz="2400" dirty="0"/>
                  <a:t>(</a:t>
                </a:r>
                <a:r>
                  <a:rPr lang="ro-RO" sz="2400" dirty="0"/>
                  <a:t>independentă de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) </a:t>
                </a:r>
                <a:r>
                  <a:rPr lang="ro-RO" sz="2400" dirty="0"/>
                  <a:t>prin care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difer</a:t>
                </a:r>
                <a:r>
                  <a:rPr lang="ro-RO" sz="2400" dirty="0"/>
                  <a:t>ă</a:t>
                </a:r>
                <a:r>
                  <a:rPr lang="en-US" sz="2400" dirty="0"/>
                  <a:t> </a:t>
                </a:r>
                <a:r>
                  <a:rPr lang="ro-RO" sz="2400" dirty="0"/>
                  <a:t>de funcția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800"/>
                  </a:spcAft>
                </a:pPr>
                <a:r>
                  <a:rPr lang="ro-RO" sz="2400" dirty="0"/>
                  <a:t>Un </a:t>
                </a:r>
                <a:r>
                  <a:rPr lang="en-US" sz="2400" b="1" i="1" dirty="0"/>
                  <a:t>model</a:t>
                </a:r>
                <a:r>
                  <a:rPr lang="en-US" sz="2400" dirty="0"/>
                  <a:t> (</a:t>
                </a:r>
                <a:r>
                  <a:rPr lang="en-US" sz="2400" b="1" i="1" dirty="0"/>
                  <a:t>statistic</a:t>
                </a:r>
                <a:r>
                  <a:rPr lang="en-US" sz="2400" dirty="0"/>
                  <a:t>)</a:t>
                </a:r>
                <a:r>
                  <a:rPr lang="ro-RO" sz="2400" dirty="0"/>
                  <a:t> este orice algoritm care estimează funcția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𝑓</m:t>
                    </m:r>
                  </m:oMath>
                </a14:m>
                <a:r>
                  <a:rPr lang="en-US" sz="2400" dirty="0"/>
                  <a:t>. </a:t>
                </a:r>
                <a:endParaRPr lang="pt-BR" sz="2400" dirty="0"/>
              </a:p>
              <a:p>
                <a:pPr>
                  <a:spcAft>
                    <a:spcPts val="1800"/>
                  </a:spcAft>
                </a:pPr>
                <a:r>
                  <a:rPr lang="pt-BR" sz="2400" dirty="0"/>
                  <a:t>Notăm </a:t>
                </a:r>
                <a:r>
                  <a:rPr lang="ro-RO" sz="2400" dirty="0"/>
                  <a:t>estimata </a:t>
                </a:r>
                <a:r>
                  <a:rPr lang="pt-BR" sz="2400" dirty="0"/>
                  <a:t>funcți</a:t>
                </a:r>
                <a:r>
                  <a:rPr lang="ro-RO" sz="2400" dirty="0"/>
                  <a:t>ei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𝑓</m:t>
                    </m:r>
                  </m:oMath>
                </a14:m>
                <a:r>
                  <a:rPr lang="pt-BR" sz="2400" dirty="0"/>
                  <a:t> c</a:t>
                </a:r>
                <a:r>
                  <a:rPr lang="ro-RO" sz="2400" dirty="0"/>
                  <a:t>u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.</m:t>
                        </m:r>
                      </m:e>
                    </m:ac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3415" y="983807"/>
                <a:ext cx="10327008" cy="4815744"/>
              </a:xfrm>
              <a:blipFill>
                <a:blip r:embed="rId3"/>
                <a:stretch>
                  <a:fillRect l="-945" t="-1013" r="-1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6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EBD50D-B36D-7B4F-AAAF-E5822305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1" y="1461334"/>
            <a:ext cx="6857999" cy="4571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  <a:r>
              <a:rPr lang="ro-RO" dirty="0"/>
              <a:t> </a:t>
            </a:r>
            <a:r>
              <a:rPr lang="en-US" dirty="0"/>
              <a:t>Statistic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10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Rounded Rectangular Callout 16"/>
          <p:cNvSpPr/>
          <p:nvPr/>
        </p:nvSpPr>
        <p:spPr>
          <a:xfrm flipH="1">
            <a:off x="8871679" y="6023424"/>
            <a:ext cx="698206" cy="523073"/>
          </a:xfrm>
          <a:prstGeom prst="wedgeRoundRectCallout">
            <a:avLst>
              <a:gd name="adj1" fmla="val 160316"/>
              <a:gd name="adj2" fmla="val -106079"/>
              <a:gd name="adj3" fmla="val 16667"/>
            </a:avLst>
          </a:prstGeom>
          <a:noFill/>
          <a:ln w="15875" cap="rnd" cmpd="thickThin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930735" y="6082729"/>
            <a:ext cx="5800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i="1" dirty="0">
                <a:latin typeface="Karla" charset="0"/>
                <a:ea typeface="Karla" charset="0"/>
                <a:cs typeface="Karla" charset="0"/>
              </a:rPr>
              <a:t>x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344038" y="2719006"/>
            <a:ext cx="698206" cy="523073"/>
            <a:chOff x="1344038" y="2719006"/>
            <a:chExt cx="698206" cy="523073"/>
          </a:xfrm>
        </p:grpSpPr>
        <p:sp>
          <p:nvSpPr>
            <p:cNvPr id="19" name="Rounded Rectangular Callout 18"/>
            <p:cNvSpPr/>
            <p:nvPr/>
          </p:nvSpPr>
          <p:spPr>
            <a:xfrm flipH="1">
              <a:off x="1344038" y="2719006"/>
              <a:ext cx="698206" cy="523073"/>
            </a:xfrm>
            <a:prstGeom prst="wedgeRoundRectCallout">
              <a:avLst>
                <a:gd name="adj1" fmla="val -150051"/>
                <a:gd name="adj2" fmla="val 59156"/>
                <a:gd name="adj3" fmla="val 16667"/>
              </a:avLst>
            </a:prstGeom>
            <a:noFill/>
            <a:ln w="15875" cap="rnd" cmpd="thickThin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03094" y="2765098"/>
              <a:ext cx="58009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i="1" dirty="0">
                  <a:latin typeface="Karla" charset="0"/>
                  <a:ea typeface="Karla" charset="0"/>
                  <a:cs typeface="Karla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464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549469-8AF1-9940-B998-470C6F7A3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1" y="1461334"/>
            <a:ext cx="6857999" cy="4571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  <a:r>
              <a:rPr lang="ro-RO" dirty="0"/>
              <a:t> </a:t>
            </a:r>
            <a:r>
              <a:rPr lang="en-US" dirty="0"/>
              <a:t>Statistic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11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Freeform 4"/>
          <p:cNvSpPr/>
          <p:nvPr/>
        </p:nvSpPr>
        <p:spPr>
          <a:xfrm>
            <a:off x="5798873" y="1991638"/>
            <a:ext cx="45719" cy="3118981"/>
          </a:xfrm>
          <a:custGeom>
            <a:avLst/>
            <a:gdLst>
              <a:gd name="connsiteX0" fmla="*/ 88360 w 188568"/>
              <a:gd name="connsiteY0" fmla="*/ 3056351 h 3056351"/>
              <a:gd name="connsiteX1" fmla="*/ 75834 w 188568"/>
              <a:gd name="connsiteY1" fmla="*/ 2906039 h 3056351"/>
              <a:gd name="connsiteX2" fmla="*/ 63308 w 188568"/>
              <a:gd name="connsiteY2" fmla="*/ 2843409 h 3056351"/>
              <a:gd name="connsiteX3" fmla="*/ 38256 w 188568"/>
              <a:gd name="connsiteY3" fmla="*/ 2743200 h 3056351"/>
              <a:gd name="connsiteX4" fmla="*/ 13204 w 188568"/>
              <a:gd name="connsiteY4" fmla="*/ 2655518 h 3056351"/>
              <a:gd name="connsiteX5" fmla="*/ 13204 w 188568"/>
              <a:gd name="connsiteY5" fmla="*/ 2242159 h 3056351"/>
              <a:gd name="connsiteX6" fmla="*/ 38256 w 188568"/>
              <a:gd name="connsiteY6" fmla="*/ 2204581 h 3056351"/>
              <a:gd name="connsiteX7" fmla="*/ 50782 w 188568"/>
              <a:gd name="connsiteY7" fmla="*/ 2167003 h 3056351"/>
              <a:gd name="connsiteX8" fmla="*/ 75834 w 188568"/>
              <a:gd name="connsiteY8" fmla="*/ 2116899 h 3056351"/>
              <a:gd name="connsiteX9" fmla="*/ 100886 w 188568"/>
              <a:gd name="connsiteY9" fmla="*/ 2016691 h 3056351"/>
              <a:gd name="connsiteX10" fmla="*/ 138464 w 188568"/>
              <a:gd name="connsiteY10" fmla="*/ 1929009 h 3056351"/>
              <a:gd name="connsiteX11" fmla="*/ 150990 w 188568"/>
              <a:gd name="connsiteY11" fmla="*/ 1878905 h 3056351"/>
              <a:gd name="connsiteX12" fmla="*/ 163516 w 188568"/>
              <a:gd name="connsiteY12" fmla="*/ 1841327 h 3056351"/>
              <a:gd name="connsiteX13" fmla="*/ 188568 w 188568"/>
              <a:gd name="connsiteY13" fmla="*/ 1753644 h 3056351"/>
              <a:gd name="connsiteX14" fmla="*/ 163516 w 188568"/>
              <a:gd name="connsiteY14" fmla="*/ 1590806 h 3056351"/>
              <a:gd name="connsiteX15" fmla="*/ 150990 w 188568"/>
              <a:gd name="connsiteY15" fmla="*/ 1528176 h 3056351"/>
              <a:gd name="connsiteX16" fmla="*/ 125938 w 188568"/>
              <a:gd name="connsiteY16" fmla="*/ 1453020 h 3056351"/>
              <a:gd name="connsiteX17" fmla="*/ 75834 w 188568"/>
              <a:gd name="connsiteY17" fmla="*/ 713984 h 3056351"/>
              <a:gd name="connsiteX18" fmla="*/ 50782 w 188568"/>
              <a:gd name="connsiteY18" fmla="*/ 538620 h 3056351"/>
              <a:gd name="connsiteX19" fmla="*/ 38256 w 188568"/>
              <a:gd name="connsiteY19" fmla="*/ 475990 h 3056351"/>
              <a:gd name="connsiteX20" fmla="*/ 13204 w 188568"/>
              <a:gd name="connsiteY20" fmla="*/ 350729 h 3056351"/>
              <a:gd name="connsiteX21" fmla="*/ 678 w 188568"/>
              <a:gd name="connsiteY21" fmla="*/ 0 h 305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8568" h="3056351">
                <a:moveTo>
                  <a:pt x="88360" y="3056351"/>
                </a:moveTo>
                <a:cubicBezTo>
                  <a:pt x="84185" y="3006247"/>
                  <a:pt x="81709" y="2955972"/>
                  <a:pt x="75834" y="2906039"/>
                </a:cubicBezTo>
                <a:cubicBezTo>
                  <a:pt x="73346" y="2884895"/>
                  <a:pt x="68095" y="2864154"/>
                  <a:pt x="63308" y="2843409"/>
                </a:cubicBezTo>
                <a:cubicBezTo>
                  <a:pt x="55566" y="2809860"/>
                  <a:pt x="46607" y="2776603"/>
                  <a:pt x="38256" y="2743200"/>
                </a:cubicBezTo>
                <a:cubicBezTo>
                  <a:pt x="22528" y="2680288"/>
                  <a:pt x="31174" y="2709427"/>
                  <a:pt x="13204" y="2655518"/>
                </a:cubicBezTo>
                <a:cubicBezTo>
                  <a:pt x="3305" y="2497137"/>
                  <a:pt x="-10755" y="2401885"/>
                  <a:pt x="13204" y="2242159"/>
                </a:cubicBezTo>
                <a:cubicBezTo>
                  <a:pt x="15437" y="2227271"/>
                  <a:pt x="31523" y="2218046"/>
                  <a:pt x="38256" y="2204581"/>
                </a:cubicBezTo>
                <a:cubicBezTo>
                  <a:pt x="44161" y="2192771"/>
                  <a:pt x="45581" y="2179139"/>
                  <a:pt x="50782" y="2167003"/>
                </a:cubicBezTo>
                <a:cubicBezTo>
                  <a:pt x="58138" y="2149840"/>
                  <a:pt x="68478" y="2134062"/>
                  <a:pt x="75834" y="2116899"/>
                </a:cubicBezTo>
                <a:cubicBezTo>
                  <a:pt x="93014" y="2076813"/>
                  <a:pt x="89123" y="2063744"/>
                  <a:pt x="100886" y="2016691"/>
                </a:cubicBezTo>
                <a:cubicBezTo>
                  <a:pt x="116439" y="1954481"/>
                  <a:pt x="111578" y="2000706"/>
                  <a:pt x="138464" y="1929009"/>
                </a:cubicBezTo>
                <a:cubicBezTo>
                  <a:pt x="144509" y="1912890"/>
                  <a:pt x="146261" y="1895458"/>
                  <a:pt x="150990" y="1878905"/>
                </a:cubicBezTo>
                <a:cubicBezTo>
                  <a:pt x="154617" y="1866209"/>
                  <a:pt x="159889" y="1854023"/>
                  <a:pt x="163516" y="1841327"/>
                </a:cubicBezTo>
                <a:cubicBezTo>
                  <a:pt x="194973" y="1731228"/>
                  <a:pt x="158535" y="1843743"/>
                  <a:pt x="188568" y="1753644"/>
                </a:cubicBezTo>
                <a:cubicBezTo>
                  <a:pt x="168846" y="1576150"/>
                  <a:pt x="187623" y="1699286"/>
                  <a:pt x="163516" y="1590806"/>
                </a:cubicBezTo>
                <a:cubicBezTo>
                  <a:pt x="158898" y="1570023"/>
                  <a:pt x="156592" y="1548716"/>
                  <a:pt x="150990" y="1528176"/>
                </a:cubicBezTo>
                <a:cubicBezTo>
                  <a:pt x="144042" y="1502699"/>
                  <a:pt x="125938" y="1453020"/>
                  <a:pt x="125938" y="1453020"/>
                </a:cubicBezTo>
                <a:cubicBezTo>
                  <a:pt x="107209" y="685150"/>
                  <a:pt x="143497" y="1187623"/>
                  <a:pt x="75834" y="713984"/>
                </a:cubicBezTo>
                <a:cubicBezTo>
                  <a:pt x="67483" y="655529"/>
                  <a:pt x="62362" y="596521"/>
                  <a:pt x="50782" y="538620"/>
                </a:cubicBezTo>
                <a:cubicBezTo>
                  <a:pt x="46607" y="517743"/>
                  <a:pt x="41756" y="496990"/>
                  <a:pt x="38256" y="475990"/>
                </a:cubicBezTo>
                <a:cubicBezTo>
                  <a:pt x="19065" y="360843"/>
                  <a:pt x="37212" y="422753"/>
                  <a:pt x="13204" y="350729"/>
                </a:cubicBezTo>
                <a:cubicBezTo>
                  <a:pt x="8874" y="233825"/>
                  <a:pt x="678" y="116984"/>
                  <a:pt x="678" y="0"/>
                </a:cubicBezTo>
              </a:path>
            </a:pathLst>
          </a:custGeom>
          <a:noFill/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ular Callout 13"/>
              <p:cNvSpPr/>
              <p:nvPr/>
            </p:nvSpPr>
            <p:spPr>
              <a:xfrm flipH="1">
                <a:off x="6312351" y="3390900"/>
                <a:ext cx="1864752" cy="963542"/>
              </a:xfrm>
              <a:prstGeom prst="wedgeRoundRectCallout">
                <a:avLst>
                  <a:gd name="adj1" fmla="val 69233"/>
                  <a:gd name="adj2" fmla="val 119092"/>
                  <a:gd name="adj3" fmla="val 16667"/>
                </a:avLst>
              </a:prstGeom>
              <a:noFill/>
              <a:ln w="15875" cap="rnd" cmpd="thickThin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dirty="0">
                    <a:solidFill>
                      <a:schemeClr val="tx1"/>
                    </a:solidFill>
                    <a:latin typeface="Karla" charset="0"/>
                    <a:ea typeface="Karla" charset="0"/>
                    <a:cs typeface="Karla" charset="0"/>
                  </a:rPr>
                  <a:t>Care este valoarea lui </a:t>
                </a:r>
                <a:r>
                  <a:rPr lang="en-US" i="1" dirty="0">
                    <a:solidFill>
                      <a:schemeClr val="tx1"/>
                    </a:solidFill>
                    <a:latin typeface="Karla" charset="0"/>
                    <a:ea typeface="Karla" charset="0"/>
                    <a:cs typeface="Karla" charset="0"/>
                  </a:rPr>
                  <a:t>y</a:t>
                </a:r>
                <a:r>
                  <a:rPr lang="en-US" dirty="0">
                    <a:solidFill>
                      <a:schemeClr val="tx1"/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dirty="0">
                    <a:solidFill>
                      <a:schemeClr val="tx1"/>
                    </a:solidFill>
                    <a:latin typeface="Karla" charset="0"/>
                    <a:ea typeface="Karla" charset="0"/>
                    <a:cs typeface="Karla" charset="0"/>
                  </a:rPr>
                  <a:t>p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entru</m:t>
                    </m:r>
                    <m:r>
                      <a:rPr lang="ro-RO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acest</m:t>
                    </m:r>
                    <m:r>
                      <a:rPr lang="ro-RO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Karla" charset="0"/>
                    <a:ea typeface="Karla" charset="0"/>
                    <a:cs typeface="Karl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Rounded Rectangular Callou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12351" y="3390900"/>
                <a:ext cx="1864752" cy="963542"/>
              </a:xfrm>
              <a:prstGeom prst="wedgeRoundRectCallout">
                <a:avLst>
                  <a:gd name="adj1" fmla="val 69233"/>
                  <a:gd name="adj2" fmla="val 119092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 w="15875" cap="rnd" cmpd="thickThin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1190" y="956458"/>
                <a:ext cx="2774799" cy="482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um</m:t>
                    </m:r>
                    <m: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s</m:t>
                    </m:r>
                    <m: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ă </m:t>
                    </m:r>
                    <m:r>
                      <m:rPr>
                        <m:sty m:val="p"/>
                      </m:rP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g</m:t>
                    </m:r>
                    <m: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ă</m:t>
                    </m:r>
                    <m:r>
                      <m:rPr>
                        <m:sty m:val="p"/>
                      </m:rP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sim</m:t>
                    </m:r>
                    <m:r>
                      <a:rPr lang="ro-RO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?</m:t>
                    </m:r>
                  </m:oMath>
                </a14:m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90" y="956458"/>
                <a:ext cx="2774799" cy="482440"/>
              </a:xfrm>
              <a:prstGeom prst="rect">
                <a:avLst/>
              </a:prstGeom>
              <a:blipFill>
                <a:blip r:embed="rId4"/>
                <a:stretch>
                  <a:fillRect l="-3289" t="-5063" b="-29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nector 2"/>
          <p:cNvSpPr/>
          <p:nvPr/>
        </p:nvSpPr>
        <p:spPr>
          <a:xfrm flipH="1">
            <a:off x="5773125" y="5071017"/>
            <a:ext cx="91440" cy="9144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80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  <a:r>
              <a:rPr lang="ro-RO" dirty="0"/>
              <a:t> </a:t>
            </a:r>
            <a:r>
              <a:rPr lang="en-US" dirty="0"/>
              <a:t>Statistic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12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61190" y="956458"/>
                <a:ext cx="2774799" cy="482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um</m:t>
                    </m:r>
                    <m:r>
                      <a:rPr lang="ro-RO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s</m:t>
                    </m:r>
                    <m:r>
                      <a:rPr lang="ro-RO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ă </m:t>
                    </m:r>
                    <m:r>
                      <m:rPr>
                        <m:sty m:val="p"/>
                      </m:rPr>
                      <a:rPr lang="ro-RO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g</m:t>
                    </m:r>
                    <m:r>
                      <a:rPr lang="ro-RO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ă</m:t>
                    </m:r>
                    <m:r>
                      <m:rPr>
                        <m:sty m:val="p"/>
                      </m:rPr>
                      <a:rPr lang="ro-RO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sim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?</m:t>
                    </m:r>
                  </m:oMath>
                </a14:m>
                <a:endParaRPr lang="en-US" sz="2400" dirty="0"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90" y="956458"/>
                <a:ext cx="2774799" cy="482440"/>
              </a:xfrm>
              <a:prstGeom prst="rect">
                <a:avLst/>
              </a:prstGeom>
              <a:blipFill>
                <a:blip r:embed="rId2"/>
                <a:stretch>
                  <a:fillRect l="-3289" t="-5063" b="-29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7013897" y="1979112"/>
            <a:ext cx="45719" cy="3118981"/>
          </a:xfrm>
          <a:custGeom>
            <a:avLst/>
            <a:gdLst>
              <a:gd name="connsiteX0" fmla="*/ 88360 w 188568"/>
              <a:gd name="connsiteY0" fmla="*/ 3056351 h 3056351"/>
              <a:gd name="connsiteX1" fmla="*/ 75834 w 188568"/>
              <a:gd name="connsiteY1" fmla="*/ 2906039 h 3056351"/>
              <a:gd name="connsiteX2" fmla="*/ 63308 w 188568"/>
              <a:gd name="connsiteY2" fmla="*/ 2843409 h 3056351"/>
              <a:gd name="connsiteX3" fmla="*/ 38256 w 188568"/>
              <a:gd name="connsiteY3" fmla="*/ 2743200 h 3056351"/>
              <a:gd name="connsiteX4" fmla="*/ 13204 w 188568"/>
              <a:gd name="connsiteY4" fmla="*/ 2655518 h 3056351"/>
              <a:gd name="connsiteX5" fmla="*/ 13204 w 188568"/>
              <a:gd name="connsiteY5" fmla="*/ 2242159 h 3056351"/>
              <a:gd name="connsiteX6" fmla="*/ 38256 w 188568"/>
              <a:gd name="connsiteY6" fmla="*/ 2204581 h 3056351"/>
              <a:gd name="connsiteX7" fmla="*/ 50782 w 188568"/>
              <a:gd name="connsiteY7" fmla="*/ 2167003 h 3056351"/>
              <a:gd name="connsiteX8" fmla="*/ 75834 w 188568"/>
              <a:gd name="connsiteY8" fmla="*/ 2116899 h 3056351"/>
              <a:gd name="connsiteX9" fmla="*/ 100886 w 188568"/>
              <a:gd name="connsiteY9" fmla="*/ 2016691 h 3056351"/>
              <a:gd name="connsiteX10" fmla="*/ 138464 w 188568"/>
              <a:gd name="connsiteY10" fmla="*/ 1929009 h 3056351"/>
              <a:gd name="connsiteX11" fmla="*/ 150990 w 188568"/>
              <a:gd name="connsiteY11" fmla="*/ 1878905 h 3056351"/>
              <a:gd name="connsiteX12" fmla="*/ 163516 w 188568"/>
              <a:gd name="connsiteY12" fmla="*/ 1841327 h 3056351"/>
              <a:gd name="connsiteX13" fmla="*/ 188568 w 188568"/>
              <a:gd name="connsiteY13" fmla="*/ 1753644 h 3056351"/>
              <a:gd name="connsiteX14" fmla="*/ 163516 w 188568"/>
              <a:gd name="connsiteY14" fmla="*/ 1590806 h 3056351"/>
              <a:gd name="connsiteX15" fmla="*/ 150990 w 188568"/>
              <a:gd name="connsiteY15" fmla="*/ 1528176 h 3056351"/>
              <a:gd name="connsiteX16" fmla="*/ 125938 w 188568"/>
              <a:gd name="connsiteY16" fmla="*/ 1453020 h 3056351"/>
              <a:gd name="connsiteX17" fmla="*/ 75834 w 188568"/>
              <a:gd name="connsiteY17" fmla="*/ 713984 h 3056351"/>
              <a:gd name="connsiteX18" fmla="*/ 50782 w 188568"/>
              <a:gd name="connsiteY18" fmla="*/ 538620 h 3056351"/>
              <a:gd name="connsiteX19" fmla="*/ 38256 w 188568"/>
              <a:gd name="connsiteY19" fmla="*/ 475990 h 3056351"/>
              <a:gd name="connsiteX20" fmla="*/ 13204 w 188568"/>
              <a:gd name="connsiteY20" fmla="*/ 350729 h 3056351"/>
              <a:gd name="connsiteX21" fmla="*/ 678 w 188568"/>
              <a:gd name="connsiteY21" fmla="*/ 0 h 305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8568" h="3056351">
                <a:moveTo>
                  <a:pt x="88360" y="3056351"/>
                </a:moveTo>
                <a:cubicBezTo>
                  <a:pt x="84185" y="3006247"/>
                  <a:pt x="81709" y="2955972"/>
                  <a:pt x="75834" y="2906039"/>
                </a:cubicBezTo>
                <a:cubicBezTo>
                  <a:pt x="73346" y="2884895"/>
                  <a:pt x="68095" y="2864154"/>
                  <a:pt x="63308" y="2843409"/>
                </a:cubicBezTo>
                <a:cubicBezTo>
                  <a:pt x="55566" y="2809860"/>
                  <a:pt x="46607" y="2776603"/>
                  <a:pt x="38256" y="2743200"/>
                </a:cubicBezTo>
                <a:cubicBezTo>
                  <a:pt x="22528" y="2680288"/>
                  <a:pt x="31174" y="2709427"/>
                  <a:pt x="13204" y="2655518"/>
                </a:cubicBezTo>
                <a:cubicBezTo>
                  <a:pt x="3305" y="2497137"/>
                  <a:pt x="-10755" y="2401885"/>
                  <a:pt x="13204" y="2242159"/>
                </a:cubicBezTo>
                <a:cubicBezTo>
                  <a:pt x="15437" y="2227271"/>
                  <a:pt x="31523" y="2218046"/>
                  <a:pt x="38256" y="2204581"/>
                </a:cubicBezTo>
                <a:cubicBezTo>
                  <a:pt x="44161" y="2192771"/>
                  <a:pt x="45581" y="2179139"/>
                  <a:pt x="50782" y="2167003"/>
                </a:cubicBezTo>
                <a:cubicBezTo>
                  <a:pt x="58138" y="2149840"/>
                  <a:pt x="68478" y="2134062"/>
                  <a:pt x="75834" y="2116899"/>
                </a:cubicBezTo>
                <a:cubicBezTo>
                  <a:pt x="93014" y="2076813"/>
                  <a:pt x="89123" y="2063744"/>
                  <a:pt x="100886" y="2016691"/>
                </a:cubicBezTo>
                <a:cubicBezTo>
                  <a:pt x="116439" y="1954481"/>
                  <a:pt x="111578" y="2000706"/>
                  <a:pt x="138464" y="1929009"/>
                </a:cubicBezTo>
                <a:cubicBezTo>
                  <a:pt x="144509" y="1912890"/>
                  <a:pt x="146261" y="1895458"/>
                  <a:pt x="150990" y="1878905"/>
                </a:cubicBezTo>
                <a:cubicBezTo>
                  <a:pt x="154617" y="1866209"/>
                  <a:pt x="159889" y="1854023"/>
                  <a:pt x="163516" y="1841327"/>
                </a:cubicBezTo>
                <a:cubicBezTo>
                  <a:pt x="194973" y="1731228"/>
                  <a:pt x="158535" y="1843743"/>
                  <a:pt x="188568" y="1753644"/>
                </a:cubicBezTo>
                <a:cubicBezTo>
                  <a:pt x="168846" y="1576150"/>
                  <a:pt x="187623" y="1699286"/>
                  <a:pt x="163516" y="1590806"/>
                </a:cubicBezTo>
                <a:cubicBezTo>
                  <a:pt x="158898" y="1570023"/>
                  <a:pt x="156592" y="1548716"/>
                  <a:pt x="150990" y="1528176"/>
                </a:cubicBezTo>
                <a:cubicBezTo>
                  <a:pt x="144042" y="1502699"/>
                  <a:pt x="125938" y="1453020"/>
                  <a:pt x="125938" y="1453020"/>
                </a:cubicBezTo>
                <a:cubicBezTo>
                  <a:pt x="107209" y="685150"/>
                  <a:pt x="143497" y="1187623"/>
                  <a:pt x="75834" y="713984"/>
                </a:cubicBezTo>
                <a:cubicBezTo>
                  <a:pt x="67483" y="655529"/>
                  <a:pt x="62362" y="596521"/>
                  <a:pt x="50782" y="538620"/>
                </a:cubicBezTo>
                <a:cubicBezTo>
                  <a:pt x="46607" y="517743"/>
                  <a:pt x="41756" y="496990"/>
                  <a:pt x="38256" y="475990"/>
                </a:cubicBezTo>
                <a:cubicBezTo>
                  <a:pt x="19065" y="360843"/>
                  <a:pt x="37212" y="422753"/>
                  <a:pt x="13204" y="350729"/>
                </a:cubicBezTo>
                <a:cubicBezTo>
                  <a:pt x="8874" y="233825"/>
                  <a:pt x="678" y="116984"/>
                  <a:pt x="678" y="0"/>
                </a:cubicBezTo>
              </a:path>
            </a:pathLst>
          </a:custGeom>
          <a:noFill/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ular Callout 13"/>
          <p:cNvSpPr/>
          <p:nvPr/>
        </p:nvSpPr>
        <p:spPr>
          <a:xfrm flipH="1">
            <a:off x="9133095" y="3831369"/>
            <a:ext cx="1351190" cy="523073"/>
          </a:xfrm>
          <a:prstGeom prst="wedgeRoundRectCallout">
            <a:avLst>
              <a:gd name="adj1" fmla="val 202113"/>
              <a:gd name="adj2" fmla="val 185117"/>
              <a:gd name="adj3" fmla="val 16667"/>
            </a:avLst>
          </a:prstGeom>
          <a:noFill/>
          <a:ln w="15875" cap="rnd" cmpd="thickThin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  <a:latin typeface="Karla" charset="0"/>
                <a:ea typeface="Karla" charset="0"/>
                <a:cs typeface="Karla" charset="0"/>
              </a:rPr>
              <a:t>Sau acesta</a:t>
            </a:r>
            <a:r>
              <a:rPr lang="en-US" dirty="0">
                <a:solidFill>
                  <a:schemeClr val="tx1"/>
                </a:solidFill>
                <a:latin typeface="Karla" charset="0"/>
                <a:ea typeface="Karla" charset="0"/>
                <a:cs typeface="Karla" charset="0"/>
              </a:rPr>
              <a:t>?</a:t>
            </a:r>
          </a:p>
        </p:txBody>
      </p:sp>
      <p:sp>
        <p:nvSpPr>
          <p:cNvPr id="10" name="Connector 9"/>
          <p:cNvSpPr/>
          <p:nvPr/>
        </p:nvSpPr>
        <p:spPr>
          <a:xfrm flipH="1">
            <a:off x="6991036" y="5076514"/>
            <a:ext cx="91440" cy="9144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73F545-A6FE-664D-9AAC-AE47A9394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1" y="1461334"/>
            <a:ext cx="6857999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11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E446D22-A807-1A44-A630-F0243851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1" y="1461334"/>
            <a:ext cx="6857999" cy="4571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  <a:r>
              <a:rPr lang="ro-RO" dirty="0"/>
              <a:t> </a:t>
            </a:r>
            <a:r>
              <a:rPr lang="en-US" dirty="0"/>
              <a:t>Statistic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06799" y="6313606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55958" y="902522"/>
                <a:ext cx="9580251" cy="615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O idee simplă ar fi să facem media </a:t>
                </a:r>
                <a:r>
                  <a:rPr lang="ro-RO" sz="2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tuturor valorilor </a:t>
                </a:r>
                <a:r>
                  <a:rPr lang="en-US" sz="24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y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=</m:t>
                    </m:r>
                    <m:f>
                      <m:fPr>
                        <m:ctrlPr>
                          <a:rPr lang="mr-IN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58" y="902522"/>
                <a:ext cx="9580251" cy="615874"/>
              </a:xfrm>
              <a:prstGeom prst="rect">
                <a:avLst/>
              </a:prstGeom>
              <a:blipFill>
                <a:blip r:embed="rId3"/>
                <a:stretch>
                  <a:fillRect l="-1018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cxnSpLocks/>
          </p:cNvCxnSpPr>
          <p:nvPr/>
        </p:nvCxnSpPr>
        <p:spPr>
          <a:xfrm flipH="1">
            <a:off x="7302674" y="1866709"/>
            <a:ext cx="1587177" cy="1765839"/>
          </a:xfrm>
          <a:prstGeom prst="straightConnector1">
            <a:avLst/>
          </a:prstGeom>
          <a:ln>
            <a:solidFill>
              <a:schemeClr val="tx2"/>
            </a:solidFill>
            <a:headEnd w="lg" len="lg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eft Brace 12"/>
          <p:cNvSpPr/>
          <p:nvPr/>
        </p:nvSpPr>
        <p:spPr>
          <a:xfrm rot="16200000">
            <a:off x="8713528" y="747755"/>
            <a:ext cx="352646" cy="1770518"/>
          </a:xfrm>
          <a:prstGeom prst="leftBrace">
            <a:avLst/>
          </a:prstGeom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7256955" y="1957841"/>
            <a:ext cx="45719" cy="3118981"/>
          </a:xfrm>
          <a:custGeom>
            <a:avLst/>
            <a:gdLst>
              <a:gd name="connsiteX0" fmla="*/ 88360 w 188568"/>
              <a:gd name="connsiteY0" fmla="*/ 3056351 h 3056351"/>
              <a:gd name="connsiteX1" fmla="*/ 75834 w 188568"/>
              <a:gd name="connsiteY1" fmla="*/ 2906039 h 3056351"/>
              <a:gd name="connsiteX2" fmla="*/ 63308 w 188568"/>
              <a:gd name="connsiteY2" fmla="*/ 2843409 h 3056351"/>
              <a:gd name="connsiteX3" fmla="*/ 38256 w 188568"/>
              <a:gd name="connsiteY3" fmla="*/ 2743200 h 3056351"/>
              <a:gd name="connsiteX4" fmla="*/ 13204 w 188568"/>
              <a:gd name="connsiteY4" fmla="*/ 2655518 h 3056351"/>
              <a:gd name="connsiteX5" fmla="*/ 13204 w 188568"/>
              <a:gd name="connsiteY5" fmla="*/ 2242159 h 3056351"/>
              <a:gd name="connsiteX6" fmla="*/ 38256 w 188568"/>
              <a:gd name="connsiteY6" fmla="*/ 2204581 h 3056351"/>
              <a:gd name="connsiteX7" fmla="*/ 50782 w 188568"/>
              <a:gd name="connsiteY7" fmla="*/ 2167003 h 3056351"/>
              <a:gd name="connsiteX8" fmla="*/ 75834 w 188568"/>
              <a:gd name="connsiteY8" fmla="*/ 2116899 h 3056351"/>
              <a:gd name="connsiteX9" fmla="*/ 100886 w 188568"/>
              <a:gd name="connsiteY9" fmla="*/ 2016691 h 3056351"/>
              <a:gd name="connsiteX10" fmla="*/ 138464 w 188568"/>
              <a:gd name="connsiteY10" fmla="*/ 1929009 h 3056351"/>
              <a:gd name="connsiteX11" fmla="*/ 150990 w 188568"/>
              <a:gd name="connsiteY11" fmla="*/ 1878905 h 3056351"/>
              <a:gd name="connsiteX12" fmla="*/ 163516 w 188568"/>
              <a:gd name="connsiteY12" fmla="*/ 1841327 h 3056351"/>
              <a:gd name="connsiteX13" fmla="*/ 188568 w 188568"/>
              <a:gd name="connsiteY13" fmla="*/ 1753644 h 3056351"/>
              <a:gd name="connsiteX14" fmla="*/ 163516 w 188568"/>
              <a:gd name="connsiteY14" fmla="*/ 1590806 h 3056351"/>
              <a:gd name="connsiteX15" fmla="*/ 150990 w 188568"/>
              <a:gd name="connsiteY15" fmla="*/ 1528176 h 3056351"/>
              <a:gd name="connsiteX16" fmla="*/ 125938 w 188568"/>
              <a:gd name="connsiteY16" fmla="*/ 1453020 h 3056351"/>
              <a:gd name="connsiteX17" fmla="*/ 75834 w 188568"/>
              <a:gd name="connsiteY17" fmla="*/ 713984 h 3056351"/>
              <a:gd name="connsiteX18" fmla="*/ 50782 w 188568"/>
              <a:gd name="connsiteY18" fmla="*/ 538620 h 3056351"/>
              <a:gd name="connsiteX19" fmla="*/ 38256 w 188568"/>
              <a:gd name="connsiteY19" fmla="*/ 475990 h 3056351"/>
              <a:gd name="connsiteX20" fmla="*/ 13204 w 188568"/>
              <a:gd name="connsiteY20" fmla="*/ 350729 h 3056351"/>
              <a:gd name="connsiteX21" fmla="*/ 678 w 188568"/>
              <a:gd name="connsiteY21" fmla="*/ 0 h 305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8568" h="3056351">
                <a:moveTo>
                  <a:pt x="88360" y="3056351"/>
                </a:moveTo>
                <a:cubicBezTo>
                  <a:pt x="84185" y="3006247"/>
                  <a:pt x="81709" y="2955972"/>
                  <a:pt x="75834" y="2906039"/>
                </a:cubicBezTo>
                <a:cubicBezTo>
                  <a:pt x="73346" y="2884895"/>
                  <a:pt x="68095" y="2864154"/>
                  <a:pt x="63308" y="2843409"/>
                </a:cubicBezTo>
                <a:cubicBezTo>
                  <a:pt x="55566" y="2809860"/>
                  <a:pt x="46607" y="2776603"/>
                  <a:pt x="38256" y="2743200"/>
                </a:cubicBezTo>
                <a:cubicBezTo>
                  <a:pt x="22528" y="2680288"/>
                  <a:pt x="31174" y="2709427"/>
                  <a:pt x="13204" y="2655518"/>
                </a:cubicBezTo>
                <a:cubicBezTo>
                  <a:pt x="3305" y="2497137"/>
                  <a:pt x="-10755" y="2401885"/>
                  <a:pt x="13204" y="2242159"/>
                </a:cubicBezTo>
                <a:cubicBezTo>
                  <a:pt x="15437" y="2227271"/>
                  <a:pt x="31523" y="2218046"/>
                  <a:pt x="38256" y="2204581"/>
                </a:cubicBezTo>
                <a:cubicBezTo>
                  <a:pt x="44161" y="2192771"/>
                  <a:pt x="45581" y="2179139"/>
                  <a:pt x="50782" y="2167003"/>
                </a:cubicBezTo>
                <a:cubicBezTo>
                  <a:pt x="58138" y="2149840"/>
                  <a:pt x="68478" y="2134062"/>
                  <a:pt x="75834" y="2116899"/>
                </a:cubicBezTo>
                <a:cubicBezTo>
                  <a:pt x="93014" y="2076813"/>
                  <a:pt x="89123" y="2063744"/>
                  <a:pt x="100886" y="2016691"/>
                </a:cubicBezTo>
                <a:cubicBezTo>
                  <a:pt x="116439" y="1954481"/>
                  <a:pt x="111578" y="2000706"/>
                  <a:pt x="138464" y="1929009"/>
                </a:cubicBezTo>
                <a:cubicBezTo>
                  <a:pt x="144509" y="1912890"/>
                  <a:pt x="146261" y="1895458"/>
                  <a:pt x="150990" y="1878905"/>
                </a:cubicBezTo>
                <a:cubicBezTo>
                  <a:pt x="154617" y="1866209"/>
                  <a:pt x="159889" y="1854023"/>
                  <a:pt x="163516" y="1841327"/>
                </a:cubicBezTo>
                <a:cubicBezTo>
                  <a:pt x="194973" y="1731228"/>
                  <a:pt x="158535" y="1843743"/>
                  <a:pt x="188568" y="1753644"/>
                </a:cubicBezTo>
                <a:cubicBezTo>
                  <a:pt x="168846" y="1576150"/>
                  <a:pt x="187623" y="1699286"/>
                  <a:pt x="163516" y="1590806"/>
                </a:cubicBezTo>
                <a:cubicBezTo>
                  <a:pt x="158898" y="1570023"/>
                  <a:pt x="156592" y="1548716"/>
                  <a:pt x="150990" y="1528176"/>
                </a:cubicBezTo>
                <a:cubicBezTo>
                  <a:pt x="144042" y="1502699"/>
                  <a:pt x="125938" y="1453020"/>
                  <a:pt x="125938" y="1453020"/>
                </a:cubicBezTo>
                <a:cubicBezTo>
                  <a:pt x="107209" y="685150"/>
                  <a:pt x="143497" y="1187623"/>
                  <a:pt x="75834" y="713984"/>
                </a:cubicBezTo>
                <a:cubicBezTo>
                  <a:pt x="67483" y="655529"/>
                  <a:pt x="62362" y="596521"/>
                  <a:pt x="50782" y="538620"/>
                </a:cubicBezTo>
                <a:cubicBezTo>
                  <a:pt x="46607" y="517743"/>
                  <a:pt x="41756" y="496990"/>
                  <a:pt x="38256" y="475990"/>
                </a:cubicBezTo>
                <a:cubicBezTo>
                  <a:pt x="19065" y="360843"/>
                  <a:pt x="37212" y="422753"/>
                  <a:pt x="13204" y="350729"/>
                </a:cubicBezTo>
                <a:cubicBezTo>
                  <a:pt x="8874" y="233825"/>
                  <a:pt x="678" y="116984"/>
                  <a:pt x="678" y="0"/>
                </a:cubicBezTo>
              </a:path>
            </a:pathLst>
          </a:custGeom>
          <a:noFill/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nector 11"/>
          <p:cNvSpPr/>
          <p:nvPr/>
        </p:nvSpPr>
        <p:spPr>
          <a:xfrm flipH="1">
            <a:off x="7226571" y="5076514"/>
            <a:ext cx="91440" cy="91440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017818" y="3632548"/>
            <a:ext cx="4765964" cy="0"/>
          </a:xfrm>
          <a:prstGeom prst="line">
            <a:avLst/>
          </a:prstGeom>
          <a:ln w="22225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4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Predic</a:t>
            </a:r>
            <a:r>
              <a:rPr lang="ro-RO" dirty="0"/>
              <a:t>ție</a:t>
            </a:r>
            <a:r>
              <a:rPr lang="en-US" dirty="0"/>
              <a:t> vs. </a:t>
            </a:r>
            <a:r>
              <a:rPr lang="en-US" dirty="0" err="1"/>
              <a:t>Estima</a:t>
            </a:r>
            <a:r>
              <a:rPr lang="ro-RO" dirty="0"/>
              <a:t>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3414" y="1177758"/>
                <a:ext cx="11009294" cy="5035152"/>
              </a:xfrm>
            </p:spPr>
            <p:txBody>
              <a:bodyPr/>
              <a:lstStyle/>
              <a:p>
                <a:pPr>
                  <a:spcAft>
                    <a:spcPts val="1800"/>
                  </a:spcAft>
                </a:pP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Pentru unele probleme, ceea ce este important este obținerea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lui</m:t>
                    </m:r>
                    <m: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,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stimarea</m:t>
                    </m:r>
                    <m: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lui</m:t>
                    </m:r>
                    <m: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.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Aceste probleme se numesc probleme de </a:t>
                </a:r>
                <a:r>
                  <a:rPr lang="en-US" sz="2400" b="1" i="1" dirty="0" err="1">
                    <a:latin typeface="Karla" charset="0"/>
                    <a:ea typeface="Karla" charset="0"/>
                    <a:cs typeface="Karla" charset="0"/>
                  </a:rPr>
                  <a:t>inferen</a:t>
                </a:r>
                <a:r>
                  <a:rPr lang="ro-RO" sz="2400" b="1" i="1" dirty="0">
                    <a:latin typeface="Karla" charset="0"/>
                    <a:ea typeface="Karla" charset="0"/>
                    <a:cs typeface="Karla" charset="0"/>
                  </a:rPr>
                  <a:t>ță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. </a:t>
                </a:r>
              </a:p>
              <a:p>
                <a:pPr>
                  <a:spcAft>
                    <a:spcPts val="1800"/>
                  </a:spcAft>
                </a:pPr>
                <a:r>
                  <a:rPr lang="da-DK" sz="2400" dirty="0">
                    <a:latin typeface="Karla" charset="0"/>
                    <a:ea typeface="Karla" charset="0"/>
                    <a:cs typeface="Karla" charset="0"/>
                  </a:rPr>
                  <a:t>Când folosim un set de măsurători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,1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, 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pentru a prezice o valoare pentru variabila de răspuns,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notăm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b="1" i="1" dirty="0">
                    <a:latin typeface="Karla" charset="0"/>
                    <a:ea typeface="Karla" charset="0"/>
                    <a:cs typeface="Karla" charset="0"/>
                  </a:rPr>
                  <a:t>pre</a:t>
                </a:r>
                <a:r>
                  <a:rPr lang="ro-RO" sz="2400" b="1" i="1" dirty="0">
                    <a:latin typeface="Karla" charset="0"/>
                    <a:ea typeface="Karla" charset="0"/>
                    <a:cs typeface="Karla" charset="0"/>
                  </a:rPr>
                  <a:t>dicția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cu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:</a:t>
                </a:r>
              </a:p>
              <a:p>
                <a:pPr marL="274320">
                  <a:spcBef>
                    <a:spcPts val="24"/>
                  </a:spcBef>
                  <a:spcAft>
                    <a:spcPts val="1800"/>
                  </a:spcAft>
                </a:pP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						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,1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, 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𝑝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.</a:t>
                </a:r>
                <a:endParaRPr lang="en-US" sz="2400" i="1" dirty="0">
                  <a:latin typeface="Karla" charset="0"/>
                  <a:ea typeface="Karla" charset="0"/>
                  <a:cs typeface="Karla" charset="0"/>
                </a:endParaRPr>
              </a:p>
              <a:p>
                <a:pPr>
                  <a:spcBef>
                    <a:spcPts val="3024"/>
                  </a:spcBef>
                  <a:spcAft>
                    <a:spcPts val="1800"/>
                  </a:spcAft>
                </a:pP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Pentru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alte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probleme, nu ne pasă de forma specifică a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lui</m:t>
                    </m:r>
                    <m: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, </a:t>
                </a:r>
                <a:r>
                  <a:rPr lang="pt-BR" sz="2400" dirty="0">
                    <a:latin typeface="Karla" charset="0"/>
                    <a:ea typeface="Karla" charset="0"/>
                    <a:cs typeface="Karla" charset="0"/>
                  </a:rPr>
                  <a:t>vrem doar să ne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asigurăm că</a:t>
                </a:r>
                <a:r>
                  <a:rPr lang="pt-BR" sz="2400" dirty="0">
                    <a:latin typeface="Karla" charset="0"/>
                    <a:ea typeface="Karla" charset="0"/>
                    <a:cs typeface="Karla" charset="0"/>
                  </a:rPr>
                  <a:t> predicțiile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sunt cât se poate de apropiate de valorile observate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.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Aceste probleme se numesc probleme de </a:t>
                </a:r>
                <a:r>
                  <a:rPr lang="ro-RO" sz="2400" b="1" i="1" dirty="0">
                    <a:latin typeface="Karla" charset="0"/>
                    <a:ea typeface="Karla" charset="0"/>
                    <a:cs typeface="Karla" charset="0"/>
                  </a:rPr>
                  <a:t>predicție/prognoză</a:t>
                </a:r>
                <a:r>
                  <a:rPr lang="en-US" sz="2400" b="1" i="1" dirty="0">
                    <a:latin typeface="Karla" charset="0"/>
                    <a:ea typeface="Karla" charset="0"/>
                    <a:cs typeface="Karl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3414" y="1177758"/>
                <a:ext cx="11009294" cy="5035152"/>
              </a:xfrm>
              <a:blipFill>
                <a:blip r:embed="rId2"/>
                <a:stretch>
                  <a:fillRect l="-886" t="-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48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FE446D22-A807-1A44-A630-F02438510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717" y="1509164"/>
            <a:ext cx="6857999" cy="4571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 Simplu de Predicție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0EA3D9C-71B1-4E91-9C5B-01C403505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15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40170" y="63788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D39162-75B0-0D4E-BD90-7F73BB12168F}"/>
              </a:ext>
            </a:extLst>
          </p:cNvPr>
          <p:cNvGrpSpPr/>
          <p:nvPr/>
        </p:nvGrpSpPr>
        <p:grpSpPr>
          <a:xfrm>
            <a:off x="7415886" y="1996406"/>
            <a:ext cx="4571159" cy="3559483"/>
            <a:chOff x="7428078" y="1948576"/>
            <a:chExt cx="4571159" cy="3559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9472486" y="1948576"/>
                  <a:ext cx="2526751" cy="9661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o-RO" dirty="0">
                      <a:ea typeface="Karla" charset="0"/>
                      <a:cs typeface="Karla" charset="0"/>
                    </a:rPr>
                    <a:t>C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are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ar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fi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un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bun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arla" charset="0"/>
                                  <a:cs typeface="Karla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Karla" charset="0"/>
                                  <a:cs typeface="Karla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  <m:t>𝑞</m:t>
                          </m:r>
                        </m:sub>
                      </m:sSub>
                    </m:oMath>
                  </a14:m>
                  <a:r>
                    <a:rPr lang="ro-RO" dirty="0">
                      <a:latin typeface="Karla" charset="0"/>
                      <a:ea typeface="Karla" charset="0"/>
                      <a:cs typeface="Karla" charset="0"/>
                    </a:rPr>
                    <a:t> p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entru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un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  <m:t> </m:t>
                          </m:r>
                        </m:sub>
                      </m:sSub>
                    </m:oMath>
                  </a14:m>
                  <a:r>
                    <a:rPr lang="en-US" dirty="0">
                      <a:latin typeface="Karla" charset="0"/>
                      <a:ea typeface="Karla" charset="0"/>
                      <a:cs typeface="Karla" charset="0"/>
                    </a:rPr>
                    <a:t>?</a:t>
                  </a:r>
                </a:p>
                <a:p>
                  <a:endParaRPr lang="en-US" dirty="0">
                    <a:latin typeface="Karla" charset="0"/>
                    <a:ea typeface="Karla" charset="0"/>
                    <a:cs typeface="Karla" charset="0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2486" y="1948576"/>
                  <a:ext cx="2526751" cy="966162"/>
                </a:xfrm>
                <a:prstGeom prst="rect">
                  <a:avLst/>
                </a:prstGeom>
                <a:blipFill>
                  <a:blip r:embed="rId4"/>
                  <a:stretch>
                    <a:fillRect l="-2174" t="-2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03A4D2B-2BEF-FC46-B8BE-CB2B553B5DF4}"/>
                </a:ext>
              </a:extLst>
            </p:cNvPr>
            <p:cNvGrpSpPr/>
            <p:nvPr/>
          </p:nvGrpSpPr>
          <p:grpSpPr>
            <a:xfrm>
              <a:off x="7428078" y="2018942"/>
              <a:ext cx="573106" cy="3489117"/>
              <a:chOff x="7428078" y="2018942"/>
              <a:chExt cx="573106" cy="3489117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FB94280D-BC2F-A747-A334-DCD560BD78EA}"/>
                  </a:ext>
                </a:extLst>
              </p:cNvPr>
              <p:cNvSpPr/>
              <p:nvPr/>
            </p:nvSpPr>
            <p:spPr>
              <a:xfrm>
                <a:off x="7628351" y="5035463"/>
                <a:ext cx="114130" cy="10972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14D6FD4-23DF-4546-8FA3-862622CEABB7}"/>
                  </a:ext>
                </a:extLst>
              </p:cNvPr>
              <p:cNvGrpSpPr/>
              <p:nvPr/>
            </p:nvGrpSpPr>
            <p:grpSpPr>
              <a:xfrm>
                <a:off x="7428078" y="2018942"/>
                <a:ext cx="573106" cy="3489117"/>
                <a:chOff x="7428078" y="2131956"/>
                <a:chExt cx="573106" cy="348911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0731E38F-93F2-A649-AC80-6DF519DB7D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8078" y="5130874"/>
                      <a:ext cx="573106" cy="4901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Karla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 pitchFamily="2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charset="0"/>
                                    <a:ea typeface="Karla" pitchFamily="2" charset="0"/>
                                  </a:rPr>
                                  <m:t>𝑞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latin typeface="Karla" pitchFamily="2" charset="0"/>
                        <a:ea typeface="Karl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0731E38F-93F2-A649-AC80-6DF519DB7D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8078" y="5130874"/>
                      <a:ext cx="573106" cy="490199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 b="-617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" name="Freeform 5"/>
                <p:cNvSpPr/>
                <p:nvPr/>
              </p:nvSpPr>
              <p:spPr>
                <a:xfrm>
                  <a:off x="7665929" y="2131956"/>
                  <a:ext cx="50104" cy="3006247"/>
                </a:xfrm>
                <a:custGeom>
                  <a:avLst/>
                  <a:gdLst>
                    <a:gd name="connsiteX0" fmla="*/ 37578 w 50104"/>
                    <a:gd name="connsiteY0" fmla="*/ 3006247 h 3006247"/>
                    <a:gd name="connsiteX1" fmla="*/ 50104 w 50104"/>
                    <a:gd name="connsiteY1" fmla="*/ 814192 h 3006247"/>
                    <a:gd name="connsiteX2" fmla="*/ 37578 w 50104"/>
                    <a:gd name="connsiteY2" fmla="*/ 751562 h 3006247"/>
                    <a:gd name="connsiteX3" fmla="*/ 25052 w 50104"/>
                    <a:gd name="connsiteY3" fmla="*/ 613776 h 3006247"/>
                    <a:gd name="connsiteX4" fmla="*/ 12526 w 50104"/>
                    <a:gd name="connsiteY4" fmla="*/ 513568 h 3006247"/>
                    <a:gd name="connsiteX5" fmla="*/ 0 w 50104"/>
                    <a:gd name="connsiteY5" fmla="*/ 162839 h 3006247"/>
                    <a:gd name="connsiteX6" fmla="*/ 12526 w 50104"/>
                    <a:gd name="connsiteY6" fmla="*/ 112735 h 3006247"/>
                    <a:gd name="connsiteX7" fmla="*/ 12526 w 50104"/>
                    <a:gd name="connsiteY7" fmla="*/ 0 h 3006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104" h="3006247">
                      <a:moveTo>
                        <a:pt x="37578" y="3006247"/>
                      </a:moveTo>
                      <a:cubicBezTo>
                        <a:pt x="41753" y="2275562"/>
                        <a:pt x="50104" y="1544889"/>
                        <a:pt x="50104" y="814192"/>
                      </a:cubicBezTo>
                      <a:cubicBezTo>
                        <a:pt x="50104" y="792902"/>
                        <a:pt x="40219" y="772688"/>
                        <a:pt x="37578" y="751562"/>
                      </a:cubicBezTo>
                      <a:cubicBezTo>
                        <a:pt x="31858" y="705800"/>
                        <a:pt x="29880" y="659641"/>
                        <a:pt x="25052" y="613776"/>
                      </a:cubicBezTo>
                      <a:cubicBezTo>
                        <a:pt x="21528" y="580298"/>
                        <a:pt x="16701" y="546971"/>
                        <a:pt x="12526" y="513568"/>
                      </a:cubicBezTo>
                      <a:cubicBezTo>
                        <a:pt x="8351" y="396658"/>
                        <a:pt x="0" y="279823"/>
                        <a:pt x="0" y="162839"/>
                      </a:cubicBezTo>
                      <a:cubicBezTo>
                        <a:pt x="0" y="145624"/>
                        <a:pt x="11206" y="129900"/>
                        <a:pt x="12526" y="112735"/>
                      </a:cubicBezTo>
                      <a:cubicBezTo>
                        <a:pt x="15408" y="75267"/>
                        <a:pt x="12526" y="37578"/>
                        <a:pt x="12526" y="0"/>
                      </a:cubicBezTo>
                    </a:path>
                  </a:pathLst>
                </a:custGeom>
                <a:solidFill>
                  <a:srgbClr val="F9F9F9"/>
                </a:solidFill>
                <a:effectLst>
                  <a:outerShdw blurRad="40000" dist="23000" dir="5400000" rotWithShape="0">
                    <a:schemeClr val="tx1">
                      <a:alpha val="35000"/>
                    </a:scheme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CF77CA-E6D2-0C4D-B979-24ED101EC170}"/>
              </a:ext>
            </a:extLst>
          </p:cNvPr>
          <p:cNvGrpSpPr/>
          <p:nvPr/>
        </p:nvGrpSpPr>
        <p:grpSpPr>
          <a:xfrm>
            <a:off x="7206836" y="3461251"/>
            <a:ext cx="4131913" cy="1374497"/>
            <a:chOff x="7219028" y="3413421"/>
            <a:chExt cx="4131913" cy="1374497"/>
          </a:xfrm>
        </p:grpSpPr>
        <p:sp>
          <p:nvSpPr>
            <p:cNvPr id="29" name="5-Point Star 28"/>
            <p:cNvSpPr/>
            <p:nvPr/>
          </p:nvSpPr>
          <p:spPr>
            <a:xfrm>
              <a:off x="7628351" y="3532484"/>
              <a:ext cx="200417" cy="221711"/>
            </a:xfrm>
            <a:prstGeom prst="star5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57C4E67-F7BA-1B4F-9CA5-15165EE834F1}"/>
                    </a:ext>
                  </a:extLst>
                </p:cNvPr>
                <p:cNvSpPr txBox="1"/>
                <p:nvPr/>
              </p:nvSpPr>
              <p:spPr>
                <a:xfrm>
                  <a:off x="9473183" y="4397170"/>
                  <a:ext cx="1877758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ea typeface="Karla" charset="0"/>
                    </a:rPr>
                    <a:t>Pre</a:t>
                  </a:r>
                  <a:r>
                    <a:rPr lang="ro-RO" dirty="0">
                      <a:ea typeface="Karla" charset="0"/>
                    </a:rPr>
                    <a:t>di</a:t>
                  </a:r>
                  <a:r>
                    <a:rPr lang="en-US" dirty="0">
                      <a:ea typeface="Karla" charset="0"/>
                    </a:rPr>
                    <a:t>c</a:t>
                  </a:r>
                  <a:r>
                    <a:rPr lang="ro-RO" dirty="0">
                      <a:ea typeface="Karla" charset="0"/>
                    </a:rPr>
                    <a:t>ția:</a:t>
                  </a:r>
                  <a:r>
                    <a:rPr lang="en-US" dirty="0">
                      <a:ea typeface="Karla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Karla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arla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Karla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charset="0"/>
                              <a:ea typeface="Karla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Karla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Karla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  <a:ea typeface="Karla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  <a:ea typeface="Karla" charset="0"/>
                            </a:rPr>
                            <m:t>𝑝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57C4E67-F7BA-1B4F-9CA5-15165EE83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3183" y="4397170"/>
                  <a:ext cx="1877758" cy="390748"/>
                </a:xfrm>
                <a:prstGeom prst="rect">
                  <a:avLst/>
                </a:prstGeom>
                <a:blipFill>
                  <a:blip r:embed="rId6"/>
                  <a:stretch>
                    <a:fillRect l="-2597" t="-6250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4DD8431-5EE5-D94C-BBAF-83030708D12D}"/>
                    </a:ext>
                  </a:extLst>
                </p:cNvPr>
                <p:cNvSpPr/>
                <p:nvPr/>
              </p:nvSpPr>
              <p:spPr>
                <a:xfrm>
                  <a:off x="7219028" y="3413421"/>
                  <a:ext cx="462755" cy="3907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Karla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charset="0"/>
                                    <a:ea typeface="Karla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4DD8431-5EE5-D94C-BBAF-83030708D1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9028" y="3413421"/>
                  <a:ext cx="462755" cy="39074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1563" r="-14474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040EF2-ACF6-A745-887C-84FC55FB1159}"/>
              </a:ext>
            </a:extLst>
          </p:cNvPr>
          <p:cNvGrpSpPr/>
          <p:nvPr/>
        </p:nvGrpSpPr>
        <p:grpSpPr>
          <a:xfrm>
            <a:off x="5495723" y="2747596"/>
            <a:ext cx="6060090" cy="1430651"/>
            <a:chOff x="5507915" y="2699766"/>
            <a:chExt cx="6060090" cy="14306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3996A04-9B10-CA47-858C-0C31F5B71CEE}"/>
                </a:ext>
              </a:extLst>
            </p:cNvPr>
            <p:cNvGrpSpPr/>
            <p:nvPr/>
          </p:nvGrpSpPr>
          <p:grpSpPr>
            <a:xfrm>
              <a:off x="6601216" y="2699766"/>
              <a:ext cx="4966789" cy="1221745"/>
              <a:chOff x="6601216" y="2781958"/>
              <a:chExt cx="4966789" cy="1221745"/>
            </a:xfrm>
          </p:grpSpPr>
          <p:cxnSp>
            <p:nvCxnSpPr>
              <p:cNvPr id="10" name="Straight Arrow Connector 9"/>
              <p:cNvCxnSpPr/>
              <p:nvPr/>
            </p:nvCxnSpPr>
            <p:spPr>
              <a:xfrm flipH="1">
                <a:off x="6601216" y="3167669"/>
                <a:ext cx="1114120" cy="0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7742481" y="3750554"/>
                <a:ext cx="474593" cy="0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719BBD0-1B95-AA48-9295-5FEB43688998}"/>
                      </a:ext>
                    </a:extLst>
                  </p:cNvPr>
                  <p:cNvSpPr txBox="1"/>
                  <p:nvPr/>
                </p:nvSpPr>
                <p:spPr>
                  <a:xfrm>
                    <a:off x="9041254" y="2781958"/>
                    <a:ext cx="2526751" cy="12217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1"/>
                    <a:r>
                      <a:rPr lang="en-US" dirty="0" err="1">
                        <a:latin typeface="Karla" charset="0"/>
                        <a:ea typeface="Karla" charset="0"/>
                        <a:cs typeface="Karla" charset="0"/>
                      </a:rPr>
                      <a:t>Găsi</a:t>
                    </a:r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m</a:t>
                    </a:r>
                    <a:r>
                      <a:rPr lang="en-US" dirty="0">
                        <a:latin typeface="Karla" charset="0"/>
                        <a:ea typeface="Karla" charset="0"/>
                        <a:cs typeface="Karla" charset="0"/>
                      </a:rPr>
                      <a:t> distanțe față de toate celelalte puncte</a:t>
                    </a:r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)</m:t>
                        </m:r>
                      </m:oMath>
                    </a14:m>
                    <a:endParaRPr lang="en-US" dirty="0">
                      <a:latin typeface="Karla" charset="0"/>
                      <a:ea typeface="Karla" charset="0"/>
                      <a:cs typeface="Karla" charset="0"/>
                    </a:endParaRPr>
                  </a:p>
                  <a:p>
                    <a:endParaRPr lang="en-US" dirty="0">
                      <a:latin typeface="Karla" charset="0"/>
                      <a:ea typeface="Karla" charset="0"/>
                      <a:cs typeface="Karla" charset="0"/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719BBD0-1B95-AA48-9295-5FEB436889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41254" y="2781958"/>
                    <a:ext cx="2526751" cy="122174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3000" r="-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5811025-CF39-6F45-98A9-92E5C7B7D5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7915" y="4130417"/>
              <a:ext cx="2181913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7784887" y="3139592"/>
            <a:ext cx="4301005" cy="1662467"/>
            <a:chOff x="7797079" y="3091762"/>
            <a:chExt cx="4301005" cy="166246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D6B86BF-BE0F-2948-BBC2-5B8DF7A859C2}"/>
                </a:ext>
              </a:extLst>
            </p:cNvPr>
            <p:cNvGrpSpPr/>
            <p:nvPr/>
          </p:nvGrpSpPr>
          <p:grpSpPr>
            <a:xfrm>
              <a:off x="8104340" y="3494418"/>
              <a:ext cx="3993744" cy="1259811"/>
              <a:chOff x="8104340" y="3494418"/>
              <a:chExt cx="3993744" cy="12598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1BA71BA-9145-5D40-93DD-F60C475C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9492233" y="3532484"/>
                    <a:ext cx="2605851" cy="12217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ro-RO" dirty="0">
                      <a:latin typeface="Karla" charset="0"/>
                      <a:ea typeface="Karla" charset="0"/>
                      <a:cs typeface="Karla" charset="0"/>
                    </a:endParaRPr>
                  </a:p>
                  <a:p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Găsim</a:t>
                    </a:r>
                    <a:r>
                      <a:rPr lang="it-IT" dirty="0">
                        <a:latin typeface="Karla" charset="0"/>
                        <a:ea typeface="Karla" charset="0"/>
                        <a:cs typeface="Karla" charset="0"/>
                      </a:rPr>
                      <a:t> cel mai apropiat vecin</a:t>
                    </a:r>
                    <a:r>
                      <a:rPr lang="en-US" dirty="0">
                        <a:latin typeface="Karla" charset="0"/>
                        <a:ea typeface="Karla" charset="0"/>
                        <a:cs typeface="Karla" charset="0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)</m:t>
                        </m:r>
                      </m:oMath>
                    </a14:m>
                    <a:endParaRPr lang="en-US" dirty="0">
                      <a:latin typeface="Karla" charset="0"/>
                      <a:ea typeface="Karla" charset="0"/>
                      <a:cs typeface="Karla" charset="0"/>
                    </a:endParaRPr>
                  </a:p>
                  <a:p>
                    <a:endParaRPr lang="en-US" dirty="0">
                      <a:latin typeface="Karla" charset="0"/>
                      <a:ea typeface="Karla" charset="0"/>
                      <a:cs typeface="Karla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1BA71BA-9145-5D40-93DD-F60C475CEC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92233" y="3532484"/>
                    <a:ext cx="2605851" cy="122174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8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Freeform 27"/>
              <p:cNvSpPr/>
              <p:nvPr/>
            </p:nvSpPr>
            <p:spPr>
              <a:xfrm>
                <a:off x="8104340" y="3494418"/>
                <a:ext cx="375781" cy="426229"/>
              </a:xfrm>
              <a:custGeom>
                <a:avLst/>
                <a:gdLst>
                  <a:gd name="connsiteX0" fmla="*/ 162838 w 375781"/>
                  <a:gd name="connsiteY0" fmla="*/ 344 h 426229"/>
                  <a:gd name="connsiteX1" fmla="*/ 25052 w 375781"/>
                  <a:gd name="connsiteY1" fmla="*/ 37922 h 426229"/>
                  <a:gd name="connsiteX2" fmla="*/ 0 w 375781"/>
                  <a:gd name="connsiteY2" fmla="*/ 75500 h 426229"/>
                  <a:gd name="connsiteX3" fmla="*/ 37578 w 375781"/>
                  <a:gd name="connsiteY3" fmla="*/ 313494 h 426229"/>
                  <a:gd name="connsiteX4" fmla="*/ 75156 w 375781"/>
                  <a:gd name="connsiteY4" fmla="*/ 351072 h 426229"/>
                  <a:gd name="connsiteX5" fmla="*/ 100208 w 375781"/>
                  <a:gd name="connsiteY5" fmla="*/ 388650 h 426229"/>
                  <a:gd name="connsiteX6" fmla="*/ 137786 w 375781"/>
                  <a:gd name="connsiteY6" fmla="*/ 401177 h 426229"/>
                  <a:gd name="connsiteX7" fmla="*/ 187890 w 375781"/>
                  <a:gd name="connsiteY7" fmla="*/ 426229 h 426229"/>
                  <a:gd name="connsiteX8" fmla="*/ 338202 w 375781"/>
                  <a:gd name="connsiteY8" fmla="*/ 388650 h 426229"/>
                  <a:gd name="connsiteX9" fmla="*/ 350728 w 375781"/>
                  <a:gd name="connsiteY9" fmla="*/ 351072 h 426229"/>
                  <a:gd name="connsiteX10" fmla="*/ 375781 w 375781"/>
                  <a:gd name="connsiteY10" fmla="*/ 313494 h 426229"/>
                  <a:gd name="connsiteX11" fmla="*/ 363255 w 375781"/>
                  <a:gd name="connsiteY11" fmla="*/ 225812 h 426229"/>
                  <a:gd name="connsiteX12" fmla="*/ 250520 w 375781"/>
                  <a:gd name="connsiteY12" fmla="*/ 125604 h 426229"/>
                  <a:gd name="connsiteX13" fmla="*/ 187890 w 375781"/>
                  <a:gd name="connsiteY13" fmla="*/ 62974 h 426229"/>
                  <a:gd name="connsiteX14" fmla="*/ 162838 w 375781"/>
                  <a:gd name="connsiteY14" fmla="*/ 344 h 426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75781" h="426229">
                    <a:moveTo>
                      <a:pt x="162838" y="344"/>
                    </a:moveTo>
                    <a:cubicBezTo>
                      <a:pt x="135698" y="-3831"/>
                      <a:pt x="37235" y="31153"/>
                      <a:pt x="25052" y="37922"/>
                    </a:cubicBezTo>
                    <a:cubicBezTo>
                      <a:pt x="11892" y="45233"/>
                      <a:pt x="8351" y="62974"/>
                      <a:pt x="0" y="75500"/>
                    </a:cubicBezTo>
                    <a:cubicBezTo>
                      <a:pt x="5272" y="149302"/>
                      <a:pt x="-5841" y="244024"/>
                      <a:pt x="37578" y="313494"/>
                    </a:cubicBezTo>
                    <a:cubicBezTo>
                      <a:pt x="46967" y="328516"/>
                      <a:pt x="63815" y="337463"/>
                      <a:pt x="75156" y="351072"/>
                    </a:cubicBezTo>
                    <a:cubicBezTo>
                      <a:pt x="84794" y="362637"/>
                      <a:pt x="88453" y="379245"/>
                      <a:pt x="100208" y="388650"/>
                    </a:cubicBezTo>
                    <a:cubicBezTo>
                      <a:pt x="110518" y="396898"/>
                      <a:pt x="125650" y="395976"/>
                      <a:pt x="137786" y="401177"/>
                    </a:cubicBezTo>
                    <a:cubicBezTo>
                      <a:pt x="154949" y="408533"/>
                      <a:pt x="171189" y="417878"/>
                      <a:pt x="187890" y="426229"/>
                    </a:cubicBezTo>
                    <a:cubicBezTo>
                      <a:pt x="223998" y="421716"/>
                      <a:pt x="303824" y="423029"/>
                      <a:pt x="338202" y="388650"/>
                    </a:cubicBezTo>
                    <a:cubicBezTo>
                      <a:pt x="347538" y="379314"/>
                      <a:pt x="344823" y="362882"/>
                      <a:pt x="350728" y="351072"/>
                    </a:cubicBezTo>
                    <a:cubicBezTo>
                      <a:pt x="357461" y="337607"/>
                      <a:pt x="367430" y="326020"/>
                      <a:pt x="375781" y="313494"/>
                    </a:cubicBezTo>
                    <a:cubicBezTo>
                      <a:pt x="371606" y="284267"/>
                      <a:pt x="376459" y="252219"/>
                      <a:pt x="363255" y="225812"/>
                    </a:cubicBezTo>
                    <a:cubicBezTo>
                      <a:pt x="337190" y="173683"/>
                      <a:pt x="287949" y="163033"/>
                      <a:pt x="250520" y="125604"/>
                    </a:cubicBezTo>
                    <a:cubicBezTo>
                      <a:pt x="167013" y="42097"/>
                      <a:pt x="288098" y="129779"/>
                      <a:pt x="187890" y="62974"/>
                    </a:cubicBezTo>
                    <a:cubicBezTo>
                      <a:pt x="174044" y="21435"/>
                      <a:pt x="189978" y="4519"/>
                      <a:pt x="162838" y="344"/>
                    </a:cubicBezTo>
                    <a:close/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7797079" y="3091762"/>
                  <a:ext cx="983667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  <a:ea typeface="Karla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  <a:ea typeface="Karla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Karla" charset="0"/>
                    <a:ea typeface="Karla" charset="0"/>
                    <a:cs typeface="Karla" charset="0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7079" y="3091762"/>
                  <a:ext cx="983667" cy="390748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4267198" y="2214889"/>
            <a:ext cx="4290868" cy="2807420"/>
            <a:chOff x="4267198" y="2214889"/>
            <a:chExt cx="4290868" cy="2807420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7703144" y="2214889"/>
              <a:ext cx="854922" cy="301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5301574" y="3433868"/>
              <a:ext cx="2401570" cy="9728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4610911" y="4026845"/>
              <a:ext cx="304282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H="1">
              <a:off x="4270443" y="4480800"/>
              <a:ext cx="3432701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4267198" y="5022309"/>
              <a:ext cx="3432701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394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1B87EC-F8C9-904F-817D-FDFFDD5C0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463038"/>
            <a:ext cx="6858002" cy="4572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 Simplu de Predicție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16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5958" y="921765"/>
                <a:ext cx="55384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Facem asta pe rând pentru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toate valorile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𝑥</m:t>
                    </m:r>
                    <m:r>
                      <a:rPr lang="ro-RO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58" y="921765"/>
                <a:ext cx="5538439" cy="461665"/>
              </a:xfrm>
              <a:prstGeom prst="rect">
                <a:avLst/>
              </a:prstGeom>
              <a:blipFill>
                <a:blip r:embed="rId3"/>
                <a:stretch>
                  <a:fillRect l="-176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757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FE446D22-A807-1A44-A630-F02438510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717" y="1509164"/>
            <a:ext cx="6857999" cy="4571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Exten</a:t>
            </a:r>
            <a:r>
              <a:rPr lang="ro-RO" dirty="0"/>
              <a:t>sia</a:t>
            </a:r>
            <a:r>
              <a:rPr lang="en-US" dirty="0"/>
              <a:t> </a:t>
            </a:r>
            <a:r>
              <a:rPr lang="ro-RO" dirty="0"/>
              <a:t>Modelului Simplu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17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40170" y="63788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D39162-75B0-0D4E-BD90-7F73BB12168F}"/>
              </a:ext>
            </a:extLst>
          </p:cNvPr>
          <p:cNvGrpSpPr/>
          <p:nvPr/>
        </p:nvGrpSpPr>
        <p:grpSpPr>
          <a:xfrm>
            <a:off x="7415886" y="1996406"/>
            <a:ext cx="4571159" cy="3559483"/>
            <a:chOff x="7428078" y="1948576"/>
            <a:chExt cx="4571159" cy="3559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9472486" y="1948576"/>
                  <a:ext cx="2526751" cy="9661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o-RO" dirty="0">
                      <a:ea typeface="Karla" charset="0"/>
                      <a:cs typeface="Karla" charset="0"/>
                    </a:rPr>
                    <a:t>C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are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ar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fi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un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bun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arla" charset="0"/>
                                  <a:cs typeface="Karla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Karla" charset="0"/>
                                  <a:cs typeface="Karla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  <m:t>𝑞</m:t>
                          </m:r>
                        </m:sub>
                      </m:sSub>
                    </m:oMath>
                  </a14:m>
                  <a:r>
                    <a:rPr lang="ro-RO" dirty="0">
                      <a:latin typeface="Karla" charset="0"/>
                      <a:ea typeface="Karla" charset="0"/>
                      <a:cs typeface="Karla" charset="0"/>
                    </a:rPr>
                    <a:t> p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entru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un</m:t>
                      </m:r>
                      <m:r>
                        <a:rPr lang="ro-RO" b="0" i="0" smtClean="0">
                          <a:latin typeface="Cambria Math" panose="02040503050406030204" pitchFamily="18" charset="0"/>
                          <a:ea typeface="Karla" charset="0"/>
                          <a:cs typeface="Karla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Karla" charset="0"/>
                              <a:cs typeface="Karla" charset="0"/>
                            </a:rPr>
                            <m:t> </m:t>
                          </m:r>
                        </m:sub>
                      </m:sSub>
                    </m:oMath>
                  </a14:m>
                  <a:r>
                    <a:rPr lang="en-US" dirty="0">
                      <a:latin typeface="Karla" charset="0"/>
                      <a:ea typeface="Karla" charset="0"/>
                      <a:cs typeface="Karla" charset="0"/>
                    </a:rPr>
                    <a:t>?</a:t>
                  </a:r>
                </a:p>
                <a:p>
                  <a:endParaRPr lang="en-US" dirty="0">
                    <a:latin typeface="Karla" charset="0"/>
                    <a:ea typeface="Karla" charset="0"/>
                    <a:cs typeface="Karla" charset="0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2486" y="1948576"/>
                  <a:ext cx="2526751" cy="966162"/>
                </a:xfrm>
                <a:prstGeom prst="rect">
                  <a:avLst/>
                </a:prstGeom>
                <a:blipFill>
                  <a:blip r:embed="rId4"/>
                  <a:stretch>
                    <a:fillRect l="-2174" t="-2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03A4D2B-2BEF-FC46-B8BE-CB2B553B5DF4}"/>
                </a:ext>
              </a:extLst>
            </p:cNvPr>
            <p:cNvGrpSpPr/>
            <p:nvPr/>
          </p:nvGrpSpPr>
          <p:grpSpPr>
            <a:xfrm>
              <a:off x="7428078" y="2018942"/>
              <a:ext cx="573106" cy="3489117"/>
              <a:chOff x="7428078" y="2018942"/>
              <a:chExt cx="573106" cy="3489117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FB94280D-BC2F-A747-A334-DCD560BD78EA}"/>
                  </a:ext>
                </a:extLst>
              </p:cNvPr>
              <p:cNvSpPr/>
              <p:nvPr/>
            </p:nvSpPr>
            <p:spPr>
              <a:xfrm>
                <a:off x="7628351" y="5035463"/>
                <a:ext cx="114130" cy="10972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14D6FD4-23DF-4546-8FA3-862622CEABB7}"/>
                  </a:ext>
                </a:extLst>
              </p:cNvPr>
              <p:cNvGrpSpPr/>
              <p:nvPr/>
            </p:nvGrpSpPr>
            <p:grpSpPr>
              <a:xfrm>
                <a:off x="7428078" y="2018942"/>
                <a:ext cx="573106" cy="3489117"/>
                <a:chOff x="7428078" y="2131956"/>
                <a:chExt cx="573106" cy="348911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0731E38F-93F2-A649-AC80-6DF519DB7D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8078" y="5130874"/>
                      <a:ext cx="573106" cy="4901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Karla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Karla" pitchFamily="2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charset="0"/>
                                    <a:ea typeface="Karla" pitchFamily="2" charset="0"/>
                                  </a:rPr>
                                  <m:t>𝑞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latin typeface="Karla" pitchFamily="2" charset="0"/>
                        <a:ea typeface="Karl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0731E38F-93F2-A649-AC80-6DF519DB7D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28078" y="5130874"/>
                      <a:ext cx="573106" cy="490199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 b="-617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" name="Freeform 5"/>
                <p:cNvSpPr/>
                <p:nvPr/>
              </p:nvSpPr>
              <p:spPr>
                <a:xfrm>
                  <a:off x="7665929" y="2131956"/>
                  <a:ext cx="50104" cy="3006247"/>
                </a:xfrm>
                <a:custGeom>
                  <a:avLst/>
                  <a:gdLst>
                    <a:gd name="connsiteX0" fmla="*/ 37578 w 50104"/>
                    <a:gd name="connsiteY0" fmla="*/ 3006247 h 3006247"/>
                    <a:gd name="connsiteX1" fmla="*/ 50104 w 50104"/>
                    <a:gd name="connsiteY1" fmla="*/ 814192 h 3006247"/>
                    <a:gd name="connsiteX2" fmla="*/ 37578 w 50104"/>
                    <a:gd name="connsiteY2" fmla="*/ 751562 h 3006247"/>
                    <a:gd name="connsiteX3" fmla="*/ 25052 w 50104"/>
                    <a:gd name="connsiteY3" fmla="*/ 613776 h 3006247"/>
                    <a:gd name="connsiteX4" fmla="*/ 12526 w 50104"/>
                    <a:gd name="connsiteY4" fmla="*/ 513568 h 3006247"/>
                    <a:gd name="connsiteX5" fmla="*/ 0 w 50104"/>
                    <a:gd name="connsiteY5" fmla="*/ 162839 h 3006247"/>
                    <a:gd name="connsiteX6" fmla="*/ 12526 w 50104"/>
                    <a:gd name="connsiteY6" fmla="*/ 112735 h 3006247"/>
                    <a:gd name="connsiteX7" fmla="*/ 12526 w 50104"/>
                    <a:gd name="connsiteY7" fmla="*/ 0 h 3006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104" h="3006247">
                      <a:moveTo>
                        <a:pt x="37578" y="3006247"/>
                      </a:moveTo>
                      <a:cubicBezTo>
                        <a:pt x="41753" y="2275562"/>
                        <a:pt x="50104" y="1544889"/>
                        <a:pt x="50104" y="814192"/>
                      </a:cubicBezTo>
                      <a:cubicBezTo>
                        <a:pt x="50104" y="792902"/>
                        <a:pt x="40219" y="772688"/>
                        <a:pt x="37578" y="751562"/>
                      </a:cubicBezTo>
                      <a:cubicBezTo>
                        <a:pt x="31858" y="705800"/>
                        <a:pt x="29880" y="659641"/>
                        <a:pt x="25052" y="613776"/>
                      </a:cubicBezTo>
                      <a:cubicBezTo>
                        <a:pt x="21528" y="580298"/>
                        <a:pt x="16701" y="546971"/>
                        <a:pt x="12526" y="513568"/>
                      </a:cubicBezTo>
                      <a:cubicBezTo>
                        <a:pt x="8351" y="396658"/>
                        <a:pt x="0" y="279823"/>
                        <a:pt x="0" y="162839"/>
                      </a:cubicBezTo>
                      <a:cubicBezTo>
                        <a:pt x="0" y="145624"/>
                        <a:pt x="11206" y="129900"/>
                        <a:pt x="12526" y="112735"/>
                      </a:cubicBezTo>
                      <a:cubicBezTo>
                        <a:pt x="15408" y="75267"/>
                        <a:pt x="12526" y="37578"/>
                        <a:pt x="12526" y="0"/>
                      </a:cubicBezTo>
                    </a:path>
                  </a:pathLst>
                </a:custGeom>
                <a:solidFill>
                  <a:srgbClr val="F9F9F9"/>
                </a:solidFill>
                <a:effectLst>
                  <a:outerShdw blurRad="40000" dist="23000" dir="5400000" rotWithShape="0">
                    <a:schemeClr val="tx1">
                      <a:alpha val="35000"/>
                    </a:scheme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CF77CA-E6D2-0C4D-B979-24ED101EC170}"/>
              </a:ext>
            </a:extLst>
          </p:cNvPr>
          <p:cNvGrpSpPr/>
          <p:nvPr/>
        </p:nvGrpSpPr>
        <p:grpSpPr>
          <a:xfrm>
            <a:off x="7206836" y="3461251"/>
            <a:ext cx="4622880" cy="1962878"/>
            <a:chOff x="7219028" y="3413421"/>
            <a:chExt cx="4622880" cy="1962878"/>
          </a:xfrm>
        </p:grpSpPr>
        <p:sp>
          <p:nvSpPr>
            <p:cNvPr id="29" name="5-Point Star 28"/>
            <p:cNvSpPr/>
            <p:nvPr/>
          </p:nvSpPr>
          <p:spPr>
            <a:xfrm>
              <a:off x="7628351" y="3532484"/>
              <a:ext cx="200417" cy="221711"/>
            </a:xfrm>
            <a:prstGeom prst="star5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57C4E67-F7BA-1B4F-9CA5-15165EE834F1}"/>
                    </a:ext>
                  </a:extLst>
                </p:cNvPr>
                <p:cNvSpPr txBox="1"/>
                <p:nvPr/>
              </p:nvSpPr>
              <p:spPr>
                <a:xfrm>
                  <a:off x="9473183" y="4891358"/>
                  <a:ext cx="2368725" cy="4849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ea typeface="Karla" charset="0"/>
                    </a:rPr>
                    <a:t>Pre</a:t>
                  </a:r>
                  <a:r>
                    <a:rPr lang="ro-RO" dirty="0">
                      <a:ea typeface="Karla" charset="0"/>
                    </a:rPr>
                    <a:t>di</a:t>
                  </a:r>
                  <a:r>
                    <a:rPr lang="en-US" dirty="0">
                      <a:ea typeface="Karla" charset="0"/>
                    </a:rPr>
                    <a:t>c</a:t>
                  </a:r>
                  <a:r>
                    <a:rPr lang="ro-RO" dirty="0">
                      <a:ea typeface="Karla" charset="0"/>
                    </a:rPr>
                    <a:t>ția: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Karla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arla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Karla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  <a:ea typeface="Karla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Karla" charset="0"/>
                                </a:rPr>
                                <m:t> 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Karla" charset="0"/>
                        </a:rPr>
                        <m:t>=</m:t>
                      </m:r>
                      <m:f>
                        <m:fPr>
                          <m:ctrlPr>
                            <a:rPr lang="mr-IN" i="1">
                              <a:latin typeface="Cambria Math" panose="02040503050406030204" pitchFamily="18" charset="0"/>
                              <a:ea typeface="Karla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charset="0"/>
                              <a:ea typeface="Karla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charset="0"/>
                              <a:ea typeface="Karla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i="1">
                              <a:latin typeface="Cambria Math" panose="02040503050406030204" pitchFamily="18" charset="0"/>
                              <a:ea typeface="Karla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charset="0"/>
                              <a:ea typeface="Karla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charset="0"/>
                              <a:ea typeface="Karla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arla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  <a:ea typeface="Karla" charset="0"/>
                                </a:rPr>
                                <m:t>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Karl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charset="0"/>
                                      <a:ea typeface="Karla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charset="0"/>
                                      <a:ea typeface="Karla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57C4E67-F7BA-1B4F-9CA5-15165EE83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3183" y="4891358"/>
                  <a:ext cx="2368725" cy="484941"/>
                </a:xfrm>
                <a:prstGeom prst="rect">
                  <a:avLst/>
                </a:prstGeom>
                <a:blipFill>
                  <a:blip r:embed="rId6"/>
                  <a:stretch>
                    <a:fillRect l="-2057" t="-78750" r="-14910" b="-12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4DD8431-5EE5-D94C-BBAF-83030708D12D}"/>
                    </a:ext>
                  </a:extLst>
                </p:cNvPr>
                <p:cNvSpPr/>
                <p:nvPr/>
              </p:nvSpPr>
              <p:spPr>
                <a:xfrm>
                  <a:off x="7219028" y="3413421"/>
                  <a:ext cx="462755" cy="3907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Karla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charset="0"/>
                                    <a:ea typeface="Karla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4DD8431-5EE5-D94C-BBAF-83030708D1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9028" y="3413421"/>
                  <a:ext cx="462755" cy="39074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1563" r="-14474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040EF2-ACF6-A745-887C-84FC55FB1159}"/>
              </a:ext>
            </a:extLst>
          </p:cNvPr>
          <p:cNvGrpSpPr/>
          <p:nvPr/>
        </p:nvGrpSpPr>
        <p:grpSpPr>
          <a:xfrm>
            <a:off x="5495723" y="2747596"/>
            <a:ext cx="6060090" cy="1430651"/>
            <a:chOff x="5507915" y="2699766"/>
            <a:chExt cx="6060090" cy="14306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3996A04-9B10-CA47-858C-0C31F5B71CEE}"/>
                </a:ext>
              </a:extLst>
            </p:cNvPr>
            <p:cNvGrpSpPr/>
            <p:nvPr/>
          </p:nvGrpSpPr>
          <p:grpSpPr>
            <a:xfrm>
              <a:off x="6601216" y="2699766"/>
              <a:ext cx="4966789" cy="1221745"/>
              <a:chOff x="6601216" y="2781958"/>
              <a:chExt cx="4966789" cy="1221745"/>
            </a:xfrm>
          </p:grpSpPr>
          <p:cxnSp>
            <p:nvCxnSpPr>
              <p:cNvPr id="10" name="Straight Arrow Connector 9"/>
              <p:cNvCxnSpPr/>
              <p:nvPr/>
            </p:nvCxnSpPr>
            <p:spPr>
              <a:xfrm flipH="1">
                <a:off x="6601216" y="3167669"/>
                <a:ext cx="1114120" cy="0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7742481" y="3750554"/>
                <a:ext cx="474593" cy="0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719BBD0-1B95-AA48-9295-5FEB43688998}"/>
                      </a:ext>
                    </a:extLst>
                  </p:cNvPr>
                  <p:cNvSpPr txBox="1"/>
                  <p:nvPr/>
                </p:nvSpPr>
                <p:spPr>
                  <a:xfrm>
                    <a:off x="9041254" y="2781958"/>
                    <a:ext cx="2526751" cy="12217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vl="1"/>
                    <a:r>
                      <a:rPr lang="en-US" dirty="0" err="1">
                        <a:latin typeface="Karla" charset="0"/>
                        <a:ea typeface="Karla" charset="0"/>
                        <a:cs typeface="Karla" charset="0"/>
                      </a:rPr>
                      <a:t>Găsi</a:t>
                    </a:r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m</a:t>
                    </a:r>
                    <a:r>
                      <a:rPr lang="en-US" dirty="0">
                        <a:latin typeface="Karla" charset="0"/>
                        <a:ea typeface="Karla" charset="0"/>
                        <a:cs typeface="Karla" charset="0"/>
                      </a:rPr>
                      <a:t> distanțe față de toate celelalte puncte</a:t>
                    </a:r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)</m:t>
                        </m:r>
                      </m:oMath>
                    </a14:m>
                    <a:endParaRPr lang="en-US" dirty="0">
                      <a:latin typeface="Karla" charset="0"/>
                      <a:ea typeface="Karla" charset="0"/>
                      <a:cs typeface="Karla" charset="0"/>
                    </a:endParaRPr>
                  </a:p>
                  <a:p>
                    <a:endParaRPr lang="en-US" dirty="0">
                      <a:latin typeface="Karla" charset="0"/>
                      <a:ea typeface="Karla" charset="0"/>
                      <a:cs typeface="Karla" charset="0"/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719BBD0-1B95-AA48-9295-5FEB436889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41254" y="2781958"/>
                    <a:ext cx="2526751" cy="122174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3000" r="-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5811025-CF39-6F45-98A9-92E5C7B7D5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7915" y="4130417"/>
              <a:ext cx="2181913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7784887" y="3139592"/>
            <a:ext cx="4301005" cy="1526027"/>
            <a:chOff x="7797079" y="3091762"/>
            <a:chExt cx="4301005" cy="152602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D6B86BF-BE0F-2948-BBC2-5B8DF7A859C2}"/>
                </a:ext>
              </a:extLst>
            </p:cNvPr>
            <p:cNvGrpSpPr/>
            <p:nvPr/>
          </p:nvGrpSpPr>
          <p:grpSpPr>
            <a:xfrm>
              <a:off x="8104340" y="3494418"/>
              <a:ext cx="3993744" cy="1123371"/>
              <a:chOff x="8104340" y="3494418"/>
              <a:chExt cx="3993744" cy="11233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1BA71BA-9145-5D40-93DD-F60C475C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9492233" y="3668362"/>
                    <a:ext cx="2605851" cy="949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ro-RO" dirty="0">
                      <a:latin typeface="Karla" charset="0"/>
                      <a:ea typeface="Karla" charset="0"/>
                      <a:cs typeface="Karla" charset="0"/>
                    </a:endParaRPr>
                  </a:p>
                  <a:p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Găsim</a:t>
                    </a:r>
                    <a:r>
                      <a:rPr lang="it-IT" dirty="0">
                        <a:latin typeface="Karla" charset="0"/>
                        <a:ea typeface="Karla" charset="0"/>
                        <a:cs typeface="Karla" charset="0"/>
                      </a:rPr>
                      <a:t> ce</a:t>
                    </a:r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i</a:t>
                    </a:r>
                    <a:r>
                      <a:rPr lang="it-IT" dirty="0">
                        <a:latin typeface="Karla" charset="0"/>
                        <a:ea typeface="Karla" charset="0"/>
                        <a:cs typeface="Karla" charset="0"/>
                      </a:rPr>
                      <a:t> mai apropia</a:t>
                    </a:r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ți k </a:t>
                    </a:r>
                    <a:r>
                      <a:rPr lang="it-IT" dirty="0">
                        <a:latin typeface="Karla" charset="0"/>
                        <a:ea typeface="Karla" charset="0"/>
                        <a:cs typeface="Karla" charset="0"/>
                      </a:rPr>
                      <a:t> vecin</a:t>
                    </a:r>
                    <a:r>
                      <a:rPr lang="ro-RO" dirty="0">
                        <a:latin typeface="Karla" charset="0"/>
                        <a:ea typeface="Karla" charset="0"/>
                        <a:cs typeface="Karla" charset="0"/>
                      </a:rPr>
                      <a:t>i</a:t>
                    </a:r>
                    <a:r>
                      <a:rPr lang="en-US" dirty="0">
                        <a:latin typeface="Karla" charset="0"/>
                        <a:ea typeface="Karla" charset="0"/>
                        <a:cs typeface="Karla" charset="0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Karla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  <a:ea typeface="Karla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  <a:ea typeface="Karla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charset="0"/>
                            <a:ea typeface="Karla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Karla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  <a:ea typeface="Karla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  <a:ea typeface="Karla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oMath>
                    </a14:m>
                    <a:endParaRPr lang="en-US" dirty="0">
                      <a:latin typeface="Karla" charset="0"/>
                      <a:ea typeface="Karla" charset="0"/>
                      <a:cs typeface="Karla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1BA71BA-9145-5D40-93DD-F60C475CEC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92233" y="3668362"/>
                    <a:ext cx="2605851" cy="9494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869" b="-296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Freeform 27"/>
              <p:cNvSpPr/>
              <p:nvPr/>
            </p:nvSpPr>
            <p:spPr>
              <a:xfrm>
                <a:off x="8104340" y="3494418"/>
                <a:ext cx="375781" cy="426229"/>
              </a:xfrm>
              <a:custGeom>
                <a:avLst/>
                <a:gdLst>
                  <a:gd name="connsiteX0" fmla="*/ 162838 w 375781"/>
                  <a:gd name="connsiteY0" fmla="*/ 344 h 426229"/>
                  <a:gd name="connsiteX1" fmla="*/ 25052 w 375781"/>
                  <a:gd name="connsiteY1" fmla="*/ 37922 h 426229"/>
                  <a:gd name="connsiteX2" fmla="*/ 0 w 375781"/>
                  <a:gd name="connsiteY2" fmla="*/ 75500 h 426229"/>
                  <a:gd name="connsiteX3" fmla="*/ 37578 w 375781"/>
                  <a:gd name="connsiteY3" fmla="*/ 313494 h 426229"/>
                  <a:gd name="connsiteX4" fmla="*/ 75156 w 375781"/>
                  <a:gd name="connsiteY4" fmla="*/ 351072 h 426229"/>
                  <a:gd name="connsiteX5" fmla="*/ 100208 w 375781"/>
                  <a:gd name="connsiteY5" fmla="*/ 388650 h 426229"/>
                  <a:gd name="connsiteX6" fmla="*/ 137786 w 375781"/>
                  <a:gd name="connsiteY6" fmla="*/ 401177 h 426229"/>
                  <a:gd name="connsiteX7" fmla="*/ 187890 w 375781"/>
                  <a:gd name="connsiteY7" fmla="*/ 426229 h 426229"/>
                  <a:gd name="connsiteX8" fmla="*/ 338202 w 375781"/>
                  <a:gd name="connsiteY8" fmla="*/ 388650 h 426229"/>
                  <a:gd name="connsiteX9" fmla="*/ 350728 w 375781"/>
                  <a:gd name="connsiteY9" fmla="*/ 351072 h 426229"/>
                  <a:gd name="connsiteX10" fmla="*/ 375781 w 375781"/>
                  <a:gd name="connsiteY10" fmla="*/ 313494 h 426229"/>
                  <a:gd name="connsiteX11" fmla="*/ 363255 w 375781"/>
                  <a:gd name="connsiteY11" fmla="*/ 225812 h 426229"/>
                  <a:gd name="connsiteX12" fmla="*/ 250520 w 375781"/>
                  <a:gd name="connsiteY12" fmla="*/ 125604 h 426229"/>
                  <a:gd name="connsiteX13" fmla="*/ 187890 w 375781"/>
                  <a:gd name="connsiteY13" fmla="*/ 62974 h 426229"/>
                  <a:gd name="connsiteX14" fmla="*/ 162838 w 375781"/>
                  <a:gd name="connsiteY14" fmla="*/ 344 h 426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75781" h="426229">
                    <a:moveTo>
                      <a:pt x="162838" y="344"/>
                    </a:moveTo>
                    <a:cubicBezTo>
                      <a:pt x="135698" y="-3831"/>
                      <a:pt x="37235" y="31153"/>
                      <a:pt x="25052" y="37922"/>
                    </a:cubicBezTo>
                    <a:cubicBezTo>
                      <a:pt x="11892" y="45233"/>
                      <a:pt x="8351" y="62974"/>
                      <a:pt x="0" y="75500"/>
                    </a:cubicBezTo>
                    <a:cubicBezTo>
                      <a:pt x="5272" y="149302"/>
                      <a:pt x="-5841" y="244024"/>
                      <a:pt x="37578" y="313494"/>
                    </a:cubicBezTo>
                    <a:cubicBezTo>
                      <a:pt x="46967" y="328516"/>
                      <a:pt x="63815" y="337463"/>
                      <a:pt x="75156" y="351072"/>
                    </a:cubicBezTo>
                    <a:cubicBezTo>
                      <a:pt x="84794" y="362637"/>
                      <a:pt x="88453" y="379245"/>
                      <a:pt x="100208" y="388650"/>
                    </a:cubicBezTo>
                    <a:cubicBezTo>
                      <a:pt x="110518" y="396898"/>
                      <a:pt x="125650" y="395976"/>
                      <a:pt x="137786" y="401177"/>
                    </a:cubicBezTo>
                    <a:cubicBezTo>
                      <a:pt x="154949" y="408533"/>
                      <a:pt x="171189" y="417878"/>
                      <a:pt x="187890" y="426229"/>
                    </a:cubicBezTo>
                    <a:cubicBezTo>
                      <a:pt x="223998" y="421716"/>
                      <a:pt x="303824" y="423029"/>
                      <a:pt x="338202" y="388650"/>
                    </a:cubicBezTo>
                    <a:cubicBezTo>
                      <a:pt x="347538" y="379314"/>
                      <a:pt x="344823" y="362882"/>
                      <a:pt x="350728" y="351072"/>
                    </a:cubicBezTo>
                    <a:cubicBezTo>
                      <a:pt x="357461" y="337607"/>
                      <a:pt x="367430" y="326020"/>
                      <a:pt x="375781" y="313494"/>
                    </a:cubicBezTo>
                    <a:cubicBezTo>
                      <a:pt x="371606" y="284267"/>
                      <a:pt x="376459" y="252219"/>
                      <a:pt x="363255" y="225812"/>
                    </a:cubicBezTo>
                    <a:cubicBezTo>
                      <a:pt x="337190" y="173683"/>
                      <a:pt x="287949" y="163033"/>
                      <a:pt x="250520" y="125604"/>
                    </a:cubicBezTo>
                    <a:cubicBezTo>
                      <a:pt x="167013" y="42097"/>
                      <a:pt x="288098" y="129779"/>
                      <a:pt x="187890" y="62974"/>
                    </a:cubicBezTo>
                    <a:cubicBezTo>
                      <a:pt x="174044" y="21435"/>
                      <a:pt x="189978" y="4519"/>
                      <a:pt x="162838" y="344"/>
                    </a:cubicBezTo>
                    <a:close/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7797079" y="3091762"/>
                  <a:ext cx="983667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  <a:ea typeface="Karla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Karla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Karla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  <a:ea typeface="Karla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latin typeface="Karla" charset="0"/>
                    <a:ea typeface="Karla" charset="0"/>
                    <a:cs typeface="Karla" charset="0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7079" y="3091762"/>
                  <a:ext cx="983667" cy="390748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4267198" y="2214889"/>
            <a:ext cx="4290868" cy="2807420"/>
            <a:chOff x="4267198" y="2214889"/>
            <a:chExt cx="4290868" cy="2807420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7703144" y="2214889"/>
              <a:ext cx="854922" cy="301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5301574" y="3433868"/>
              <a:ext cx="2401570" cy="9728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4610911" y="4026845"/>
              <a:ext cx="304282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H="1">
              <a:off x="4270443" y="4480800"/>
              <a:ext cx="3432701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4267198" y="5022309"/>
              <a:ext cx="3432701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032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6AC0F7-9DD3-7645-86C0-F63DB6CE6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463040"/>
            <a:ext cx="6858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 Simplu de Predicție și Extensii la k - vecini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18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51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8D02AC-B252-AB42-924D-F78A40BBD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463040"/>
            <a:ext cx="6858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 Simplu de Predicție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19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5958" y="902522"/>
            <a:ext cx="6255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Putem încerca diferite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valori </a:t>
            </a: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k pe mai multe date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515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  <a:r>
              <a:rPr lang="ro-RO" dirty="0"/>
              <a:t> (cei mai apropiați k vecini)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20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54699" y="1536174"/>
            <a:ext cx="1068260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Modelul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k-Nearest Neighbor (</a:t>
            </a:r>
            <a:r>
              <a:rPr lang="en-US" sz="2800" b="1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kNN</a:t>
            </a:r>
            <a:r>
              <a:rPr lang="en-US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) 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este o modalitate intuitivă de a prezice o variabilă de răspuns cantitativă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: </a:t>
            </a:r>
          </a:p>
          <a:p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pPr lvl="1"/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pentru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a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prezice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un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răspuns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pentru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un set de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valori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predict</a:t>
            </a:r>
            <a:r>
              <a:rPr lang="ro-RO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or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observate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,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folosim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răspunsurile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altor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observații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c</a:t>
            </a:r>
            <a:r>
              <a:rPr lang="ro-RO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ât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mai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similare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cu </a:t>
            </a:r>
            <a:r>
              <a:rPr lang="en-US" sz="28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acesta</a:t>
            </a:r>
            <a:endParaRPr lang="en-US" sz="28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r>
              <a:rPr lang="ro-RO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Observație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: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această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strategie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poate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fi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aplicată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și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clasificare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pentru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a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prezice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o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variabilă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categori</a:t>
            </a:r>
            <a:r>
              <a:rPr lang="ro-RO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ală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Vom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întâlni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din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nou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kNN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mai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târziu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curs,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contextul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clasificării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</a:t>
            </a:r>
          </a:p>
          <a:p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662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4699" y="1413966"/>
                <a:ext cx="10682602" cy="5253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Pentru un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k</a:t>
                </a:r>
                <a:r>
                  <a:rPr lang="ro-RO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fixat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, 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răspunsul prognozat pentru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𝑞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-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a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observa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ție</a:t>
                </a:r>
                <a:endParaRPr lang="es-E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r>
                  <a:rPr lang="es-E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este media </a:t>
                </a:r>
                <a:r>
                  <a:rPr lang="es-E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răspunsului</a:t>
                </a:r>
                <a:r>
                  <a:rPr lang="es-E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s-E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observat</a:t>
                </a:r>
                <a:r>
                  <a:rPr lang="es-E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al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celor mai apropiate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k</a:t>
                </a:r>
                <a:r>
                  <a:rPr lang="ro-RO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observa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ț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i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i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Karla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Karla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Karl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Karla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Karla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charset="0"/>
                              <a:ea typeface="Karla" charset="0"/>
                            </a:rPr>
                            <m:t>𝑞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Karla" charset="0"/>
                            </a:rPr>
                            <m:t> 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Karla" charset="0"/>
                        </a:rPr>
                        <m:t>=</m:t>
                      </m:r>
                      <m:f>
                        <m:fPr>
                          <m:ctrlPr>
                            <a:rPr lang="mr-IN" sz="2800" i="1">
                              <a:latin typeface="Cambria Math" panose="02040503050406030204" pitchFamily="18" charset="0"/>
                              <a:ea typeface="Karla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charset="0"/>
                              <a:ea typeface="Karla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charset="0"/>
                              <a:ea typeface="Karla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sz="2800" i="1">
                              <a:latin typeface="Cambria Math" panose="02040503050406030204" pitchFamily="18" charset="0"/>
                              <a:ea typeface="Karla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charset="0"/>
                              <a:ea typeface="Karla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i="1">
                              <a:latin typeface="Cambria Math" charset="0"/>
                              <a:ea typeface="Karla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Karla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charset="0"/>
                                  <a:ea typeface="Karla" charset="0"/>
                                </a:rPr>
                                <m:t>𝑦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Karl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charset="0"/>
                                      <a:ea typeface="Karla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charset="0"/>
                                      <a:ea typeface="Karla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endParaRPr 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unde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  <a:ea typeface="Karla" charset="0"/>
                                <a:cs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𝑞</m:t>
                            </m:r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  <a:ea typeface="Karla" charset="0"/>
                                <a:cs typeface="Karla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Karla" charset="0"/>
                            <a:cs typeface="Karla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  <a:ea typeface="Karla" charset="0"/>
                                <a:cs typeface="Karla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𝑞</m:t>
                            </m:r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  <a:ea typeface="Karla" charset="0"/>
                                <a:cs typeface="Karla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sunt cele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k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observa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ții cele mai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‘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similar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e’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(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similar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se referă aici l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a no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țiunea de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distan</a:t>
                </a:r>
                <a:r>
                  <a:rPr lang="ro-RO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ță între valorile predictorilor, apropierea fiind interpretată ca și similaritate – aceasta este strategia kNN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).</a:t>
                </a:r>
              </a:p>
              <a:p>
                <a:endParaRPr 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99" y="1413966"/>
                <a:ext cx="10682602" cy="5253618"/>
              </a:xfrm>
              <a:prstGeom prst="rect">
                <a:avLst/>
              </a:prstGeom>
              <a:blipFill>
                <a:blip r:embed="rId3"/>
                <a:stretch>
                  <a:fillRect l="-1199" t="-1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52251"/>
            <a:ext cx="12192000" cy="880589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/>
          <a:lstStyle/>
          <a:p>
            <a:pPr algn="justLow">
              <a:spcBef>
                <a:spcPts val="2200"/>
              </a:spcBef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	k-Nearest Neighbors -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kNN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21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10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effectLst/>
              </a:rPr>
              <a:t>Unde suntem: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496" y="1196445"/>
            <a:ext cx="10327008" cy="5317171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400" b="1" dirty="0" err="1"/>
              <a:t>Modelare</a:t>
            </a:r>
            <a:r>
              <a:rPr lang="en-US" sz="2400" b="1" dirty="0"/>
              <a:t> s</a:t>
            </a:r>
            <a:r>
              <a:rPr lang="ro-RO" sz="2400" b="1" dirty="0"/>
              <a:t>tatistică</a:t>
            </a:r>
            <a:endParaRPr lang="en-US" sz="2400" b="1" dirty="0"/>
          </a:p>
          <a:p>
            <a:pPr>
              <a:spcAft>
                <a:spcPts val="1200"/>
              </a:spcAft>
            </a:pPr>
            <a:r>
              <a:rPr lang="en-US" sz="2400" dirty="0"/>
              <a:t>	k-Nearest Neighbors (</a:t>
            </a:r>
            <a:r>
              <a:rPr lang="en-US" sz="2400" dirty="0" err="1"/>
              <a:t>kNN</a:t>
            </a:r>
            <a:r>
              <a:rPr lang="en-US" sz="2400" dirty="0"/>
              <a:t>) </a:t>
            </a:r>
          </a:p>
          <a:p>
            <a:pPr>
              <a:spcBef>
                <a:spcPts val="1872"/>
              </a:spcBef>
              <a:spcAft>
                <a:spcPts val="1200"/>
              </a:spcAft>
            </a:pPr>
            <a:r>
              <a:rPr lang="ro-RO" sz="2400" b="1" dirty="0"/>
              <a:t>Evaluarea modelului</a:t>
            </a:r>
            <a:endParaRPr lang="en-US" sz="2400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	</a:t>
            </a:r>
            <a:r>
              <a:rPr lang="ro-RO" sz="2400" dirty="0"/>
              <a:t>Cât de bun e modelul pentru prognoză</a:t>
            </a:r>
            <a:r>
              <a:rPr lang="en-US" sz="2400" dirty="0"/>
              <a:t>? </a:t>
            </a:r>
            <a:endParaRPr lang="en-US" sz="2400" b="1" dirty="0"/>
          </a:p>
          <a:p>
            <a:pPr>
              <a:spcBef>
                <a:spcPts val="1872"/>
              </a:spcBef>
              <a:spcAft>
                <a:spcPts val="1200"/>
              </a:spcAft>
            </a:pPr>
            <a:r>
              <a:rPr lang="en-US" sz="2400" b="1" dirty="0" err="1"/>
              <a:t>Compar</a:t>
            </a:r>
            <a:r>
              <a:rPr lang="ro-RO" sz="2400" b="1" dirty="0"/>
              <a:t>area  a două modele statistice</a:t>
            </a:r>
            <a:endParaRPr lang="en-US" sz="2400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	</a:t>
            </a:r>
            <a:r>
              <a:rPr lang="ro-RO" sz="2400" dirty="0"/>
              <a:t>Cum putem alege între două modele</a:t>
            </a:r>
            <a:r>
              <a:rPr lang="en-US" sz="2400" dirty="0"/>
              <a:t>?</a:t>
            </a:r>
          </a:p>
          <a:p>
            <a:pPr>
              <a:spcBef>
                <a:spcPts val="1872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969958-E89F-4477-99C3-8FD57C012B3E}"/>
              </a:ext>
            </a:extLst>
          </p:cNvPr>
          <p:cNvSpPr/>
          <p:nvPr/>
        </p:nvSpPr>
        <p:spPr>
          <a:xfrm>
            <a:off x="928688" y="1169582"/>
            <a:ext cx="10315575" cy="118586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33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Evalua</a:t>
            </a:r>
            <a:r>
              <a:rPr lang="ro-RO" sz="4000" dirty="0"/>
              <a:t>rea Modelului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05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BB9446-A2B0-3F43-A16B-44064BB18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463040"/>
            <a:ext cx="6858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Evalua</a:t>
            </a:r>
            <a:r>
              <a:rPr lang="ro-RO" sz="3200" dirty="0"/>
              <a:t>rea </a:t>
            </a:r>
            <a:r>
              <a:rPr lang="en-US" sz="3200" dirty="0" err="1"/>
              <a:t>Eror</a:t>
            </a:r>
            <a:r>
              <a:rPr lang="ro-RO" sz="3200" dirty="0"/>
              <a:t>ilor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24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5958" y="902522"/>
            <a:ext cx="2258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Revenim la date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6161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A66C0A-919C-7D4F-A11E-94FE485D1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463040"/>
            <a:ext cx="6858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Evalua</a:t>
            </a:r>
            <a:r>
              <a:rPr lang="ro-RO" sz="3200" dirty="0"/>
              <a:t>rea </a:t>
            </a:r>
            <a:r>
              <a:rPr lang="en-US" sz="3200" dirty="0" err="1"/>
              <a:t>Eror</a:t>
            </a:r>
            <a:r>
              <a:rPr lang="ro-RO" sz="3200" dirty="0"/>
              <a:t>ilor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25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5958" y="902522"/>
            <a:ext cx="10486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Ascundem parte din date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Aceasta este spargerea datelor în date de antrenament și date de test: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train-test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split.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997908" y="1943746"/>
                <a:ext cx="28448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Folosim datele de antrenament să estimăm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𝑦</m:t>
                        </m:r>
                      </m:e>
                    </m:acc>
                    <m:r>
                      <a:rPr lang="en-US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și cele de test să evaluăm modelul rezultat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. </a:t>
                </a:r>
              </a:p>
              <a:p>
                <a:endParaRPr lang="en-US" sz="2400" dirty="0"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908" y="1943746"/>
                <a:ext cx="2844800" cy="2308324"/>
              </a:xfrm>
              <a:prstGeom prst="rect">
                <a:avLst/>
              </a:prstGeom>
              <a:blipFill>
                <a:blip r:embed="rId4"/>
                <a:stretch>
                  <a:fillRect l="-3212" t="-2111" r="-3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970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5CDF5-DBA0-1E44-8F2B-7E3A17BD1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2" y="1463040"/>
            <a:ext cx="6858255" cy="45721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Evalua</a:t>
            </a:r>
            <a:r>
              <a:rPr lang="ro-RO" sz="3200" dirty="0"/>
              <a:t>rea </a:t>
            </a:r>
            <a:r>
              <a:rPr lang="en-US" sz="3200" dirty="0" err="1"/>
              <a:t>Eror</a:t>
            </a:r>
            <a:r>
              <a:rPr lang="ro-RO" sz="3200" dirty="0"/>
              <a:t>ilor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26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55958" y="902522"/>
                <a:ext cx="31002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Estima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re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Karla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pentru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k=1 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58" y="902522"/>
                <a:ext cx="3100208" cy="461665"/>
              </a:xfrm>
              <a:prstGeom prst="rect">
                <a:avLst/>
              </a:prstGeom>
              <a:blipFill>
                <a:blip r:embed="rId4"/>
                <a:stretch>
                  <a:fillRect l="-3150" t="-10526" r="-216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016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42A614-85D4-1A43-86DA-1DD1D63B4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463040"/>
            <a:ext cx="6858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Evalua</a:t>
            </a:r>
            <a:r>
              <a:rPr lang="ro-RO" sz="3200" dirty="0"/>
              <a:t>rea </a:t>
            </a:r>
            <a:r>
              <a:rPr lang="en-US" sz="3200" dirty="0" err="1"/>
              <a:t>Eror</a:t>
            </a:r>
            <a:r>
              <a:rPr lang="ro-RO" sz="3200" dirty="0"/>
              <a:t>ilor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27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5958" y="902522"/>
            <a:ext cx="69749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Acum ne uităm la datele nefolosite în modelare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, </a:t>
            </a:r>
            <a:endParaRPr lang="ro-RO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setul de date de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Karla" charset="0"/>
                <a:ea typeface="Karla" charset="0"/>
                <a:cs typeface="Karla" charset="0"/>
              </a:rPr>
              <a:t>test</a:t>
            </a:r>
            <a:r>
              <a:rPr lang="en-US" sz="2400" dirty="0">
                <a:solidFill>
                  <a:srgbClr val="FF0000"/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(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marcate cu roșu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).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02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184" y="1463040"/>
            <a:ext cx="6858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Evalua</a:t>
            </a:r>
            <a:r>
              <a:rPr lang="ro-RO" sz="3200" dirty="0"/>
              <a:t>rea </a:t>
            </a:r>
            <a:r>
              <a:rPr lang="en-US" sz="3200" dirty="0" err="1"/>
              <a:t>Eror</a:t>
            </a:r>
            <a:r>
              <a:rPr lang="ro-RO" sz="3200" dirty="0"/>
              <a:t>ilor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28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55958" y="902522"/>
                <a:ext cx="43482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Calcul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ăm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Karla" charset="0"/>
                            <a:ea typeface="Karla" charset="0"/>
                            <a:cs typeface="Karla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ro-RO" sz="2400" b="1" i="0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Karla" charset="0"/>
                            <a:ea typeface="Karla" charset="0"/>
                            <a:cs typeface="Karla" charset="0"/>
                          </a:rPr>
                          <m:t>eziduurile</m:t>
                        </m:r>
                        <m:r>
                          <a:rPr lang="ro-RO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Karla" charset="0"/>
                            <a:cs typeface="Karla" charset="0"/>
                          </a:rPr>
                          <m:t>  (</m:t>
                        </m:r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Karla" charset="0"/>
                            <a:cs typeface="Karla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Karla" charset="0"/>
                            <a:cs typeface="Karla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  <a:ea typeface="Karla" charset="0"/>
                                <a:cs typeface="Karla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Karla" charset="0"/>
                            <a:cs typeface="Karla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  <a:ea typeface="Karla" charset="0"/>
                        <a:cs typeface="Karla" charset="0"/>
                      </a:rPr>
                      <m:t>).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58" y="902522"/>
                <a:ext cx="4348242" cy="461665"/>
              </a:xfrm>
              <a:prstGeom prst="rect">
                <a:avLst/>
              </a:prstGeom>
              <a:blipFill>
                <a:blip r:embed="rId4"/>
                <a:stretch>
                  <a:fillRect l="-224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/>
          <p:cNvGrpSpPr/>
          <p:nvPr/>
        </p:nvGrpSpPr>
        <p:grpSpPr>
          <a:xfrm>
            <a:off x="4320387" y="2159170"/>
            <a:ext cx="4074910" cy="2712516"/>
            <a:chOff x="4320387" y="2159170"/>
            <a:chExt cx="4074910" cy="2712516"/>
          </a:xfrm>
          <a:effectLst>
            <a:glow rad="101600">
              <a:schemeClr val="bg1">
                <a:lumMod val="75000"/>
                <a:alpha val="40000"/>
              </a:schemeClr>
            </a:glow>
            <a:reflection endPos="0" dir="5400000" sy="-100000" algn="bl" rotWithShape="0"/>
          </a:effectLst>
        </p:grpSpPr>
        <p:cxnSp>
          <p:nvCxnSpPr>
            <p:cNvPr id="7" name="Straight Connector 6"/>
            <p:cNvCxnSpPr/>
            <p:nvPr/>
          </p:nvCxnSpPr>
          <p:spPr>
            <a:xfrm>
              <a:off x="6357842" y="3559409"/>
              <a:ext cx="6137" cy="208655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087111" y="2435331"/>
              <a:ext cx="19434" cy="1713222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7214042" y="2939581"/>
              <a:ext cx="2967" cy="1215109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8391307" y="2159170"/>
              <a:ext cx="3990" cy="100134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588785" y="3768064"/>
              <a:ext cx="1943" cy="515501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320387" y="4639506"/>
              <a:ext cx="5114" cy="23218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156029" y="3850912"/>
              <a:ext cx="11252" cy="561528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708126" y="3160510"/>
              <a:ext cx="11252" cy="696539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7431257" y="3066922"/>
              <a:ext cx="5626" cy="93588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8084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183" y="1462938"/>
            <a:ext cx="6858153" cy="45721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Evalua</a:t>
            </a:r>
            <a:r>
              <a:rPr lang="ro-RO" sz="3200" dirty="0"/>
              <a:t>rea </a:t>
            </a:r>
            <a:r>
              <a:rPr lang="en-US" sz="3200" dirty="0" err="1"/>
              <a:t>Eror</a:t>
            </a:r>
            <a:r>
              <a:rPr lang="ro-RO" sz="3200" dirty="0"/>
              <a:t>ilor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29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5958" y="902522"/>
            <a:ext cx="317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latin typeface="Karla" charset="0"/>
                <a:ea typeface="Karla" charset="0"/>
                <a:cs typeface="Karla" charset="0"/>
              </a:rPr>
              <a:t>Facem la fel pentru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i="1" dirty="0">
                <a:latin typeface="Karla" charset="0"/>
                <a:ea typeface="Karla" charset="0"/>
                <a:cs typeface="Karla" charset="0"/>
              </a:rPr>
              <a:t>k=3.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4320387" y="2159170"/>
            <a:ext cx="4099336" cy="2712516"/>
            <a:chOff x="4320387" y="2159170"/>
            <a:chExt cx="4099336" cy="2712516"/>
          </a:xfrm>
          <a:effectLst>
            <a:glow rad="101600">
              <a:schemeClr val="bg1">
                <a:lumMod val="75000"/>
                <a:alpha val="40000"/>
              </a:schemeClr>
            </a:glow>
            <a:reflection endPos="0" dir="5400000" sy="-100000" algn="bl" rotWithShape="0"/>
          </a:effectLst>
        </p:grpSpPr>
        <p:cxnSp>
          <p:nvCxnSpPr>
            <p:cNvPr id="7" name="Straight Connector 6"/>
            <p:cNvCxnSpPr/>
            <p:nvPr/>
          </p:nvCxnSpPr>
          <p:spPr>
            <a:xfrm>
              <a:off x="6357842" y="3559409"/>
              <a:ext cx="6744" cy="306421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087111" y="2435331"/>
              <a:ext cx="28913" cy="1439552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7214042" y="2939581"/>
              <a:ext cx="19677" cy="935302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8391307" y="2159170"/>
              <a:ext cx="28416" cy="1742874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585988" y="4137434"/>
              <a:ext cx="4740" cy="146131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320387" y="4639506"/>
              <a:ext cx="5114" cy="23218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5156029" y="3850912"/>
              <a:ext cx="13500" cy="268415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7431257" y="3066922"/>
              <a:ext cx="19745" cy="817015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9618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Evalua</a:t>
            </a:r>
            <a:r>
              <a:rPr lang="ro-RO" sz="3200" dirty="0"/>
              <a:t>rea </a:t>
            </a:r>
            <a:r>
              <a:rPr lang="en-US" sz="3200" dirty="0" err="1"/>
              <a:t>Eror</a:t>
            </a:r>
            <a:r>
              <a:rPr lang="ro-RO" sz="3200" dirty="0"/>
              <a:t>ilor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30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16450" y="1197992"/>
                <a:ext cx="10759100" cy="4385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Pentru a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cuantifica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cât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de bine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funcționează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un model,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definim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o funcție pierdere (</a:t>
                </a:r>
                <a:r>
                  <a:rPr lang="en-US" sz="2400" b="1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loss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)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sau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eroare (</a:t>
                </a:r>
                <a:r>
                  <a:rPr lang="en-US" sz="2400" b="1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error function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)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.</a:t>
                </a:r>
                <a:r>
                  <a:rPr lang="en-US" sz="2400" b="1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</a:p>
              <a:p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O funcție uzuală în acest sens este Eroarea Medie Pătratică - </a:t>
                </a:r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Mean Squared Error (MSE):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</a:p>
              <a:p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antitate</m:t>
                    </m:r>
                    <m:r>
                      <m:rPr>
                        <m:sty m:val="p"/>
                      </m:rP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a</m:t>
                    </m:r>
                    <m:r>
                      <a:rPr lang="ro-RO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𝑦</m:t>
                        </m:r>
                      </m:e>
                      <m:sub>
                        <m:r>
                          <a:rPr lang="en-US" sz="24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𝑖</m:t>
                        </m:r>
                      </m:sub>
                    </m:sSub>
                    <m:r>
                      <a:rPr lang="en-US" sz="2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</m:ctrlPr>
                          </m:accPr>
                          <m:e>
                            <m:r>
                              <a:rPr lang="en-US" sz="240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Karla" charset="0"/>
                                <a:cs typeface="Karla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se numește </a:t>
                </a:r>
                <a:r>
                  <a:rPr lang="en-US" sz="2400" b="1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re</a:t>
                </a:r>
                <a:r>
                  <a:rPr lang="ro-RO" sz="2400" b="1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ziduul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și măsoară eroarea celei de a </a:t>
                </a:r>
                <a:r>
                  <a:rPr lang="en-US" sz="24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i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-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a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predic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ții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.</a:t>
                </a:r>
              </a:p>
              <a:p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0" y="1197992"/>
                <a:ext cx="10759100" cy="4385816"/>
              </a:xfrm>
              <a:prstGeom prst="rect">
                <a:avLst/>
              </a:prstGeom>
              <a:blipFill>
                <a:blip r:embed="rId3"/>
                <a:stretch>
                  <a:fillRect l="-907" t="-1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757" y="3090638"/>
            <a:ext cx="375920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06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Evalua</a:t>
            </a:r>
            <a:r>
              <a:rPr lang="ro-RO" sz="3200" dirty="0"/>
              <a:t>rea </a:t>
            </a:r>
            <a:r>
              <a:rPr lang="en-US" sz="3200" dirty="0" err="1"/>
              <a:t>Eror</a:t>
            </a:r>
            <a:r>
              <a:rPr lang="ro-RO" sz="3200" dirty="0"/>
              <a:t>ilor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31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52362" y="63310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3544" y="1415137"/>
            <a:ext cx="109830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Atenție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: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Eroarea medie pătratică nu este unica funcție de acest fel și nici cea mai bună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! </a:t>
            </a:r>
          </a:p>
          <a:p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r>
              <a:rPr lang="ro-RO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Întrebare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: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Cum am putea măsura eroarea în cazul variabilelor țintă categoriale (clasificare)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? 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r>
              <a:rPr lang="ro-RO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Observație</a:t>
            </a:r>
            <a:r>
              <a:rPr lang="en-US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: </a:t>
            </a:r>
            <a:r>
              <a:rPr lang="ro-RO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Abaterea medie pătratică  - 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he square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oot of the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ean of the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quared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rrors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sau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(RMSE)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este de asemena foarte des folosită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 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594" y="4524122"/>
            <a:ext cx="617728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96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Unde am ajuns: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496" y="1196445"/>
            <a:ext cx="10327008" cy="5317171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400" b="1" dirty="0" err="1"/>
              <a:t>Modelare</a:t>
            </a:r>
            <a:r>
              <a:rPr lang="en-US" sz="2400" b="1" dirty="0"/>
              <a:t> s</a:t>
            </a:r>
            <a:r>
              <a:rPr lang="ro-RO" sz="2400" b="1" dirty="0"/>
              <a:t>tatistică</a:t>
            </a:r>
            <a:endParaRPr lang="en-US" sz="2400" b="1" dirty="0"/>
          </a:p>
          <a:p>
            <a:pPr>
              <a:spcAft>
                <a:spcPts val="1200"/>
              </a:spcAft>
            </a:pPr>
            <a:r>
              <a:rPr lang="en-US" sz="2400" dirty="0"/>
              <a:t>	k-Nearest Neighbors (</a:t>
            </a:r>
            <a:r>
              <a:rPr lang="en-US" sz="2400" dirty="0" err="1"/>
              <a:t>kNN</a:t>
            </a:r>
            <a:r>
              <a:rPr lang="en-US" sz="2400" dirty="0"/>
              <a:t>) </a:t>
            </a:r>
          </a:p>
          <a:p>
            <a:pPr>
              <a:spcBef>
                <a:spcPts val="1872"/>
              </a:spcBef>
              <a:spcAft>
                <a:spcPts val="1200"/>
              </a:spcAft>
            </a:pPr>
            <a:r>
              <a:rPr lang="ro-RO" sz="2400" b="1" dirty="0"/>
              <a:t>Evaluarea modelului</a:t>
            </a:r>
            <a:endParaRPr lang="en-US" sz="2400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	</a:t>
            </a:r>
            <a:r>
              <a:rPr lang="ro-RO" sz="2400" dirty="0"/>
              <a:t>Cât de bun e modelul pentru prognoză</a:t>
            </a:r>
            <a:r>
              <a:rPr lang="en-US" sz="2400" dirty="0"/>
              <a:t>? </a:t>
            </a:r>
            <a:endParaRPr lang="en-US" sz="2400" b="1" dirty="0"/>
          </a:p>
          <a:p>
            <a:pPr>
              <a:spcBef>
                <a:spcPts val="1872"/>
              </a:spcBef>
              <a:spcAft>
                <a:spcPts val="1200"/>
              </a:spcAft>
            </a:pPr>
            <a:r>
              <a:rPr lang="en-US" sz="2400" b="1" dirty="0" err="1"/>
              <a:t>Compar</a:t>
            </a:r>
            <a:r>
              <a:rPr lang="ro-RO" sz="2400" b="1" dirty="0"/>
              <a:t>area  a două modele statistice</a:t>
            </a:r>
            <a:endParaRPr lang="en-US" sz="2400" b="1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	</a:t>
            </a:r>
            <a:r>
              <a:rPr lang="ro-RO" sz="2400" dirty="0"/>
              <a:t>Cum putem alege între două modele</a:t>
            </a:r>
            <a:r>
              <a:rPr lang="en-US" sz="2400" dirty="0"/>
              <a:t>?</a:t>
            </a:r>
          </a:p>
          <a:p>
            <a:pPr>
              <a:spcBef>
                <a:spcPts val="1872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8688" y="2376377"/>
            <a:ext cx="10315575" cy="118586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299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Compararea</a:t>
            </a:r>
            <a:r>
              <a:rPr lang="en-US" sz="4000" dirty="0"/>
              <a:t> </a:t>
            </a:r>
            <a:r>
              <a:rPr lang="en-US" sz="4000" dirty="0" err="1"/>
              <a:t>modele</a:t>
            </a:r>
            <a:r>
              <a:rPr lang="ro-RO" sz="4000" dirty="0"/>
              <a:t>lor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6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E6D5A1-DB34-984F-AB39-8815ED7C5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463039"/>
            <a:ext cx="6858002" cy="4572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Compararea</a:t>
            </a:r>
            <a:r>
              <a:rPr lang="en-US" sz="3200" dirty="0"/>
              <a:t> </a:t>
            </a:r>
            <a:r>
              <a:rPr lang="en-US" sz="3200" dirty="0" err="1"/>
              <a:t>modele</a:t>
            </a:r>
            <a:r>
              <a:rPr lang="ro-RO" sz="3200" dirty="0"/>
              <a:t>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3853A-2695-1A41-BADF-8769A3B8B67C}"/>
              </a:ext>
            </a:extLst>
          </p:cNvPr>
          <p:cNvSpPr txBox="1"/>
          <p:nvPr/>
        </p:nvSpPr>
        <p:spPr>
          <a:xfrm>
            <a:off x="486775" y="901417"/>
            <a:ext cx="11355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Calculăm erorile pentru diferite valori ale lui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k</a:t>
            </a:r>
            <a:r>
              <a:rPr lang="ro-RO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și comparăm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RMSE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-urile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 k=3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pare cea mai buna alegere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626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1601962-A22B-084F-BBA2-383781FD3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5" y="1828800"/>
            <a:ext cx="6515100" cy="4343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Evaluarea modelului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06686" y="4833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5958" y="902522"/>
            <a:ext cx="8444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Pentru o submulțime de antrenament calculăm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RMSE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pentru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k=3.</a:t>
            </a:r>
            <a:r>
              <a:rPr lang="ro-RO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</a:p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Este o valoare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RMSE=5.0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suficient de bună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?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37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Evaluarea modelului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06686" y="4833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42896" y="864321"/>
            <a:ext cx="10369093" cy="461665"/>
          </a:xfrm>
          <a:prstGeom prst="rect">
            <a:avLst/>
          </a:prstGeom>
          <a:solidFill>
            <a:srgbClr val="F9F9F9"/>
          </a:solidFill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Dar dacă măsurăm vânzările în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cen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ți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 loc de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dol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? 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5B0330-C327-6A4E-B7E0-4A23FB3E3695}"/>
              </a:ext>
            </a:extLst>
          </p:cNvPr>
          <p:cNvGrpSpPr/>
          <p:nvPr/>
        </p:nvGrpSpPr>
        <p:grpSpPr>
          <a:xfrm>
            <a:off x="2615183" y="1828628"/>
            <a:ext cx="9373617" cy="4343399"/>
            <a:chOff x="2615183" y="1828628"/>
            <a:chExt cx="9373617" cy="43433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F83083C-7A84-2243-A605-5E973513F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5183" y="1828628"/>
              <a:ext cx="6515099" cy="4343399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9340207" y="2258860"/>
              <a:ext cx="26485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rPr>
                <a:t>RMSE </a:t>
              </a:r>
              <a:r>
                <a:rPr lang="ro-RO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rPr>
                <a:t>este </a:t>
              </a:r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rPr>
                <a:t>5004.93. </a:t>
              </a:r>
            </a:p>
            <a:p>
              <a:r>
                <a:rPr lang="ro-RO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rPr>
                <a:t>E bine așa</a:t>
              </a:r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rPr>
                <a:t>?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4228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06686" y="4833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Evaluarea modelului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42895" y="864320"/>
            <a:ext cx="10538911" cy="461665"/>
          </a:xfrm>
          <a:prstGeom prst="rect">
            <a:avLst/>
          </a:prstGeom>
          <a:solidFill>
            <a:srgbClr val="F9F9F9"/>
          </a:solidFill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Cel mai bine să comparăm cu ceva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 </a:t>
            </a:r>
            <a:endParaRPr lang="en-US" sz="2400" dirty="0">
              <a:latin typeface="Karla" charset="0"/>
              <a:ea typeface="Karla" charset="0"/>
              <a:cs typeface="Karla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012013-BE7F-5742-94EA-AA145817188E}"/>
              </a:ext>
            </a:extLst>
          </p:cNvPr>
          <p:cNvGrpSpPr/>
          <p:nvPr/>
        </p:nvGrpSpPr>
        <p:grpSpPr>
          <a:xfrm>
            <a:off x="2614926" y="1828630"/>
            <a:ext cx="9577073" cy="4343570"/>
            <a:chOff x="2614926" y="1828630"/>
            <a:chExt cx="9577073" cy="434357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054211D-E34D-0C4D-96EA-CC03FBBEF75D}"/>
                </a:ext>
              </a:extLst>
            </p:cNvPr>
            <p:cNvGrpSpPr/>
            <p:nvPr/>
          </p:nvGrpSpPr>
          <p:grpSpPr>
            <a:xfrm>
              <a:off x="2614926" y="1828630"/>
              <a:ext cx="8473561" cy="4343570"/>
              <a:chOff x="2614926" y="1828630"/>
              <a:chExt cx="8473561" cy="434357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E44E919-B9C4-7946-A62C-AEBC8538D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4926" y="1828630"/>
                <a:ext cx="6515355" cy="4343570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0833" y="3400136"/>
                <a:ext cx="1617654" cy="856405"/>
              </a:xfrm>
              <a:prstGeom prst="rect">
                <a:avLst/>
              </a:prstGeom>
            </p:spPr>
          </p:pic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23DFD2-6682-354E-A9F3-C4295537485B}"/>
                </a:ext>
              </a:extLst>
            </p:cNvPr>
            <p:cNvSpPr/>
            <p:nvPr/>
          </p:nvSpPr>
          <p:spPr>
            <a:xfrm>
              <a:off x="9248930" y="2725556"/>
              <a:ext cx="294306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o-RO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rPr>
                <a:t>Folosim cel mai simplu model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rPr>
                <a:t>: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0178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</a:t>
            </a:r>
            <a:r>
              <a:rPr lang="ro-RO" dirty="0"/>
              <a:t>pătrat (R-</a:t>
            </a:r>
            <a:r>
              <a:rPr lang="en-US" dirty="0"/>
              <a:t>squared</a:t>
            </a:r>
            <a:r>
              <a:rPr lang="ro-RO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32496" y="3390900"/>
                <a:ext cx="10327008" cy="2111143"/>
              </a:xfrm>
            </p:spPr>
            <p:txBody>
              <a:bodyPr/>
              <a:lstStyle/>
              <a:p>
                <a:pPr marL="457200" indent="-457200">
                  <a:spcAft>
                    <a:spcPts val="1200"/>
                  </a:spcAft>
                  <a:buFont typeface="Arial" charset="0"/>
                  <a:buChar char="•"/>
                </a:pP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Dacă modelul e la fel de bun ca media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,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atunci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=0</m:t>
                    </m:r>
                  </m:oMath>
                </a14:m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pPr marL="457200" indent="-457200">
                  <a:spcAft>
                    <a:spcPts val="1200"/>
                  </a:spcAft>
                  <a:buFont typeface="Arial" charset="0"/>
                  <a:buChar char="•"/>
                </a:pP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Dacă modelul e 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perfect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atunci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1</m:t>
                    </m:r>
                  </m:oMath>
                </a14:m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pPr marL="457200" indent="-457200">
                  <a:spcAft>
                    <a:spcPts val="1200"/>
                  </a:spcAft>
                  <a:buFont typeface="Arial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poate fi negativ dacă modelul rezultat e mai prost ca media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.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Asta se poate întâmpla în practică, atunci când evaluăm pe datele de test.</a:t>
                </a:r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2496" y="3390900"/>
                <a:ext cx="10327008" cy="2111143"/>
              </a:xfrm>
              <a:blipFill>
                <a:blip r:embed="rId3"/>
                <a:stretch>
                  <a:fillRect l="-826" t="-2305" b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06686" y="4833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329" y="1637329"/>
            <a:ext cx="3596640" cy="92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051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Media erorilor absolute la predicție – MAE, MAPE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 practica modelelor de învățare cu supervizare, comparația modelelor se face pe un set de date adnotat pentru a evalua performanța la pronoza pe date </a:t>
            </a:r>
            <a:r>
              <a:rPr lang="ro-RO" sz="2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noi</a:t>
            </a:r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Alte două metode utilizate frecvent sunt:</a:t>
            </a:r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endParaRPr lang="ro-RO" sz="2400" b="1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endParaRPr lang="ro-RO" sz="2400" b="1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06686" y="4833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591D6E-3791-42C6-C6EE-CC8935716236}"/>
                  </a:ext>
                </a:extLst>
              </p:cNvPr>
              <p:cNvSpPr txBox="1"/>
              <p:nvPr/>
            </p:nvSpPr>
            <p:spPr>
              <a:xfrm>
                <a:off x="3817773" y="3429000"/>
                <a:ext cx="3102781" cy="672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591D6E-3791-42C6-C6EE-CC8935716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773" y="3429000"/>
                <a:ext cx="3102781" cy="672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9C70D-0794-29E3-1BCF-6E18EB85D3E1}"/>
                  </a:ext>
                </a:extLst>
              </p:cNvPr>
              <p:cNvSpPr txBox="1"/>
              <p:nvPr/>
            </p:nvSpPr>
            <p:spPr>
              <a:xfrm>
                <a:off x="3907617" y="4639306"/>
                <a:ext cx="3102781" cy="8976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𝑀𝐴𝑃𝐸</m:t>
                      </m:r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 dirty="0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9C70D-0794-29E3-1BCF-6E18EB85D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617" y="4639306"/>
                <a:ext cx="3102781" cy="8976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897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Recapitulare</a:t>
            </a: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32496" y="1196445"/>
                <a:ext cx="10327008" cy="5317171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sz="2400" b="1" dirty="0" err="1"/>
                  <a:t>Modelare</a:t>
                </a:r>
                <a:r>
                  <a:rPr lang="en-US" sz="2400" b="1" dirty="0"/>
                  <a:t> s</a:t>
                </a:r>
                <a:r>
                  <a:rPr lang="ro-RO" sz="2400" b="1" dirty="0"/>
                  <a:t>tatistică</a:t>
                </a:r>
                <a:endParaRPr lang="en-US" sz="2400" b="1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	k-Nearest Neighbors (</a:t>
                </a:r>
                <a:r>
                  <a:rPr lang="en-US" sz="2400" dirty="0" err="1"/>
                  <a:t>kNN</a:t>
                </a:r>
                <a:r>
                  <a:rPr lang="en-US" sz="2400" dirty="0"/>
                  <a:t>) </a:t>
                </a:r>
                <a:r>
                  <a:rPr lang="ro-RO" sz="2400" dirty="0"/>
                  <a:t>– exemplu de modelare statistică</a:t>
                </a:r>
                <a:endParaRPr lang="en-US" sz="2400" dirty="0"/>
              </a:p>
              <a:p>
                <a:pPr>
                  <a:spcBef>
                    <a:spcPts val="1872"/>
                  </a:spcBef>
                  <a:spcAft>
                    <a:spcPts val="1200"/>
                  </a:spcAft>
                </a:pPr>
                <a:r>
                  <a:rPr lang="ro-RO" sz="2400" b="1" dirty="0"/>
                  <a:t>Evaluarea modelului</a:t>
                </a:r>
                <a:endParaRPr lang="en-US" sz="2400" b="1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	</a:t>
                </a:r>
                <a:r>
                  <a:rPr lang="ro-RO" sz="2400" dirty="0"/>
                  <a:t>Cât de bun e modelul pentru prognoză</a:t>
                </a:r>
                <a:r>
                  <a:rPr lang="en-US" sz="2400" dirty="0"/>
                  <a:t>? </a:t>
                </a:r>
                <a:r>
                  <a:rPr lang="ro-RO" sz="2400" dirty="0"/>
                  <a:t> - MSE, RMSE, MAE</a:t>
                </a:r>
                <a:endParaRPr lang="en-US" sz="2400" b="1" dirty="0"/>
              </a:p>
              <a:p>
                <a:pPr>
                  <a:spcBef>
                    <a:spcPts val="1872"/>
                  </a:spcBef>
                  <a:spcAft>
                    <a:spcPts val="1200"/>
                  </a:spcAft>
                </a:pPr>
                <a:r>
                  <a:rPr lang="en-US" sz="2400" b="1" dirty="0" err="1"/>
                  <a:t>Compar</a:t>
                </a:r>
                <a:r>
                  <a:rPr lang="ro-RO" sz="2400" b="1" dirty="0"/>
                  <a:t>area  a două modele statistice</a:t>
                </a:r>
                <a:endParaRPr lang="en-US" sz="2400" b="1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	</a:t>
                </a:r>
                <a:r>
                  <a:rPr lang="ro-RO" sz="2400" dirty="0"/>
                  <a:t>Cum putem alege între două modele</a:t>
                </a:r>
                <a:r>
                  <a:rPr lang="en-US" sz="2400" dirty="0"/>
                  <a:t>?</a:t>
                </a:r>
                <a:r>
                  <a:rPr lang="ro-RO" sz="2400" dirty="0"/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o-RO" sz="2400" dirty="0"/>
                  <a:t>, MAE, MAPE pe date test</a:t>
                </a:r>
                <a:endParaRPr lang="en-US" sz="2400" dirty="0"/>
              </a:p>
              <a:p>
                <a:pPr>
                  <a:spcBef>
                    <a:spcPts val="1872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2496" y="1196445"/>
                <a:ext cx="10327008" cy="5317171"/>
              </a:xfrm>
              <a:blipFill>
                <a:blip r:embed="rId2"/>
                <a:stretch>
                  <a:fillRect l="-945" t="-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660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sz="4000" dirty="0"/>
              <a:t>Regresie Liniară Simplă</a:t>
            </a:r>
            <a:endParaRPr lang="en-US" sz="4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A403321-B3B2-4AC7-BCA7-A964EF977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76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Planul cursului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E54E5B-C88E-ED43-B951-CBA664C28785}"/>
              </a:ext>
            </a:extLst>
          </p:cNvPr>
          <p:cNvSpPr txBox="1">
            <a:spLocks/>
          </p:cNvSpPr>
          <p:nvPr/>
        </p:nvSpPr>
        <p:spPr>
          <a:xfrm>
            <a:off x="1041240" y="1134895"/>
            <a:ext cx="10045860" cy="4674402"/>
          </a:xfrm>
          <a:prstGeom prst="rect">
            <a:avLst/>
          </a:prstGeom>
          <a:ln w="12700"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Modele 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Lin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iare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Estima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rea coeficienților de regresie</a:t>
            </a:r>
            <a:endParaRPr lang="en-US" sz="2400" dirty="0">
              <a:latin typeface="Karla" charset="0"/>
              <a:ea typeface="Karla" charset="0"/>
              <a:cs typeface="Karla" charset="0"/>
            </a:endParaRPr>
          </a:p>
          <a:p>
            <a:pPr marL="1085820" lvl="1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000" dirty="0">
                <a:latin typeface="Karla" charset="0"/>
                <a:ea typeface="Karla" charset="0"/>
                <a:cs typeface="Karla" charset="0"/>
              </a:rPr>
              <a:t>Metoda exactă</a:t>
            </a:r>
            <a:endParaRPr lang="en-US" sz="2000" dirty="0">
              <a:latin typeface="Karla" charset="0"/>
              <a:ea typeface="Karla" charset="0"/>
              <a:cs typeface="Karla" charset="0"/>
            </a:endParaRPr>
          </a:p>
          <a:p>
            <a:pPr marL="1085820" lvl="1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000" dirty="0">
                <a:latin typeface="Karla" charset="0"/>
                <a:ea typeface="Karla" charset="0"/>
                <a:cs typeface="Karla" charset="0"/>
              </a:rPr>
              <a:t>Metoda Gradientului - </a:t>
            </a:r>
            <a:r>
              <a:rPr lang="en-US" sz="2000" dirty="0">
                <a:latin typeface="Karla" charset="0"/>
                <a:ea typeface="Karla" charset="0"/>
                <a:cs typeface="Karla" charset="0"/>
              </a:rPr>
              <a:t>Gradient Descent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Intervale de încredere pentru estimările predictorilor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1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Planul cursului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E54E5B-C88E-ED43-B951-CBA664C28785}"/>
              </a:ext>
            </a:extLst>
          </p:cNvPr>
          <p:cNvSpPr txBox="1">
            <a:spLocks/>
          </p:cNvSpPr>
          <p:nvPr/>
        </p:nvSpPr>
        <p:spPr>
          <a:xfrm>
            <a:off x="1041240" y="1134895"/>
            <a:ext cx="10045860" cy="4674402"/>
          </a:xfrm>
          <a:prstGeom prst="rect">
            <a:avLst/>
          </a:prstGeom>
          <a:ln w="12700"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400" b="1" dirty="0">
                <a:latin typeface="Karla" charset="0"/>
                <a:ea typeface="Karla" charset="0"/>
                <a:cs typeface="Karla" charset="0"/>
              </a:rPr>
              <a:t>Modele </a:t>
            </a:r>
            <a:r>
              <a:rPr lang="en-US" sz="2400" b="1" dirty="0">
                <a:latin typeface="Karla" charset="0"/>
                <a:ea typeface="Karla" charset="0"/>
                <a:cs typeface="Karla" charset="0"/>
              </a:rPr>
              <a:t>Lin</a:t>
            </a:r>
            <a:r>
              <a:rPr lang="ro-RO" sz="2400" b="1" dirty="0">
                <a:latin typeface="Karla" charset="0"/>
                <a:ea typeface="Karla" charset="0"/>
                <a:cs typeface="Karla" charset="0"/>
              </a:rPr>
              <a:t>iare</a:t>
            </a:r>
            <a:r>
              <a:rPr lang="en-US" sz="2400" b="1" dirty="0">
                <a:latin typeface="Karla" charset="0"/>
                <a:ea typeface="Karla" charset="0"/>
                <a:cs typeface="Karla" charset="0"/>
              </a:rPr>
              <a:t>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Estima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rea coeficienților de regresie</a:t>
            </a:r>
            <a:endParaRPr lang="en-US" sz="2400" dirty="0">
              <a:latin typeface="Karla" charset="0"/>
              <a:ea typeface="Karla" charset="0"/>
              <a:cs typeface="Karla" charset="0"/>
            </a:endParaRPr>
          </a:p>
          <a:p>
            <a:pPr marL="1085820" lvl="1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000" dirty="0">
                <a:latin typeface="Karla" charset="0"/>
                <a:ea typeface="Karla" charset="0"/>
                <a:cs typeface="Karla" charset="0"/>
              </a:rPr>
              <a:t>Metoda exactă</a:t>
            </a:r>
            <a:endParaRPr lang="en-US" sz="2000" dirty="0">
              <a:latin typeface="Karla" charset="0"/>
              <a:ea typeface="Karla" charset="0"/>
              <a:cs typeface="Karla" charset="0"/>
            </a:endParaRPr>
          </a:p>
          <a:p>
            <a:pPr marL="1085820" lvl="1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000" dirty="0">
                <a:latin typeface="Karla" charset="0"/>
                <a:ea typeface="Karla" charset="0"/>
                <a:cs typeface="Karla" charset="0"/>
              </a:rPr>
              <a:t>Metoda Gradientului - </a:t>
            </a:r>
            <a:r>
              <a:rPr lang="en-US" sz="2000" dirty="0">
                <a:latin typeface="Karla" charset="0"/>
                <a:ea typeface="Karla" charset="0"/>
                <a:cs typeface="Karla" charset="0"/>
              </a:rPr>
              <a:t>Gradient Descent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Intervale de încredere pentru estimările predictorilor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02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Modele liniare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800"/>
                  </a:spcAft>
                </a:pPr>
                <a:r>
                  <a:rPr lang="en-US" sz="2400" dirty="0"/>
                  <a:t>Rețineți că, în construirea modelului nostru kNN pentru predicție, nu am calculat o formă închisă pentru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400" dirty="0"/>
                  <a:t>. </a:t>
                </a:r>
              </a:p>
              <a:p>
                <a:pPr>
                  <a:spcAft>
                    <a:spcPts val="2400"/>
                  </a:spcAft>
                </a:pPr>
                <a:r>
                  <a:rPr lang="ro-RO" sz="2400" dirty="0"/>
                  <a:t>Dar ce facem cu o întrebare de  tipul</a:t>
                </a:r>
                <a:r>
                  <a:rPr lang="en-US" sz="2400" dirty="0"/>
                  <a:t>: </a:t>
                </a:r>
              </a:p>
              <a:p>
                <a:r>
                  <a:rPr lang="en-US" sz="2500" i="1" dirty="0">
                    <a:solidFill>
                      <a:schemeClr val="tx2"/>
                    </a:solidFill>
                  </a:rPr>
                  <a:t>	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“</a:t>
                </a:r>
                <a:r>
                  <a:rPr lang="en-US" sz="2500" i="1" dirty="0" err="1">
                    <a:solidFill>
                      <a:schemeClr val="accent2">
                        <a:lumMod val="75000"/>
                      </a:schemeClr>
                    </a:solidFill>
                  </a:rPr>
                  <a:t>cât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de </a:t>
                </a:r>
                <a:r>
                  <a:rPr lang="en-US" sz="2500" i="1" dirty="0" err="1">
                    <a:solidFill>
                      <a:schemeClr val="accent2">
                        <a:lumMod val="75000"/>
                      </a:schemeClr>
                    </a:solidFill>
                  </a:rPr>
                  <a:t>mult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ne </a:t>
                </a:r>
                <a:r>
                  <a:rPr lang="en-US" sz="2500" i="1" dirty="0" err="1">
                    <a:solidFill>
                      <a:schemeClr val="accent2">
                        <a:lumMod val="75000"/>
                      </a:schemeClr>
                    </a:solidFill>
                  </a:rPr>
                  <a:t>așteptăm</a:t>
                </a:r>
                <a:r>
                  <a:rPr lang="ro-RO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să crească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2500" i="1" dirty="0" err="1">
                    <a:solidFill>
                      <a:schemeClr val="accent2">
                        <a:lumMod val="75000"/>
                      </a:schemeClr>
                    </a:solidFill>
                  </a:rPr>
                  <a:t>vânzări</a:t>
                </a:r>
                <a:r>
                  <a:rPr lang="ro-RO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le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2500" i="1" dirty="0" err="1">
                    <a:solidFill>
                      <a:schemeClr val="accent2">
                        <a:lumMod val="75000"/>
                      </a:schemeClr>
                    </a:solidFill>
                  </a:rPr>
                  <a:t>dacă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2500" i="1" dirty="0" err="1">
                    <a:solidFill>
                      <a:schemeClr val="accent2">
                        <a:lumMod val="75000"/>
                      </a:schemeClr>
                    </a:solidFill>
                  </a:rPr>
                  <a:t>dublăm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2500" i="1" dirty="0" err="1">
                    <a:solidFill>
                      <a:schemeClr val="accent2">
                        <a:lumMod val="75000"/>
                      </a:schemeClr>
                    </a:solidFill>
                  </a:rPr>
                  <a:t>bugetul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sz="2500" i="1" dirty="0" err="1">
                    <a:solidFill>
                      <a:schemeClr val="accent2">
                        <a:lumMod val="75000"/>
                      </a:schemeClr>
                    </a:solidFill>
                  </a:rPr>
                  <a:t>publicității</a:t>
                </a:r>
                <a:r>
                  <a:rPr lang="en-US" sz="2500" i="1" dirty="0">
                    <a:solidFill>
                      <a:schemeClr val="accent2">
                        <a:lumMod val="75000"/>
                      </a:schemeClr>
                    </a:solidFill>
                  </a:rPr>
                  <a:t> TV?” </a:t>
                </a:r>
              </a:p>
              <a:p>
                <a:endParaRPr lang="en-US" sz="2400" dirty="0">
                  <a:solidFill>
                    <a:schemeClr val="tx2"/>
                  </a:solidFill>
                </a:endParaRPr>
              </a:p>
              <a:p>
                <a:r>
                  <a:rPr lang="en-US" sz="2400" b="1" dirty="0" err="1"/>
                  <a:t>Alternativ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putem</a:t>
                </a:r>
                <a:r>
                  <a:rPr lang="en-US" sz="2400" dirty="0"/>
                  <a:t> construi un model presupunând mai întâi o formă </a:t>
                </a:r>
                <a:r>
                  <a:rPr lang="en-US" sz="2400" dirty="0" err="1"/>
                  <a:t>simplă</a:t>
                </a:r>
                <a:r>
                  <a:rPr lang="en-US" sz="2400" dirty="0"/>
                  <a:t> de</a:t>
                </a:r>
                <a:r>
                  <a:rPr lang="ro-RO" sz="2400" dirty="0"/>
                  <a:t> pentru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: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4" t="-2305" r="-826" b="-9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27633-F65F-754F-A436-835CC3027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680" y="4979682"/>
            <a:ext cx="4866640" cy="375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6AC0F7-9DD3-7645-86C0-F63DB6CE6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408013"/>
            <a:ext cx="2146172" cy="143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8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Regresie liniară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mr-I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…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apoi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rezultă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că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estima</a:t>
                </a:r>
                <a:r>
                  <a:rPr lang="ro-RO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torul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no</a:t>
                </a:r>
                <a:r>
                  <a:rPr lang="ro-RO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stru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este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:</a:t>
                </a:r>
              </a:p>
              <a:p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charset="0"/>
                </a:endParaRPr>
              </a:p>
              <a:p>
                <a:br>
                  <a:rPr lang="en-US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</a:br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r>
                  <a:rPr lang="ro-RO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unde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ro-RO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și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o-RO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sunt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b="1" dirty="0" err="1">
                    <a:solidFill>
                      <a:schemeClr val="tx2">
                        <a:lumMod val="75000"/>
                      </a:schemeClr>
                    </a:solidFill>
                  </a:rPr>
                  <a:t>estim</a:t>
                </a:r>
                <a:r>
                  <a:rPr lang="ro-RO" b="1" dirty="0">
                    <a:solidFill>
                      <a:schemeClr val="tx2">
                        <a:lumMod val="75000"/>
                      </a:schemeClr>
                    </a:solidFill>
                  </a:rPr>
                  <a:t>ări</a:t>
                </a:r>
                <a:r>
                  <a:rPr lang="en-US" dirty="0">
                    <a:solidFill>
                      <a:schemeClr val="tx2">
                        <a:lumMod val="75000"/>
                      </a:schemeClr>
                    </a:solidFill>
                  </a:rPr>
                  <a:t> </a:t>
                </a:r>
                <a:r>
                  <a:rPr lang="ro-RO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pentru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ro-RO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și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respectiv, </a:t>
                </a:r>
                <a:r>
                  <a:rPr lang="ro-RO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și le calculăm folosind observațiile</a:t>
                </a:r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b="-70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519" y="2682655"/>
            <a:ext cx="3606800" cy="477520"/>
          </a:xfrm>
          <a:prstGeom prst="rect">
            <a:avLst/>
          </a:prstGeom>
          <a:solidFill>
            <a:srgbClr val="CFDCE8"/>
          </a:solidFill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9936488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Planul cursului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E54E5B-C88E-ED43-B951-CBA664C28785}"/>
              </a:ext>
            </a:extLst>
          </p:cNvPr>
          <p:cNvSpPr txBox="1">
            <a:spLocks/>
          </p:cNvSpPr>
          <p:nvPr/>
        </p:nvSpPr>
        <p:spPr>
          <a:xfrm>
            <a:off x="1041240" y="1134895"/>
            <a:ext cx="10045860" cy="4674402"/>
          </a:xfrm>
          <a:prstGeom prst="rect">
            <a:avLst/>
          </a:prstGeom>
          <a:ln w="12700"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Modele 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Lin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iare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-US" sz="2400" b="1" dirty="0" err="1">
                <a:latin typeface="Karla" charset="0"/>
                <a:ea typeface="Karla" charset="0"/>
                <a:cs typeface="Karla" charset="0"/>
              </a:rPr>
              <a:t>Estima</a:t>
            </a:r>
            <a:r>
              <a:rPr lang="ro-RO" sz="2400" b="1" dirty="0">
                <a:latin typeface="Karla" charset="0"/>
                <a:ea typeface="Karla" charset="0"/>
                <a:cs typeface="Karla" charset="0"/>
              </a:rPr>
              <a:t>rea coeficienților de regresie</a:t>
            </a:r>
            <a:endParaRPr lang="en-US" sz="2400" b="1" dirty="0">
              <a:latin typeface="Karla" charset="0"/>
              <a:ea typeface="Karla" charset="0"/>
              <a:cs typeface="Karla" charset="0"/>
            </a:endParaRPr>
          </a:p>
          <a:p>
            <a:pPr marL="1085820" lvl="1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000" dirty="0">
                <a:latin typeface="Karla" charset="0"/>
                <a:ea typeface="Karla" charset="0"/>
                <a:cs typeface="Karla" charset="0"/>
              </a:rPr>
              <a:t>Metoda exactă</a:t>
            </a:r>
            <a:endParaRPr lang="en-US" sz="2000" dirty="0">
              <a:latin typeface="Karla" charset="0"/>
              <a:ea typeface="Karla" charset="0"/>
              <a:cs typeface="Karla" charset="0"/>
            </a:endParaRPr>
          </a:p>
          <a:p>
            <a:pPr marL="1085820" lvl="1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000" dirty="0">
                <a:latin typeface="Karla" charset="0"/>
                <a:ea typeface="Karla" charset="0"/>
                <a:cs typeface="Karla" charset="0"/>
              </a:rPr>
              <a:t>Metoda Gradientului - </a:t>
            </a:r>
            <a:r>
              <a:rPr lang="en-US" sz="2000" dirty="0">
                <a:latin typeface="Karla" charset="0"/>
                <a:ea typeface="Karla" charset="0"/>
                <a:cs typeface="Karla" charset="0"/>
              </a:rPr>
              <a:t>Gradient Descent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Intervale de încredere pentru estimările predictorilor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7081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A5E98B-37A6-1849-A64A-0FF1F5F7C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463038"/>
            <a:ext cx="6858002" cy="4572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 err="1">
                <a:latin typeface="Karla" charset="0"/>
                <a:ea typeface="Karla" charset="0"/>
                <a:cs typeface="Karla" charset="0"/>
              </a:rPr>
              <a:t>Estimarea</a:t>
            </a:r>
            <a:r>
              <a:rPr lang="en-US" sz="32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3200" dirty="0" err="1">
                <a:latin typeface="Karla" charset="0"/>
                <a:ea typeface="Karla" charset="0"/>
                <a:cs typeface="Karla" charset="0"/>
              </a:rPr>
              <a:t>coeficienților</a:t>
            </a:r>
            <a:r>
              <a:rPr lang="en-US" sz="3200" dirty="0">
                <a:latin typeface="Karla" charset="0"/>
                <a:ea typeface="Karla" charset="0"/>
                <a:cs typeface="Karla" charset="0"/>
              </a:rPr>
              <a:t> de </a:t>
            </a:r>
            <a:r>
              <a:rPr lang="en-US" sz="3200" dirty="0" err="1">
                <a:latin typeface="Karla" charset="0"/>
                <a:ea typeface="Karla" charset="0"/>
                <a:cs typeface="Karla" charset="0"/>
              </a:rPr>
              <a:t>regresie</a:t>
            </a:r>
            <a:br>
              <a:rPr lang="en-US" sz="3200" b="1" dirty="0">
                <a:latin typeface="Karla" charset="0"/>
                <a:ea typeface="Karla" charset="0"/>
                <a:cs typeface="Karla" charset="0"/>
              </a:rPr>
            </a:br>
            <a:endParaRPr lang="en-US" sz="3200" b="1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55958" y="902522"/>
            <a:ext cx="2400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Fie un set de date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941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3F34CA-6643-0341-B0C5-1203F2F0D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463038"/>
            <a:ext cx="6858002" cy="4572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ro-RO" dirty="0"/>
              <a:t> </a:t>
            </a:r>
            <a:r>
              <a:rPr lang="en-US" dirty="0"/>
              <a:t>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48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4075611" y="2246811"/>
            <a:ext cx="4676503" cy="2468880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5958" y="902522"/>
            <a:ext cx="2719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Este linia asta bună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?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29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ro-RO" dirty="0"/>
              <a:t> </a:t>
            </a:r>
            <a:r>
              <a:rPr lang="en-US" dirty="0"/>
              <a:t>(</a:t>
            </a:r>
            <a:r>
              <a:rPr lang="en-US" dirty="0" err="1"/>
              <a:t>cont</a:t>
            </a:r>
            <a:r>
              <a:rPr lang="en-US"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49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023360" y="2246811"/>
            <a:ext cx="4728754" cy="2207623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5958" y="902522"/>
            <a:ext cx="1618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Poate asta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?</a:t>
            </a:r>
            <a:endParaRPr lang="en-US" sz="2400" i="1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EE009D-51B3-E343-8B9F-4957F8B1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463038"/>
            <a:ext cx="6858002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47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ro-RO" dirty="0"/>
              <a:t> </a:t>
            </a:r>
            <a:r>
              <a:rPr lang="en-US" dirty="0"/>
              <a:t>(</a:t>
            </a:r>
            <a:r>
              <a:rPr lang="en-US" dirty="0" err="1"/>
              <a:t>cont</a:t>
            </a:r>
            <a:r>
              <a:rPr lang="en-US"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50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036423" y="2547257"/>
            <a:ext cx="4689566" cy="1828800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5958" y="902522"/>
            <a:ext cx="1350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Dar asta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C788C2-C5B8-F44E-B191-2E2849473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463038"/>
            <a:ext cx="6858002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03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C788C2-C5B8-F44E-B191-2E2849473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463038"/>
            <a:ext cx="6858002" cy="4572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ro-RO" dirty="0"/>
              <a:t> </a:t>
            </a:r>
            <a:r>
              <a:rPr lang="en-US" dirty="0"/>
              <a:t>(</a:t>
            </a:r>
            <a:r>
              <a:rPr lang="en-US" dirty="0" err="1"/>
              <a:t>cont</a:t>
            </a:r>
            <a:r>
              <a:rPr lang="en-US"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51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036423" y="2547257"/>
            <a:ext cx="4689566" cy="1828800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4209305" y="2141448"/>
            <a:ext cx="4360953" cy="2804501"/>
            <a:chOff x="4209305" y="2155736"/>
            <a:chExt cx="4360953" cy="2804501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4209305" y="4301256"/>
              <a:ext cx="5108" cy="6589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5245454" y="3419550"/>
              <a:ext cx="0" cy="4781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5413179" y="3831285"/>
              <a:ext cx="1704" cy="3054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6564268" y="3096872"/>
              <a:ext cx="3405" cy="3017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8244925" y="2738092"/>
              <a:ext cx="15325" cy="9205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8570258" y="2155736"/>
              <a:ext cx="0" cy="4393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 flipH="1">
            <a:off x="783770" y="936194"/>
            <a:ext cx="6021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Întrebare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: </a:t>
            </a: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Care linie este cea mai bună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? </a:t>
            </a:r>
          </a:p>
          <a:p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Calculăm reziduurile!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97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ro-RO" dirty="0"/>
              <a:t> </a:t>
            </a:r>
            <a:r>
              <a:rPr lang="en-US" dirty="0"/>
              <a:t>(</a:t>
            </a:r>
            <a:r>
              <a:rPr lang="en-US" dirty="0" err="1"/>
              <a:t>cont</a:t>
            </a:r>
            <a:r>
              <a:rPr lang="en-US" dirty="0"/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sz="2400" dirty="0"/>
                  <a:t>Folosim </a:t>
                </a:r>
                <a:r>
                  <a:rPr lang="en-US" sz="2400" dirty="0"/>
                  <a:t>MSE </a:t>
                </a:r>
                <a:r>
                  <a:rPr lang="ro-RO" sz="2400" dirty="0"/>
                  <a:t>ca și pierdere (</a:t>
                </a:r>
                <a:r>
                  <a:rPr lang="en-US" sz="2400" b="1" dirty="0"/>
                  <a:t>loss function</a:t>
                </a:r>
                <a:r>
                  <a:rPr lang="ro-RO" sz="2400" b="1" dirty="0"/>
                  <a:t>)</a:t>
                </a:r>
                <a:r>
                  <a:rPr lang="en-US" sz="2400" dirty="0"/>
                  <a:t>,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ro-RO" sz="2400" dirty="0"/>
                  <a:t>Alegem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400" dirty="0"/>
                  <a:t>și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pentru a minimiza erorile predictive făcute de modelul nostru, </a:t>
                </a:r>
                <a:r>
                  <a:rPr lang="en-US" sz="2400" dirty="0" err="1"/>
                  <a:t>adică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pentru</a:t>
                </a:r>
                <a:r>
                  <a:rPr lang="en-US" sz="2400" dirty="0"/>
                  <a:t> a </a:t>
                </a:r>
                <a:r>
                  <a:rPr lang="en-US" sz="2400" dirty="0" err="1"/>
                  <a:t>minimiza</a:t>
                </a:r>
                <a:r>
                  <a:rPr lang="en-US" sz="2400" dirty="0"/>
                  <a:t> </a:t>
                </a:r>
                <a:r>
                  <a:rPr lang="ro-RO" sz="2400" dirty="0"/>
                  <a:t>pierderea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1824"/>
                  </a:spcBef>
                  <a:spcAft>
                    <a:spcPts val="600"/>
                  </a:spcAft>
                </a:pPr>
                <a:r>
                  <a:rPr lang="ro-RO" sz="2400" dirty="0"/>
                  <a:t>Valorile optime pentru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b="0" i="0" dirty="0">
                    <a:latin typeface="+mj-lt"/>
                    <a:ea typeface="Cambria Math" charset="0"/>
                    <a:cs typeface="Cambria Math" charset="0"/>
                  </a:rPr>
                  <a:t> </a:t>
                </a:r>
                <a:r>
                  <a:rPr lang="ro-RO" sz="2400" b="0" i="0" dirty="0">
                    <a:latin typeface="+mj-lt"/>
                    <a:ea typeface="Cambria Math" charset="0"/>
                    <a:cs typeface="Cambria Math" charset="0"/>
                  </a:rPr>
                  <a:t>și</a:t>
                </a:r>
                <a:r>
                  <a:rPr lang="en-US" sz="2400" b="0" i="0" dirty="0">
                    <a:latin typeface="+mj-lt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ar fi</a:t>
                </a:r>
                <a:r>
                  <a:rPr lang="en-US" sz="2400" dirty="0"/>
                  <a:t>:</a:t>
                </a:r>
              </a:p>
              <a:p>
                <a:pPr>
                  <a:spcBef>
                    <a:spcPts val="1872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5" t="-2305" b="-79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200" y="1861287"/>
            <a:ext cx="8839200" cy="1005840"/>
          </a:xfrm>
          <a:prstGeom prst="rect">
            <a:avLst/>
          </a:prstGeom>
          <a:solidFill>
            <a:srgbClr val="CFDCE8"/>
          </a:solidFill>
          <a:ln w="12700">
            <a:solidFill>
              <a:srgbClr val="C0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480" y="5324910"/>
            <a:ext cx="4003040" cy="731520"/>
          </a:xfrm>
          <a:prstGeom prst="rect">
            <a:avLst/>
          </a:prstGeom>
          <a:solidFill>
            <a:srgbClr val="CFDCE8"/>
          </a:solidFill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37172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872951" y="1100442"/>
                <a:ext cx="10346984" cy="5281313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o-RO" sz="2400" dirty="0"/>
                  <a:t>Calculați </a:t>
                </a:r>
                <a:r>
                  <a:rPr lang="en-US" sz="2400" dirty="0" err="1"/>
                  <a:t>derivatele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parțiale</a:t>
                </a:r>
                <a:r>
                  <a:rPr lang="en-US" sz="2400" dirty="0"/>
                  <a:t> ale</a:t>
                </a:r>
                <a:r>
                  <a:rPr lang="ro-RO" sz="2400" dirty="0"/>
                  <a:t> lui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𝐿</m:t>
                    </m:r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a</m:t>
                    </m:r>
                    <m:r>
                      <a:rPr lang="ro-RO" sz="2400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și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egalați cu zero</a:t>
                </a:r>
                <a:r>
                  <a:rPr lang="en-US" sz="2400" dirty="0"/>
                  <a:t>, </a:t>
                </a:r>
                <a:r>
                  <a:rPr lang="ro-RO" sz="2400" dirty="0"/>
                  <a:t>și găsiți soluția ecuației</a:t>
                </a:r>
                <a:r>
                  <a:rPr lang="en-US" sz="2400" dirty="0"/>
                  <a:t>.</a:t>
                </a:r>
                <a:r>
                  <a:rPr lang="ro-RO" sz="2400" dirty="0"/>
                  <a:t> Această procedură dă soluția exactă pentru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:r>
                  <a:rPr lang="ro-RO" sz="2400" dirty="0">
                    <a:ea typeface="Cambria Math" charset="0"/>
                    <a:cs typeface="Cambria Math" charset="0"/>
                  </a:rPr>
                  <a:t>și</a:t>
                </a:r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</m:oMath>
                </a14:m>
                <a:endParaRPr lang="en-US" sz="2400" dirty="0">
                  <a:ea typeface="Cambria Math" charset="0"/>
                  <a:cs typeface="Cambria Math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>
                  <a:spcBef>
                    <a:spcPts val="624"/>
                  </a:spcBef>
                  <a:spcAft>
                    <a:spcPts val="600"/>
                  </a:spcAft>
                </a:pPr>
                <a:endParaRPr lang="en-US" sz="2400" dirty="0"/>
              </a:p>
              <a:p>
                <a:pPr>
                  <a:spcBef>
                    <a:spcPts val="624"/>
                  </a:spcBef>
                  <a:spcAft>
                    <a:spcPts val="600"/>
                  </a:spcAft>
                </a:pPr>
                <a:r>
                  <a:rPr lang="ro-RO" sz="2400" dirty="0"/>
                  <a:t>unde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și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ro-RO" sz="2400" dirty="0"/>
                  <a:t>sunt mediile de eșantion</a:t>
                </a:r>
                <a:r>
                  <a:rPr lang="en-US" sz="2400" dirty="0"/>
                  <a:t>. </a:t>
                </a:r>
              </a:p>
              <a:p>
                <a:pPr>
                  <a:spcBef>
                    <a:spcPts val="0"/>
                  </a:spcBef>
                </a:pPr>
                <a:r>
                  <a:rPr lang="ro-RO" sz="2400" dirty="0"/>
                  <a:t>Linia</a:t>
                </a:r>
                <a:r>
                  <a:rPr lang="en-US" sz="2400" dirty="0"/>
                  <a:t>: </a:t>
                </a:r>
                <a:endParaRPr lang="ro-RO" sz="2400" dirty="0"/>
              </a:p>
              <a:p>
                <a:pPr>
                  <a:spcBef>
                    <a:spcPts val="0"/>
                  </a:spcBef>
                </a:pPr>
                <a:endParaRPr lang="ro-RO" sz="2400" dirty="0"/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r>
                  <a:rPr lang="ro-RO" sz="2400" dirty="0"/>
                  <a:t>se numește linie de regresie</a:t>
                </a:r>
                <a:r>
                  <a:rPr lang="en-US" sz="2400" dirty="0"/>
                  <a:t>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51" y="1100442"/>
                <a:ext cx="10346984" cy="5281313"/>
              </a:xfrm>
              <a:prstGeom prst="rect">
                <a:avLst/>
              </a:prstGeom>
              <a:blipFill>
                <a:blip r:embed="rId2"/>
                <a:stretch>
                  <a:fillRect l="-883" t="-9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en-US" dirty="0"/>
              <a:t>: </a:t>
            </a:r>
            <a:r>
              <a:rPr lang="ro-RO" dirty="0"/>
              <a:t>metoda </a:t>
            </a:r>
            <a:r>
              <a:rPr lang="en-US" dirty="0"/>
              <a:t>exact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53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3990575" y="2265990"/>
            <a:ext cx="4343400" cy="1800225"/>
            <a:chOff x="3714751" y="2271711"/>
            <a:chExt cx="4343400" cy="1800225"/>
          </a:xfrm>
        </p:grpSpPr>
        <p:sp>
          <p:nvSpPr>
            <p:cNvPr id="3" name="Rectangle 2"/>
            <p:cNvSpPr/>
            <p:nvPr/>
          </p:nvSpPr>
          <p:spPr>
            <a:xfrm>
              <a:off x="3714751" y="2271711"/>
              <a:ext cx="4343400" cy="1800225"/>
            </a:xfrm>
            <a:prstGeom prst="rect">
              <a:avLst/>
            </a:prstGeom>
            <a:solidFill>
              <a:schemeClr val="accent1">
                <a:alpha val="13000"/>
              </a:schemeClr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993314" y="2434223"/>
              <a:ext cx="3821947" cy="1539688"/>
              <a:chOff x="3993316" y="2434223"/>
              <a:chExt cx="3821947" cy="1539688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16044" y="3571206"/>
                <a:ext cx="1936815" cy="402705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3316" y="2434223"/>
                <a:ext cx="3821947" cy="878149"/>
              </a:xfrm>
              <a:prstGeom prst="rect">
                <a:avLst/>
              </a:prstGeom>
            </p:spPr>
          </p:pic>
        </p:grp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212" y="5231763"/>
            <a:ext cx="2292462" cy="45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17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886" y="600169"/>
            <a:ext cx="5181121" cy="3454081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en-US" dirty="0"/>
              <a:t>:  gradient descent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6AAA-7C75-FB4B-8EA1-06B22787237D}" type="slidenum">
              <a:rPr lang="en-US" smtClean="0"/>
              <a:t>54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2691" y="3599117"/>
            <a:ext cx="10862299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O metodă mai flexibilă este: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rabicPeriod"/>
            </a:pPr>
            <a:r>
              <a:rPr lang="ro-RO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Porniți dintr-un punct arbitar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Determinați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direcție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mergeți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pentru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a reduce </a:t>
            </a:r>
            <a:r>
              <a:rPr lang="ro-RO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eroarea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(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stânga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sau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dreapta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)</a:t>
            </a:r>
            <a:r>
              <a:rPr lang="ro-RO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Calculați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panta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funcției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acest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punct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și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treceți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la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dreapta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dacă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panta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este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negativă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sau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treceți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la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stânga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dacă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panta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este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pozitivă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rabicPeriod" startAt="3"/>
            </a:pPr>
            <a:r>
              <a:rPr lang="ro-RO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Înapoi la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#1 </a:t>
            </a:r>
          </a:p>
        </p:txBody>
      </p:sp>
      <p:sp>
        <p:nvSpPr>
          <p:cNvPr id="3" name="Oval 2"/>
          <p:cNvSpPr/>
          <p:nvPr/>
        </p:nvSpPr>
        <p:spPr>
          <a:xfrm>
            <a:off x="5644896" y="2121408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5378182" y="3355147"/>
            <a:ext cx="663265" cy="12192"/>
            <a:chOff x="5370576" y="2157984"/>
            <a:chExt cx="663265" cy="12192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5759521" y="2157984"/>
              <a:ext cx="274320" cy="119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370576" y="2170176"/>
              <a:ext cx="274320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/>
          <p:cNvCxnSpPr/>
          <p:nvPr/>
        </p:nvCxnSpPr>
        <p:spPr>
          <a:xfrm flipH="1" flipV="1">
            <a:off x="4986528" y="1048512"/>
            <a:ext cx="1499616" cy="2267712"/>
          </a:xfrm>
          <a:prstGeom prst="line">
            <a:avLst/>
          </a:prstGeom>
          <a:ln>
            <a:solidFill>
              <a:schemeClr val="accent2">
                <a:alpha val="7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riped Right Arrow 4"/>
          <p:cNvSpPr/>
          <p:nvPr/>
        </p:nvSpPr>
        <p:spPr>
          <a:xfrm>
            <a:off x="5736336" y="3268742"/>
            <a:ext cx="355854" cy="187452"/>
          </a:xfrm>
          <a:prstGeom prst="stripedRigh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5685862" y="2185598"/>
            <a:ext cx="34290" cy="1146810"/>
          </a:xfrm>
          <a:prstGeom prst="line">
            <a:avLst/>
          </a:prstGeom>
          <a:ln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71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-2.22222E-6 L 0.03021 0.0849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" y="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21 0.08495 C 0.03034 0.08611 0.0306 0.08912 0.03099 0.09028 L 0.03203 0.09329 C 0.03229 0.09375 0.03242 0.09445 0.03268 0.09468 L 0.03346 0.09583 L 0.03398 0.09884 C 0.03411 0.09931 0.03411 0.09977 0.03424 0.10023 L 0.03593 0.10463 C 0.03619 0.10509 0.03633 0.10579 0.03659 0.10625 L 0.03737 0.10764 C 0.0375 0.10857 0.0375 0.10995 0.03789 0.11065 C 0.03815 0.11111 0.03854 0.11157 0.0388 0.11204 C 0.03893 0.1125 0.03906 0.1132 0.03932 0.11366 C 0.03958 0.11412 0.03984 0.11435 0.0401 0.11458 C 0.04205 0.11991 0.03906 0.11181 0.04153 0.11759 C 0.04192 0.11852 0.04218 0.11968 0.04258 0.1206 C 0.04297 0.12107 0.04323 0.12153 0.04349 0.12199 C 0.04362 0.12245 0.04375 0.12315 0.04401 0.12361 C 0.04427 0.12407 0.04453 0.12454 0.04479 0.125 C 0.04505 0.12546 0.04518 0.12616 0.04544 0.12662 C 0.047 0.12963 0.04557 0.12431 0.04791 0.13056 C 0.04922 0.13403 0.04843 0.13287 0.04987 0.13449 C 0.05 0.13495 0.05013 0.13565 0.05039 0.13588 C 0.05065 0.13634 0.05104 0.13657 0.05117 0.13704 C 0.05143 0.1375 0.0513 0.1382 0.05156 0.13843 C 0.05195 0.13935 0.05312 0.14051 0.05312 0.14074 C 0.05351 0.14236 0.05338 0.14144 0.05338 0.14306 " pathEditMode="relative" rAng="0" ptsTypes="AAAAAAAAAAAAAAAAAAAAAAAAAAA">
                                      <p:cBhvr>
                                        <p:cTn id="4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9" y="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38 0.14306 C 0.05364 0.14352 0.05377 0.14421 0.05416 0.14491 C 0.05469 0.14583 0.05521 0.14606 0.05586 0.1463 C 0.05612 0.14676 0.05638 0.14699 0.05664 0.14745 C 0.0569 0.14769 0.05729 0.14745 0.05755 0.14792 C 0.05781 0.14815 0.05781 0.14884 0.05807 0.14931 C 0.05833 0.14977 0.05859 0.15 0.05885 0.15023 C 0.05976 0.15278 0.05911 0.15139 0.06107 0.1537 C 0.06146 0.15394 0.06159 0.1544 0.06198 0.15463 L 0.06367 0.15579 C 0.06562 0.15556 0.06771 0.15556 0.06979 0.15509 C 0.07096 0.15509 0.07096 0.15347 0.07174 0.15185 C 0.07187 0.15116 0.072 0.15069 0.07226 0.15023 L 0.07305 0.14931 C 0.07344 0.14838 0.0737 0.14699 0.07422 0.1463 C 0.07526 0.14514 0.07487 0.14583 0.07539 0.14444 " pathEditMode="relative" rAng="0" ptsTypes="AAAAAAAAAAAAAAAA">
                                      <p:cBhvr>
                                        <p:cTn id="4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4" y="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539 0.14444 C 0.07513 0.14491 0.075 0.14583 0.07474 0.1463 C 0.07435 0.14699 0.0737 0.14768 0.07305 0.14815 L 0.07149 0.15023 C 0.07123 0.15046 0.07097 0.15092 0.07058 0.15116 L 0.06888 0.15208 L 0.06732 0.15301 L 0.06641 0.1537 C 0.0655 0.15347 0.06459 0.15347 0.06368 0.15301 C 0.06302 0.15301 0.0625 0.15255 0.06198 0.15208 L 0.0612 0.15162 C 0.06094 0.15116 0.06068 0.15069 0.06029 0.15023 C 0.06003 0.14977 0.05977 0.14954 0.05951 0.1493 C 0.0586 0.14768 0.05938 0.14768 0.05873 0.14768 " pathEditMode="relative" rAng="0" ptsTypes="AAAAAAAAAAAAAA">
                                      <p:cBhvr>
                                        <p:cTn id="5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5" grpId="0" animBg="1"/>
      <p:bldP spid="5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en-US" dirty="0"/>
              <a:t>:  gradient descent 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b="1" dirty="0"/>
              <a:t>Întrebare</a:t>
            </a:r>
            <a:r>
              <a:rPr lang="en-US" sz="2400" dirty="0"/>
              <a:t>: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funcția</a:t>
            </a:r>
            <a:r>
              <a:rPr lang="en-US" sz="2400" dirty="0"/>
              <a:t> </a:t>
            </a:r>
            <a:r>
              <a:rPr lang="en-US" sz="2400" dirty="0" err="1"/>
              <a:t>matematică</a:t>
            </a:r>
            <a:r>
              <a:rPr lang="en-US" sz="2400" dirty="0"/>
              <a:t> care </a:t>
            </a:r>
            <a:r>
              <a:rPr lang="en-US" sz="2400" dirty="0" err="1"/>
              <a:t>descrie</a:t>
            </a:r>
            <a:r>
              <a:rPr lang="en-US" sz="2400" dirty="0"/>
              <a:t> </a:t>
            </a:r>
            <a:r>
              <a:rPr lang="en-US" sz="2400" dirty="0" err="1"/>
              <a:t>panta</a:t>
            </a:r>
            <a:r>
              <a:rPr lang="en-US" sz="2400" dirty="0"/>
              <a:t>? </a:t>
            </a:r>
          </a:p>
          <a:p>
            <a:pPr indent="1381125"/>
            <a:r>
              <a:rPr lang="en-US" sz="2400" b="1" dirty="0" err="1">
                <a:solidFill>
                  <a:srgbClr val="C00000"/>
                </a:solidFill>
              </a:rPr>
              <a:t>Derivat</a:t>
            </a:r>
            <a:r>
              <a:rPr lang="ro-RO" sz="2400" b="1" dirty="0">
                <a:solidFill>
                  <a:srgbClr val="C00000"/>
                </a:solidFill>
              </a:rPr>
              <a:t>a</a:t>
            </a:r>
            <a:endParaRPr lang="en-US" sz="2400" dirty="0"/>
          </a:p>
          <a:p>
            <a:endParaRPr lang="ro-RO" sz="2400" b="1" dirty="0"/>
          </a:p>
          <a:p>
            <a:r>
              <a:rPr lang="ro-RO" sz="2400" b="1" dirty="0"/>
              <a:t>Întrebare </a:t>
            </a:r>
            <a:r>
              <a:rPr lang="en-US" sz="2400" b="1" dirty="0"/>
              <a:t>:  </a:t>
            </a:r>
            <a:r>
              <a:rPr lang="en-US" sz="2400" dirty="0"/>
              <a:t>C</a:t>
            </a:r>
            <a:r>
              <a:rPr lang="ro-RO" sz="2400" dirty="0"/>
              <a:t>are</a:t>
            </a:r>
            <a:r>
              <a:rPr lang="en-US" sz="2400" dirty="0"/>
              <a:t> </a:t>
            </a:r>
            <a:r>
              <a:rPr lang="en-US" sz="2400" dirty="0" err="1"/>
              <a:t>credeți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o </a:t>
            </a:r>
            <a:r>
              <a:rPr lang="en-US" sz="2400" dirty="0" err="1"/>
              <a:t>abordare</a:t>
            </a:r>
            <a:r>
              <a:rPr lang="en-US" sz="2400" dirty="0"/>
              <a:t> </a:t>
            </a:r>
            <a:r>
              <a:rPr lang="en-US" sz="2400" dirty="0" err="1"/>
              <a:t>bună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spune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en-US" sz="2400" dirty="0"/>
              <a:t> cum </a:t>
            </a:r>
            <a:r>
              <a:rPr lang="en-US" sz="2400" dirty="0" err="1"/>
              <a:t>să</a:t>
            </a:r>
            <a:r>
              <a:rPr lang="en-US" sz="2400" dirty="0"/>
              <a:t> se </a:t>
            </a:r>
            <a:r>
              <a:rPr lang="en-US" sz="2400" dirty="0" err="1"/>
              <a:t>schimbe</a:t>
            </a:r>
            <a:r>
              <a:rPr lang="en-US" sz="2400" dirty="0"/>
              <a:t> (care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dimensiunea</a:t>
            </a:r>
            <a:r>
              <a:rPr lang="en-US" sz="2400" dirty="0"/>
              <a:t> </a:t>
            </a:r>
            <a:r>
              <a:rPr lang="en-US" sz="2400" dirty="0" err="1"/>
              <a:t>pasului</a:t>
            </a:r>
            <a:r>
              <a:rPr lang="en-US" sz="2400" dirty="0"/>
              <a:t>)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deveni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bun? </a:t>
            </a:r>
          </a:p>
          <a:p>
            <a:pPr marL="1381125"/>
            <a:r>
              <a:rPr lang="en-US" sz="2400" b="1" dirty="0" err="1">
                <a:solidFill>
                  <a:srgbClr val="C00000"/>
                </a:solidFill>
              </a:rPr>
              <a:t>Dacă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pasul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este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proporțional</a:t>
            </a:r>
            <a:r>
              <a:rPr lang="en-US" sz="2400" b="1" dirty="0">
                <a:solidFill>
                  <a:srgbClr val="C00000"/>
                </a:solidFill>
              </a:rPr>
              <a:t> cu </a:t>
            </a:r>
            <a:r>
              <a:rPr lang="en-US" sz="2400" b="1" dirty="0" err="1">
                <a:solidFill>
                  <a:srgbClr val="C00000"/>
                </a:solidFill>
              </a:rPr>
              <a:t>panta</a:t>
            </a:r>
            <a:r>
              <a:rPr lang="en-US" sz="2400" b="1" dirty="0">
                <a:solidFill>
                  <a:srgbClr val="C00000"/>
                </a:solidFill>
              </a:rPr>
              <a:t>, </a:t>
            </a:r>
            <a:r>
              <a:rPr lang="en-US" sz="2400" b="1" dirty="0" err="1">
                <a:solidFill>
                  <a:srgbClr val="C00000"/>
                </a:solidFill>
              </a:rPr>
              <a:t>atunci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evitați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depășirea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minimului</a:t>
            </a:r>
            <a:endParaRPr lang="ro-RO" sz="2400" b="1" dirty="0">
              <a:solidFill>
                <a:srgbClr val="C00000"/>
              </a:solidFill>
            </a:endParaRPr>
          </a:p>
          <a:p>
            <a:pPr marL="1381125"/>
            <a:endParaRPr lang="en-US" sz="2400" dirty="0"/>
          </a:p>
          <a:p>
            <a:r>
              <a:rPr lang="ro-RO" sz="2400" b="1" dirty="0"/>
              <a:t>Întrebare </a:t>
            </a:r>
            <a:r>
              <a:rPr lang="en-US" sz="2400" dirty="0"/>
              <a:t>: Cum </a:t>
            </a:r>
            <a:r>
              <a:rPr lang="en-US" sz="2400" dirty="0" err="1"/>
              <a:t>generalizăm</a:t>
            </a:r>
            <a:r>
              <a:rPr lang="en-US" sz="2400" dirty="0"/>
              <a:t> </a:t>
            </a:r>
            <a:r>
              <a:rPr lang="en-US" sz="2400" dirty="0" err="1"/>
              <a:t>acest</a:t>
            </a:r>
            <a:r>
              <a:rPr lang="en-US" sz="2400" dirty="0"/>
              <a:t> </a:t>
            </a:r>
            <a:r>
              <a:rPr lang="en-US" sz="2400" dirty="0" err="1"/>
              <a:t>lucru</a:t>
            </a:r>
            <a:r>
              <a:rPr lang="en-US" sz="2400" dirty="0"/>
              <a:t> la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</a:t>
            </a:r>
            <a:r>
              <a:rPr lang="en-US" sz="2400" dirty="0"/>
              <a:t> de un predictor?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			</a:t>
            </a:r>
            <a:r>
              <a:rPr lang="ro-RO" sz="2400" b="1" dirty="0">
                <a:solidFill>
                  <a:srgbClr val="C00000"/>
                </a:solidFill>
              </a:rPr>
              <a:t>Calculați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derivata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în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raport</a:t>
            </a:r>
            <a:r>
              <a:rPr lang="en-US" sz="2400" b="1" dirty="0">
                <a:solidFill>
                  <a:srgbClr val="C00000"/>
                </a:solidFill>
              </a:rPr>
              <a:t> cu </a:t>
            </a:r>
            <a:r>
              <a:rPr lang="en-US" sz="2400" b="1" dirty="0" err="1">
                <a:solidFill>
                  <a:srgbClr val="C00000"/>
                </a:solidFill>
              </a:rPr>
              <a:t>fiecare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coeficient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și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faceți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același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lucru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secvențial</a:t>
            </a:r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/>
          </a:p>
          <a:p>
            <a:endParaRPr lang="en-US" b="1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6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en-US" dirty="0"/>
              <a:t>:  gradient descent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Știm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vrem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mergem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direcția</a:t>
            </a:r>
            <a:r>
              <a:rPr lang="en-US" sz="2400" dirty="0"/>
              <a:t> </a:t>
            </a:r>
            <a:r>
              <a:rPr lang="en-US" sz="2400" dirty="0" err="1"/>
              <a:t>opusă</a:t>
            </a:r>
            <a:r>
              <a:rPr lang="en-US" sz="2400" dirty="0"/>
              <a:t> </a:t>
            </a:r>
            <a:r>
              <a:rPr lang="en-US" sz="2400" dirty="0" err="1"/>
              <a:t>derivatei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știm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vrem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facem</a:t>
            </a:r>
            <a:r>
              <a:rPr lang="en-US" sz="2400" dirty="0"/>
              <a:t> un pas </a:t>
            </a:r>
            <a:r>
              <a:rPr lang="en-US" sz="2400" dirty="0" err="1"/>
              <a:t>proporțional</a:t>
            </a:r>
            <a:r>
              <a:rPr lang="en-US" sz="2400" dirty="0"/>
              <a:t> cu </a:t>
            </a:r>
            <a:r>
              <a:rPr lang="en-US" sz="2400" dirty="0" err="1"/>
              <a:t>derivata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pPr>
              <a:spcBef>
                <a:spcPts val="1824"/>
              </a:spcBef>
            </a:pPr>
            <a:r>
              <a:rPr lang="ro-RO" sz="2400" dirty="0"/>
              <a:t>Să facem un pas înseamnă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6AAA-7C75-FB4B-8EA1-06B22787237D}" type="slidenum">
              <a:rPr lang="en-US" smtClean="0"/>
              <a:t>56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78789" y="3074488"/>
                <a:ext cx="2862130" cy="3812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ro-RO" sz="2400" b="0" i="1" smtClean="0">
                                  <a:latin typeface="Cambria Math" panose="02040503050406030204" pitchFamily="18" charset="0"/>
                                </a:rPr>
                                <m:t>𝑛𝑜𝑢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𝑤</m:t>
                          </m:r>
                        </m:e>
                        <m:sup>
                          <m:r>
                            <a:rPr lang="ro-RO" sz="2400" b="0" i="1" smtClean="0">
                              <a:latin typeface="Cambria Math" panose="02040503050406030204" pitchFamily="18" charset="0"/>
                            </a:rPr>
                            <m:t>𝑣𝑒𝑐h𝑖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ro-RO" sz="2400" b="0" i="1" smtClean="0">
                          <a:latin typeface="Cambria Math" panose="02040503050406030204" pitchFamily="18" charset="0"/>
                        </a:rPr>
                        <m:t>𝑝𝑎𝑠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89" y="3074488"/>
                <a:ext cx="2862130" cy="381258"/>
              </a:xfrm>
              <a:prstGeom prst="rect">
                <a:avLst/>
              </a:prstGeom>
              <a:blipFill>
                <a:blip r:embed="rId2"/>
                <a:stretch>
                  <a:fillRect l="-851" r="-1915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833415" y="3649313"/>
            <a:ext cx="10596585" cy="1379175"/>
            <a:chOff x="833415" y="3649313"/>
            <a:chExt cx="10596585" cy="1379175"/>
          </a:xfrm>
        </p:grpSpPr>
        <p:sp>
          <p:nvSpPr>
            <p:cNvPr id="6" name="Content Placeholder 2"/>
            <p:cNvSpPr txBox="1">
              <a:spLocks/>
            </p:cNvSpPr>
            <p:nvPr/>
          </p:nvSpPr>
          <p:spPr>
            <a:xfrm>
              <a:off x="833415" y="3649313"/>
              <a:ext cx="10596585" cy="1379175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defTabSz="457182" rtl="0" eaLnBrk="1" latinLnBrk="0" hangingPunct="1">
                <a:spcBef>
                  <a:spcPct val="20000"/>
                </a:spcBef>
                <a:buFont typeface="Arial"/>
                <a:buNone/>
                <a:defRPr sz="2800" kern="1200">
                  <a:solidFill>
                    <a:srgbClr val="464646"/>
                  </a:solidFill>
                  <a:latin typeface="Karla"/>
                  <a:ea typeface="+mn-ea"/>
                  <a:cs typeface="Karla"/>
                </a:defRPr>
              </a:lvl1pPr>
              <a:lvl2pPr marL="742920" indent="-285738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2400" kern="1200">
                  <a:solidFill>
                    <a:srgbClr val="464646"/>
                  </a:solidFill>
                  <a:latin typeface="Karla"/>
                  <a:ea typeface="+mn-ea"/>
                  <a:cs typeface="Karla"/>
                </a:defRPr>
              </a:lvl2pPr>
              <a:lvl3pPr marL="114295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rgbClr val="464646"/>
                  </a:solidFill>
                  <a:latin typeface="Karla"/>
                  <a:ea typeface="+mn-ea"/>
                  <a:cs typeface="Karla"/>
                </a:defRPr>
              </a:lvl3pPr>
              <a:lvl4pPr marL="1600136" indent="-228590" algn="l" defTabSz="457182" rtl="0" eaLnBrk="1" latinLnBrk="0" hangingPunct="1">
                <a:spcBef>
                  <a:spcPct val="20000"/>
                </a:spcBef>
                <a:buFont typeface="Arial"/>
                <a:buChar char="–"/>
                <a:defRPr sz="1800" kern="1200">
                  <a:solidFill>
                    <a:srgbClr val="464646"/>
                  </a:solidFill>
                  <a:latin typeface="Karla"/>
                  <a:ea typeface="+mn-ea"/>
                  <a:cs typeface="Karla"/>
                </a:defRPr>
              </a:lvl4pPr>
              <a:lvl5pPr marL="2057317" indent="-228590" algn="l" defTabSz="457182" rtl="0" eaLnBrk="1" latinLnBrk="0" hangingPunct="1">
                <a:spcBef>
                  <a:spcPct val="20000"/>
                </a:spcBef>
                <a:buFont typeface="Arial"/>
                <a:buChar char="»"/>
                <a:defRPr sz="1800" kern="1200">
                  <a:solidFill>
                    <a:srgbClr val="464646"/>
                  </a:solidFill>
                  <a:latin typeface="Karla"/>
                  <a:ea typeface="+mn-ea"/>
                  <a:cs typeface="Karla"/>
                </a:defRPr>
              </a:lvl5pPr>
              <a:lvl6pPr marL="2514499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81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63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44" indent="-228590" algn="l" defTabSz="457182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 err="1"/>
                <a:t>Direcția</a:t>
              </a:r>
              <a:r>
                <a:rPr lang="en-US" sz="2400" dirty="0"/>
                <a:t> </a:t>
              </a:r>
              <a:r>
                <a:rPr lang="en-US" sz="2400" dirty="0" err="1"/>
                <a:t>opusă</a:t>
              </a:r>
              <a:r>
                <a:rPr lang="en-US" sz="2400" dirty="0"/>
                <a:t> a </a:t>
              </a:r>
              <a:r>
                <a:rPr lang="en-US" sz="2400" dirty="0" err="1"/>
                <a:t>derivatei</a:t>
              </a:r>
              <a:r>
                <a:rPr lang="en-US" sz="2400" dirty="0"/>
                <a:t> </a:t>
              </a:r>
              <a:r>
                <a:rPr lang="en-US" sz="2400" dirty="0" err="1"/>
                <a:t>și</a:t>
              </a:r>
              <a:r>
                <a:rPr lang="en-US" sz="2400" dirty="0"/>
                <a:t> </a:t>
              </a:r>
              <a:r>
                <a:rPr lang="en-US" sz="2400" dirty="0" err="1"/>
                <a:t>proporțională</a:t>
              </a:r>
              <a:r>
                <a:rPr lang="en-US" sz="2400" dirty="0"/>
                <a:t> cu </a:t>
              </a:r>
              <a:r>
                <a:rPr lang="ro-RO" sz="2400" dirty="0"/>
                <a:t>panta (derivata) înseamnă</a:t>
              </a:r>
              <a:r>
                <a:rPr lang="en-US" sz="2400" dirty="0"/>
                <a:t>:   </a:t>
              </a:r>
            </a:p>
            <a:p>
              <a:endParaRPr lang="en-US" sz="2400" dirty="0"/>
            </a:p>
            <a:p>
              <a:endParaRPr lang="en-US" sz="2400" dirty="0"/>
            </a:p>
            <a:p>
              <a:endParaRPr 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848189" y="4139556"/>
                  <a:ext cx="2999987" cy="7012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ro-RO" sz="2400" b="0" i="1" smtClean="0">
                                    <a:latin typeface="Cambria Math" panose="02040503050406030204" pitchFamily="18" charset="0"/>
                                  </a:rPr>
                                  <m:t>𝑛𝑜𝑢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  <m:t>𝑣𝑒𝑐h𝑖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𝜆</m:t>
                        </m:r>
                        <m:f>
                          <m:fPr>
                            <m:ctrlPr>
                              <a:rPr lang="mr-I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charset="0"/>
                              </a:rPr>
                              <m:t>𝑑𝑤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8189" y="4139556"/>
                  <a:ext cx="2999987" cy="7012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Content Placeholder 2"/>
          <p:cNvSpPr txBox="1">
            <a:spLocks/>
          </p:cNvSpPr>
          <p:nvPr/>
        </p:nvSpPr>
        <p:spPr>
          <a:xfrm>
            <a:off x="951946" y="5133502"/>
            <a:ext cx="10596585" cy="137917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400" dirty="0"/>
              <a:t>Cu </a:t>
            </a:r>
            <a:r>
              <a:rPr lang="en-US" sz="2400" dirty="0"/>
              <a:t>o </a:t>
            </a:r>
            <a:r>
              <a:rPr lang="en-US" sz="2400" dirty="0" err="1"/>
              <a:t>notație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convențională</a:t>
            </a:r>
            <a:r>
              <a:rPr lang="en-US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839691" y="5713065"/>
                <a:ext cx="2821093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+1)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𝜆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ℒ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charset="0"/>
                            </a:rPr>
                            <m:t>𝑑𝑤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691" y="5713065"/>
                <a:ext cx="2821093" cy="7012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Callout 39"/>
          <p:cNvSpPr/>
          <p:nvPr/>
        </p:nvSpPr>
        <p:spPr>
          <a:xfrm>
            <a:off x="8229600" y="2442112"/>
            <a:ext cx="1828800" cy="1403105"/>
          </a:xfrm>
          <a:prstGeom prst="wedgeEllipseCallout">
            <a:avLst>
              <a:gd name="adj1" fmla="val -97780"/>
              <a:gd name="adj2" fmla="val 89435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Rata de învățare (learning rate)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26894" y="2087393"/>
                <a:ext cx="926929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Nota</a:t>
                </a:r>
                <a:r>
                  <a:rPr lang="ro-RO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ție</a:t>
                </a:r>
                <a:r>
                  <a:rPr lang="en-US" sz="24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:                                     </a:t>
                </a:r>
                <a:r>
                  <a:rPr lang="en-US" sz="2400" b="0" dirty="0"/>
                  <a:t>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𝑤</m:t>
                    </m:r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894" y="2087393"/>
                <a:ext cx="9269292" cy="369332"/>
              </a:xfrm>
              <a:prstGeom prst="rect">
                <a:avLst/>
              </a:prstGeom>
              <a:blipFill>
                <a:blip r:embed="rId5"/>
                <a:stretch>
                  <a:fillRect l="-1972" t="-24590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631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38" grpId="0"/>
      <p:bldP spid="39" grpId="0"/>
      <p:bldP spid="40" grpId="0" animBg="1"/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Estimarea</a:t>
            </a:r>
            <a:r>
              <a:rPr lang="en-US" dirty="0"/>
              <a:t> </a:t>
            </a:r>
            <a:r>
              <a:rPr lang="en-US" dirty="0" err="1"/>
              <a:t>coeficienților</a:t>
            </a:r>
            <a:r>
              <a:rPr lang="en-US" dirty="0"/>
              <a:t> de </a:t>
            </a:r>
            <a:r>
              <a:rPr lang="en-US" dirty="0" err="1"/>
              <a:t>regresie</a:t>
            </a:r>
            <a:r>
              <a:rPr lang="en-US" dirty="0"/>
              <a:t>:  gradient descent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479;p4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833415" y="1177758"/>
                <a:ext cx="5797263" cy="211114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14300" marR="0" lvl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</a:pPr>
                <a:r>
                  <a:rPr lang="ro-RO" sz="2400" b="1" dirty="0"/>
                  <a:t>Rezumat metoda gradientului (</a:t>
                </a:r>
                <a:r>
                  <a:rPr lang="en-US" sz="2400" b="1" dirty="0"/>
                  <a:t>Gradient Descent </a:t>
                </a:r>
                <a:r>
                  <a:rPr lang="ro-RO" sz="2400" b="1" dirty="0"/>
                  <a:t>)</a:t>
                </a:r>
                <a:endParaRPr lang="en-US" sz="2400" b="1" dirty="0"/>
              </a:p>
              <a:p>
                <a:pPr marL="457200" lvl="0" indent="-342900">
                  <a:lnSpc>
                    <a:spcPct val="115000"/>
                  </a:lnSpc>
                  <a:spcBef>
                    <a:spcPts val="0"/>
                  </a:spcBef>
                  <a:buClr>
                    <a:schemeClr val="dk2"/>
                  </a:buClr>
                  <a:buSzPts val="1800"/>
                  <a:buFont typeface="Arial" charset="0"/>
                  <a:buChar char="•"/>
                </a:pPr>
                <a:r>
                  <a:rPr lang="en-US" sz="2400" dirty="0" err="1"/>
                  <a:t>Algoritm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pentru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optimizarea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primului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ordin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pentru</a:t>
                </a:r>
                <a:r>
                  <a:rPr lang="en-US" sz="2400" dirty="0"/>
                  <a:t> a </a:t>
                </a:r>
                <a:r>
                  <a:rPr lang="en-US" sz="2400" dirty="0" err="1"/>
                  <a:t>găsi</a:t>
                </a:r>
                <a:r>
                  <a:rPr lang="en-US" sz="2400" dirty="0"/>
                  <a:t> un minim de </a:t>
                </a:r>
                <a:r>
                  <a:rPr lang="en-US" sz="2400" dirty="0" err="1"/>
                  <a:t>funcție</a:t>
                </a:r>
                <a:r>
                  <a:rPr lang="en-US" sz="2400" dirty="0"/>
                  <a:t>. </a:t>
                </a:r>
              </a:p>
              <a:p>
                <a:pPr marL="457200" lvl="0" indent="-342900" rtl="0">
                  <a:spcBef>
                    <a:spcPts val="1000"/>
                  </a:spcBef>
                  <a:spcAft>
                    <a:spcPts val="0"/>
                  </a:spcAft>
                  <a:buSzPts val="1800"/>
                  <a:buFont typeface="Arial" charset="0"/>
                  <a:buChar char="•"/>
                </a:pPr>
                <a:r>
                  <a:rPr lang="ro-RO" sz="2400" dirty="0"/>
                  <a:t>Este o metdă iterativă</a:t>
                </a:r>
                <a:r>
                  <a:rPr lang="en-US" sz="2400" dirty="0"/>
                  <a:t>.</a:t>
                </a:r>
              </a:p>
              <a:p>
                <a:pPr marL="457200" lvl="0" indent="-342900">
                  <a:spcBef>
                    <a:spcPts val="1000"/>
                  </a:spcBef>
                  <a:buSzPts val="1800"/>
                  <a:buFont typeface="Arial" charset="0"/>
                  <a:buChar char="•"/>
                </a:pPr>
                <a:r>
                  <a:rPr lang="en-US" sz="2400" i="1" dirty="0"/>
                  <a:t>L</a:t>
                </a:r>
                <a:r>
                  <a:rPr lang="en-US" sz="2400" dirty="0"/>
                  <a:t> </a:t>
                </a:r>
                <a:r>
                  <a:rPr lang="it-IT" sz="2400" dirty="0"/>
                  <a:t>scade în direcția derivatei negative</a:t>
                </a:r>
                <a:r>
                  <a:rPr lang="en-US" sz="2400" dirty="0"/>
                  <a:t>.</a:t>
                </a:r>
              </a:p>
              <a:p>
                <a:pPr marL="457200" lvl="0" indent="-342900">
                  <a:spcBef>
                    <a:spcPts val="1000"/>
                  </a:spcBef>
                  <a:buSzPts val="1800"/>
                  <a:buFont typeface="Arial" charset="0"/>
                  <a:buChar char="•"/>
                </a:pPr>
                <a:r>
                  <a:rPr lang="es-ES" sz="2400" dirty="0"/>
                  <a:t>Rata de învățare este controlată de </a:t>
                </a:r>
                <a:r>
                  <a:rPr lang="ro-RO" sz="2400" dirty="0"/>
                  <a:t>mărimea lui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lvl="0" indent="0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sz="2400" dirty="0"/>
              </a:p>
              <a:p>
                <a:pPr marL="0" lvl="0" indent="0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sz="2400" b="1" dirty="0"/>
              </a:p>
              <a:p>
                <a:pPr marL="0" marR="0" lvl="0" indent="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endParaRPr sz="2400" dirty="0"/>
              </a:p>
            </p:txBody>
          </p:sp>
        </mc:Choice>
        <mc:Fallback xmlns="">
          <p:sp>
            <p:nvSpPr>
              <p:cNvPr id="10" name="Google Shape;479;p4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3415" y="1177758"/>
                <a:ext cx="5797263" cy="2111143"/>
              </a:xfrm>
              <a:prstGeom prst="rect">
                <a:avLst/>
              </a:prstGeom>
              <a:blipFill>
                <a:blip r:embed="rId2"/>
                <a:stretch>
                  <a:fillRect r="-1472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6AAA-7C75-FB4B-8EA1-06B22787237D}" type="slidenum">
              <a:rPr lang="en-US" smtClean="0"/>
              <a:t>57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6912028" y="2851581"/>
            <a:ext cx="3781026" cy="2667300"/>
            <a:chOff x="6874450" y="2814003"/>
            <a:chExt cx="3781026" cy="2667300"/>
          </a:xfrm>
        </p:grpSpPr>
        <p:sp>
          <p:nvSpPr>
            <p:cNvPr id="7" name="Google Shape;473;p43"/>
            <p:cNvSpPr/>
            <p:nvPr/>
          </p:nvSpPr>
          <p:spPr>
            <a:xfrm>
              <a:off x="7575175" y="3337478"/>
              <a:ext cx="2813250" cy="1495125"/>
            </a:xfrm>
            <a:custGeom>
              <a:avLst/>
              <a:gdLst/>
              <a:ahLst/>
              <a:cxnLst/>
              <a:rect l="0" t="0" r="0" b="0"/>
              <a:pathLst>
                <a:path w="112530" h="59805" extrusionOk="0">
                  <a:moveTo>
                    <a:pt x="0" y="8746"/>
                  </a:moveTo>
                  <a:cubicBezTo>
                    <a:pt x="5016" y="20037"/>
                    <a:pt x="9747" y="35054"/>
                    <a:pt x="21468" y="38961"/>
                  </a:cubicBezTo>
                  <a:cubicBezTo>
                    <a:pt x="25008" y="40141"/>
                    <a:pt x="29495" y="39839"/>
                    <a:pt x="32600" y="37769"/>
                  </a:cubicBezTo>
                  <a:cubicBezTo>
                    <a:pt x="36791" y="34974"/>
                    <a:pt x="37317" y="28467"/>
                    <a:pt x="41347" y="25444"/>
                  </a:cubicBezTo>
                  <a:cubicBezTo>
                    <a:pt x="43701" y="23679"/>
                    <a:pt x="47427" y="25393"/>
                    <a:pt x="50093" y="26637"/>
                  </a:cubicBezTo>
                  <a:cubicBezTo>
                    <a:pt x="60686" y="31580"/>
                    <a:pt x="60912" y="47790"/>
                    <a:pt x="69176" y="56057"/>
                  </a:cubicBezTo>
                  <a:cubicBezTo>
                    <a:pt x="70815" y="57697"/>
                    <a:pt x="72924" y="60317"/>
                    <a:pt x="75140" y="59635"/>
                  </a:cubicBezTo>
                  <a:cubicBezTo>
                    <a:pt x="86327" y="56193"/>
                    <a:pt x="87008" y="39457"/>
                    <a:pt x="93030" y="29420"/>
                  </a:cubicBezTo>
                  <a:cubicBezTo>
                    <a:pt x="99043" y="19396"/>
                    <a:pt x="114951" y="11339"/>
                    <a:pt x="112113" y="0"/>
                  </a:cubicBezTo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8" name="Google Shape;474;p43"/>
            <p:cNvCxnSpPr/>
            <p:nvPr/>
          </p:nvCxnSpPr>
          <p:spPr>
            <a:xfrm flipH="1">
              <a:off x="9613725" y="36993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475;p43"/>
            <p:cNvCxnSpPr/>
            <p:nvPr/>
          </p:nvCxnSpPr>
          <p:spPr>
            <a:xfrm flipH="1">
              <a:off x="8288575" y="36777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476;p43"/>
            <p:cNvCxnSpPr/>
            <p:nvPr/>
          </p:nvCxnSpPr>
          <p:spPr>
            <a:xfrm>
              <a:off x="9042875" y="41348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477;p43"/>
            <p:cNvCxnSpPr/>
            <p:nvPr/>
          </p:nvCxnSpPr>
          <p:spPr>
            <a:xfrm>
              <a:off x="7527650" y="328360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480;p43"/>
            <p:cNvCxnSpPr/>
            <p:nvPr/>
          </p:nvCxnSpPr>
          <p:spPr>
            <a:xfrm>
              <a:off x="7377600" y="2933103"/>
              <a:ext cx="0" cy="2548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stealth" w="lg" len="lg"/>
              <a:tailEnd type="none" w="lg" len="lg"/>
            </a:ln>
          </p:spPr>
        </p:cxnSp>
        <p:cxnSp>
          <p:nvCxnSpPr>
            <p:cNvPr id="14" name="Google Shape;481;p43"/>
            <p:cNvCxnSpPr/>
            <p:nvPr/>
          </p:nvCxnSpPr>
          <p:spPr>
            <a:xfrm>
              <a:off x="6874450" y="5231078"/>
              <a:ext cx="34854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sp>
          <p:nvSpPr>
            <p:cNvPr id="15" name="Google Shape;483;p43"/>
            <p:cNvSpPr txBox="1"/>
            <p:nvPr/>
          </p:nvSpPr>
          <p:spPr>
            <a:xfrm>
              <a:off x="6964500" y="2877828"/>
              <a:ext cx="413100" cy="4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/>
                <a:t>L</a:t>
              </a:r>
              <a:endParaRPr sz="1800" b="1" dirty="0"/>
            </a:p>
          </p:txBody>
        </p:sp>
        <p:sp>
          <p:nvSpPr>
            <p:cNvPr id="16" name="Google Shape;482;p43"/>
            <p:cNvSpPr txBox="1"/>
            <p:nvPr/>
          </p:nvSpPr>
          <p:spPr>
            <a:xfrm>
              <a:off x="10242376" y="4832603"/>
              <a:ext cx="413100" cy="4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/>
                <a:t>w</a:t>
              </a:r>
              <a:endParaRPr sz="1800" dirty="0"/>
            </a:p>
          </p:txBody>
        </p:sp>
        <p:sp>
          <p:nvSpPr>
            <p:cNvPr id="17" name="Google Shape;484;p43"/>
            <p:cNvSpPr/>
            <p:nvPr/>
          </p:nvSpPr>
          <p:spPr>
            <a:xfrm>
              <a:off x="7619900" y="3510103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485;p43"/>
            <p:cNvCxnSpPr/>
            <p:nvPr/>
          </p:nvCxnSpPr>
          <p:spPr>
            <a:xfrm>
              <a:off x="7802300" y="3601303"/>
              <a:ext cx="3345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" name="Google Shape;486;p43"/>
            <p:cNvSpPr/>
            <p:nvPr/>
          </p:nvSpPr>
          <p:spPr>
            <a:xfrm>
              <a:off x="9705971" y="3919072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487;p43"/>
            <p:cNvCxnSpPr/>
            <p:nvPr/>
          </p:nvCxnSpPr>
          <p:spPr>
            <a:xfrm rot="10800000">
              <a:off x="9428771" y="4010272"/>
              <a:ext cx="2772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" name="Google Shape;488;p43"/>
            <p:cNvSpPr/>
            <p:nvPr/>
          </p:nvSpPr>
          <p:spPr>
            <a:xfrm rot="4578386">
              <a:off x="8363975" y="3904201"/>
              <a:ext cx="182487" cy="182487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" name="Google Shape;489;p43"/>
            <p:cNvCxnSpPr/>
            <p:nvPr/>
          </p:nvCxnSpPr>
          <p:spPr>
            <a:xfrm rot="10800000">
              <a:off x="8131669" y="4017045"/>
              <a:ext cx="2349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" name="Google Shape;490;p43"/>
            <p:cNvSpPr/>
            <p:nvPr/>
          </p:nvSpPr>
          <p:spPr>
            <a:xfrm>
              <a:off x="9141744" y="4356762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" name="Google Shape;491;p43"/>
            <p:cNvCxnSpPr/>
            <p:nvPr/>
          </p:nvCxnSpPr>
          <p:spPr>
            <a:xfrm>
              <a:off x="9324144" y="4447962"/>
              <a:ext cx="2238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" name="Google Shape;492;p43"/>
            <p:cNvSpPr/>
            <p:nvPr/>
          </p:nvSpPr>
          <p:spPr>
            <a:xfrm>
              <a:off x="8780472" y="3130224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" name="Google Shape;493;p43"/>
            <p:cNvCxnSpPr/>
            <p:nvPr/>
          </p:nvCxnSpPr>
          <p:spPr>
            <a:xfrm>
              <a:off x="8962872" y="3221424"/>
              <a:ext cx="2871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" name="Google Shape;494;p43"/>
            <p:cNvCxnSpPr/>
            <p:nvPr/>
          </p:nvCxnSpPr>
          <p:spPr>
            <a:xfrm rot="10800000">
              <a:off x="8474772" y="3221424"/>
              <a:ext cx="3057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" name="Google Shape;495;p43"/>
            <p:cNvSpPr txBox="1"/>
            <p:nvPr/>
          </p:nvSpPr>
          <p:spPr>
            <a:xfrm>
              <a:off x="8415025" y="2814003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/>
                <a:t>-</a:t>
              </a:r>
              <a:endParaRPr sz="2000"/>
            </a:p>
          </p:txBody>
        </p:sp>
        <p:sp>
          <p:nvSpPr>
            <p:cNvPr id="29" name="Google Shape;496;p43"/>
            <p:cNvSpPr txBox="1"/>
            <p:nvPr/>
          </p:nvSpPr>
          <p:spPr>
            <a:xfrm>
              <a:off x="9024625" y="2814003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/>
                <a:t>+</a:t>
              </a:r>
              <a:endParaRPr sz="2000"/>
            </a:p>
          </p:txBody>
        </p:sp>
        <p:cxnSp>
          <p:nvCxnSpPr>
            <p:cNvPr id="30" name="Google Shape;497;p43"/>
            <p:cNvCxnSpPr/>
            <p:nvPr/>
          </p:nvCxnSpPr>
          <p:spPr>
            <a:xfrm>
              <a:off x="7711100" y="3692503"/>
              <a:ext cx="0" cy="1520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498;p43"/>
            <p:cNvCxnSpPr/>
            <p:nvPr/>
          </p:nvCxnSpPr>
          <p:spPr>
            <a:xfrm>
              <a:off x="8476819" y="4084095"/>
              <a:ext cx="0" cy="11682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499;p43"/>
            <p:cNvCxnSpPr/>
            <p:nvPr/>
          </p:nvCxnSpPr>
          <p:spPr>
            <a:xfrm>
              <a:off x="9797171" y="4101472"/>
              <a:ext cx="0" cy="11013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500;p43"/>
            <p:cNvCxnSpPr/>
            <p:nvPr/>
          </p:nvCxnSpPr>
          <p:spPr>
            <a:xfrm>
              <a:off x="9232944" y="4539162"/>
              <a:ext cx="0" cy="668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067278" y="1382564"/>
                <a:ext cx="2821093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+1)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𝜆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ℒ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charset="0"/>
                            </a:rPr>
                            <m:t>𝑑𝑤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278" y="1382564"/>
                <a:ext cx="2821093" cy="70121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llout: Line 3">
                <a:extLst>
                  <a:ext uri="{FF2B5EF4-FFF2-40B4-BE49-F238E27FC236}">
                    <a16:creationId xmlns:a16="http://schemas.microsoft.com/office/drawing/2014/main" id="{15E8C6E9-E873-2927-61A8-0C7EF169BC30}"/>
                  </a:ext>
                </a:extLst>
              </p:cNvPr>
              <p:cNvSpPr/>
              <p:nvPr/>
            </p:nvSpPr>
            <p:spPr>
              <a:xfrm>
                <a:off x="9158870" y="5650253"/>
                <a:ext cx="2683838" cy="735604"/>
              </a:xfrm>
              <a:prstGeom prst="borderCallout1">
                <a:avLst>
                  <a:gd name="adj1" fmla="val -12640"/>
                  <a:gd name="adj2" fmla="val 29523"/>
                  <a:gd name="adj3" fmla="val -205659"/>
                  <a:gd name="adj4" fmla="val -25477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mr-I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ℒ</m:t>
                        </m:r>
                      </m:num>
                      <m:den>
                        <m:r>
                          <a:rPr lang="en-US" sz="1800" b="0" i="1" smtClean="0">
                            <a:latin typeface="Cambria Math" charset="0"/>
                          </a:rPr>
                          <m:t>𝑑𝑤</m:t>
                        </m:r>
                      </m:den>
                    </m:f>
                  </m:oMath>
                </a14:m>
                <a:r>
                  <a:rPr lang="en-US" dirty="0"/>
                  <a:t>&gt;0 </a:t>
                </a:r>
                <a:r>
                  <a:rPr lang="en-US" dirty="0" err="1"/>
                  <a:t>deci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(</m:t>
                        </m:r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  <m:r>
                          <a:rPr lang="en-US" i="1">
                            <a:latin typeface="Cambria Math" charset="0"/>
                          </a:rPr>
                          <m:t>+1)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𝑤</m:t>
                        </m:r>
                      </m:e>
                      <m:sup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allout: Line 3">
                <a:extLst>
                  <a:ext uri="{FF2B5EF4-FFF2-40B4-BE49-F238E27FC236}">
                    <a16:creationId xmlns:a16="http://schemas.microsoft.com/office/drawing/2014/main" id="{15E8C6E9-E873-2927-61A8-0C7EF169BC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8870" y="5650253"/>
                <a:ext cx="2683838" cy="735604"/>
              </a:xfrm>
              <a:prstGeom prst="borderCallout1">
                <a:avLst>
                  <a:gd name="adj1" fmla="val -12640"/>
                  <a:gd name="adj2" fmla="val 29523"/>
                  <a:gd name="adj3" fmla="val -205659"/>
                  <a:gd name="adj4" fmla="val -2547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llout: Line 5">
                <a:extLst>
                  <a:ext uri="{FF2B5EF4-FFF2-40B4-BE49-F238E27FC236}">
                    <a16:creationId xmlns:a16="http://schemas.microsoft.com/office/drawing/2014/main" id="{469F41D0-F32B-D683-1918-8115CE9C27CE}"/>
                  </a:ext>
                </a:extLst>
              </p:cNvPr>
              <p:cNvSpPr/>
              <p:nvPr/>
            </p:nvSpPr>
            <p:spPr>
              <a:xfrm>
                <a:off x="5148458" y="5648656"/>
                <a:ext cx="2844799" cy="735603"/>
              </a:xfrm>
              <a:prstGeom prst="borderCallout1">
                <a:avLst>
                  <a:gd name="adj1" fmla="val -14796"/>
                  <a:gd name="adj2" fmla="val 49249"/>
                  <a:gd name="adj3" fmla="val -274236"/>
                  <a:gd name="adj4" fmla="val 89954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mr-I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ℒ</m:t>
                        </m:r>
                      </m:num>
                      <m:den>
                        <m:r>
                          <a:rPr lang="en-US" sz="1800" b="0" i="1" smtClean="0">
                            <a:latin typeface="Cambria Math" charset="0"/>
                          </a:rPr>
                          <m:t>𝑑𝑤</m:t>
                        </m:r>
                      </m:den>
                    </m:f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0 </a:t>
                </a:r>
                <a:r>
                  <a:rPr lang="en-US" dirty="0" err="1"/>
                  <a:t>deci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(</m:t>
                        </m:r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  <m:r>
                          <a:rPr lang="en-US" i="1">
                            <a:latin typeface="Cambria Math" charset="0"/>
                          </a:rPr>
                          <m:t>+1)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𝑤</m:t>
                        </m:r>
                      </m:e>
                      <m:sup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allout: Line 5">
                <a:extLst>
                  <a:ext uri="{FF2B5EF4-FFF2-40B4-BE49-F238E27FC236}">
                    <a16:creationId xmlns:a16="http://schemas.microsoft.com/office/drawing/2014/main" id="{469F41D0-F32B-D683-1918-8115CE9C27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458" y="5648656"/>
                <a:ext cx="2844799" cy="735603"/>
              </a:xfrm>
              <a:prstGeom prst="borderCallout1">
                <a:avLst>
                  <a:gd name="adj1" fmla="val -14796"/>
                  <a:gd name="adj2" fmla="val 49249"/>
                  <a:gd name="adj3" fmla="val -274236"/>
                  <a:gd name="adj4" fmla="val 89954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16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3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</a:t>
            </a:r>
            <a:r>
              <a:rPr lang="en-US" dirty="0" err="1"/>
              <a:t>considera</a:t>
            </a:r>
            <a:r>
              <a:rPr lang="ro-RO" dirty="0"/>
              <a:t>ții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7426368" cy="2111143"/>
          </a:xfrm>
        </p:spPr>
        <p:txBody>
          <a:bodyPr/>
          <a:lstStyle/>
          <a:p>
            <a:pPr marL="342900" indent="-342900">
              <a:spcAft>
                <a:spcPts val="2400"/>
              </a:spcAft>
              <a:buFont typeface="Arial" charset="0"/>
              <a:buChar char="•"/>
            </a:pP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Trebuie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să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calculăm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/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estimăm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derivatele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.</a:t>
            </a:r>
          </a:p>
          <a:p>
            <a:pPr marL="342900" indent="-342900">
              <a:spcAft>
                <a:spcPts val="2400"/>
              </a:spcAft>
              <a:buFont typeface="Arial" charset="0"/>
              <a:buChar char="•"/>
            </a:pP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Trebuie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să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știm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care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este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rata de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învățare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sau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cum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să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o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setăm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.</a:t>
            </a:r>
          </a:p>
          <a:p>
            <a:pPr marL="342900" indent="-342900">
              <a:spcAft>
                <a:spcPts val="2400"/>
              </a:spcAft>
              <a:buFont typeface="Arial" charset="0"/>
              <a:buChar char="•"/>
            </a:pPr>
            <a:r>
              <a:rPr lang="it-IT" sz="2400" dirty="0">
                <a:latin typeface="Karla" charset="0"/>
                <a:ea typeface="Karla" charset="0"/>
                <a:cs typeface="Karla" charset="0"/>
              </a:rPr>
              <a:t>Trebuie să evităm minimele locale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.</a:t>
            </a:r>
          </a:p>
          <a:p>
            <a:pPr marL="342900" indent="-342900">
              <a:spcAft>
                <a:spcPts val="2400"/>
              </a:spcAft>
              <a:buFont typeface="Arial" charset="0"/>
              <a:buChar char="•"/>
            </a:pP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F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uncția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de 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eroare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include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însumarea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tuturor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„</a:t>
            </a:r>
            <a:r>
              <a:rPr lang="en-US" sz="2400" i="1" dirty="0" err="1">
                <a:latin typeface="Karla" charset="0"/>
                <a:ea typeface="Karla" charset="0"/>
                <a:cs typeface="Karla" charset="0"/>
              </a:rPr>
              <a:t>erorilor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”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individuale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. Ace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a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sta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poate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însemna foooarte multe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valori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. </a:t>
            </a:r>
            <a:br>
              <a:rPr lang="en-US" sz="2400" dirty="0">
                <a:latin typeface="Karla" charset="0"/>
                <a:ea typeface="Karla" charset="0"/>
                <a:cs typeface="Karla" charset="0"/>
              </a:rPr>
            </a:br>
            <a:endParaRPr lang="en-US" sz="2400" i="1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6AAA-7C75-FB4B-8EA1-06B22787237D}" type="slidenum">
              <a:rPr lang="en-US" smtClean="0"/>
              <a:t>58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150758" y="1169317"/>
            <a:ext cx="3691950" cy="2866600"/>
            <a:chOff x="6874450" y="2814003"/>
            <a:chExt cx="3691950" cy="2866600"/>
          </a:xfrm>
        </p:grpSpPr>
        <p:sp>
          <p:nvSpPr>
            <p:cNvPr id="6" name="Google Shape;473;p43"/>
            <p:cNvSpPr/>
            <p:nvPr/>
          </p:nvSpPr>
          <p:spPr>
            <a:xfrm>
              <a:off x="7575175" y="3337478"/>
              <a:ext cx="2813250" cy="1495125"/>
            </a:xfrm>
            <a:custGeom>
              <a:avLst/>
              <a:gdLst/>
              <a:ahLst/>
              <a:cxnLst/>
              <a:rect l="0" t="0" r="0" b="0"/>
              <a:pathLst>
                <a:path w="112530" h="59805" extrusionOk="0">
                  <a:moveTo>
                    <a:pt x="0" y="8746"/>
                  </a:moveTo>
                  <a:cubicBezTo>
                    <a:pt x="5016" y="20037"/>
                    <a:pt x="9747" y="35054"/>
                    <a:pt x="21468" y="38961"/>
                  </a:cubicBezTo>
                  <a:cubicBezTo>
                    <a:pt x="25008" y="40141"/>
                    <a:pt x="29495" y="39839"/>
                    <a:pt x="32600" y="37769"/>
                  </a:cubicBezTo>
                  <a:cubicBezTo>
                    <a:pt x="36791" y="34974"/>
                    <a:pt x="37317" y="28467"/>
                    <a:pt x="41347" y="25444"/>
                  </a:cubicBezTo>
                  <a:cubicBezTo>
                    <a:pt x="43701" y="23679"/>
                    <a:pt x="47427" y="25393"/>
                    <a:pt x="50093" y="26637"/>
                  </a:cubicBezTo>
                  <a:cubicBezTo>
                    <a:pt x="60686" y="31580"/>
                    <a:pt x="60912" y="47790"/>
                    <a:pt x="69176" y="56057"/>
                  </a:cubicBezTo>
                  <a:cubicBezTo>
                    <a:pt x="70815" y="57697"/>
                    <a:pt x="72924" y="60317"/>
                    <a:pt x="75140" y="59635"/>
                  </a:cubicBezTo>
                  <a:cubicBezTo>
                    <a:pt x="86327" y="56193"/>
                    <a:pt x="87008" y="39457"/>
                    <a:pt x="93030" y="29420"/>
                  </a:cubicBezTo>
                  <a:cubicBezTo>
                    <a:pt x="99043" y="19396"/>
                    <a:pt x="114951" y="11339"/>
                    <a:pt x="112113" y="0"/>
                  </a:cubicBezTo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7" name="Google Shape;474;p43"/>
            <p:cNvCxnSpPr/>
            <p:nvPr/>
          </p:nvCxnSpPr>
          <p:spPr>
            <a:xfrm flipH="1">
              <a:off x="9613725" y="36993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475;p43"/>
            <p:cNvCxnSpPr/>
            <p:nvPr/>
          </p:nvCxnSpPr>
          <p:spPr>
            <a:xfrm flipH="1">
              <a:off x="8288575" y="36777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476;p43"/>
            <p:cNvCxnSpPr/>
            <p:nvPr/>
          </p:nvCxnSpPr>
          <p:spPr>
            <a:xfrm>
              <a:off x="9042875" y="41348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477;p43"/>
            <p:cNvCxnSpPr/>
            <p:nvPr/>
          </p:nvCxnSpPr>
          <p:spPr>
            <a:xfrm>
              <a:off x="7527650" y="328360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480;p43"/>
            <p:cNvCxnSpPr/>
            <p:nvPr/>
          </p:nvCxnSpPr>
          <p:spPr>
            <a:xfrm>
              <a:off x="7377500" y="2916253"/>
              <a:ext cx="0" cy="2548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stealth" w="lg" len="lg"/>
              <a:tailEnd type="none" w="med" len="med"/>
            </a:ln>
          </p:spPr>
        </p:cxnSp>
        <p:cxnSp>
          <p:nvCxnSpPr>
            <p:cNvPr id="12" name="Google Shape;481;p43"/>
            <p:cNvCxnSpPr/>
            <p:nvPr/>
          </p:nvCxnSpPr>
          <p:spPr>
            <a:xfrm>
              <a:off x="6874450" y="5231078"/>
              <a:ext cx="34854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lg" len="lg"/>
            </a:ln>
          </p:spPr>
        </p:cxnSp>
        <p:sp>
          <p:nvSpPr>
            <p:cNvPr id="13" name="Google Shape;483;p43"/>
            <p:cNvSpPr txBox="1"/>
            <p:nvPr/>
          </p:nvSpPr>
          <p:spPr>
            <a:xfrm>
              <a:off x="6964500" y="2877828"/>
              <a:ext cx="413100" cy="4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/>
                <a:t>L</a:t>
              </a:r>
              <a:endParaRPr sz="1800" b="1" dirty="0"/>
            </a:p>
          </p:txBody>
        </p:sp>
        <p:sp>
          <p:nvSpPr>
            <p:cNvPr id="14" name="Google Shape;482;p43"/>
            <p:cNvSpPr txBox="1"/>
            <p:nvPr/>
          </p:nvSpPr>
          <p:spPr>
            <a:xfrm>
              <a:off x="10153300" y="5248303"/>
              <a:ext cx="413100" cy="4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/>
                <a:t>w</a:t>
              </a:r>
              <a:endParaRPr sz="1800" dirty="0"/>
            </a:p>
          </p:txBody>
        </p:sp>
        <p:sp>
          <p:nvSpPr>
            <p:cNvPr id="15" name="Google Shape;484;p43"/>
            <p:cNvSpPr/>
            <p:nvPr/>
          </p:nvSpPr>
          <p:spPr>
            <a:xfrm>
              <a:off x="7619900" y="3510103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" name="Google Shape;485;p43"/>
            <p:cNvCxnSpPr/>
            <p:nvPr/>
          </p:nvCxnSpPr>
          <p:spPr>
            <a:xfrm>
              <a:off x="7802300" y="3601303"/>
              <a:ext cx="3345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Google Shape;486;p43"/>
            <p:cNvSpPr/>
            <p:nvPr/>
          </p:nvSpPr>
          <p:spPr>
            <a:xfrm>
              <a:off x="9705971" y="3919072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487;p43"/>
            <p:cNvCxnSpPr/>
            <p:nvPr/>
          </p:nvCxnSpPr>
          <p:spPr>
            <a:xfrm rot="10800000">
              <a:off x="9428771" y="4010272"/>
              <a:ext cx="2772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" name="Google Shape;488;p43"/>
            <p:cNvSpPr/>
            <p:nvPr/>
          </p:nvSpPr>
          <p:spPr>
            <a:xfrm rot="4578386">
              <a:off x="8363975" y="3904201"/>
              <a:ext cx="182487" cy="182487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489;p43"/>
            <p:cNvCxnSpPr/>
            <p:nvPr/>
          </p:nvCxnSpPr>
          <p:spPr>
            <a:xfrm rot="10800000">
              <a:off x="8131669" y="4017045"/>
              <a:ext cx="2349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" name="Google Shape;490;p43"/>
            <p:cNvSpPr/>
            <p:nvPr/>
          </p:nvSpPr>
          <p:spPr>
            <a:xfrm>
              <a:off x="9141744" y="4356762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" name="Google Shape;491;p43"/>
            <p:cNvCxnSpPr/>
            <p:nvPr/>
          </p:nvCxnSpPr>
          <p:spPr>
            <a:xfrm>
              <a:off x="9324144" y="4447962"/>
              <a:ext cx="2238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" name="Google Shape;492;p43"/>
            <p:cNvSpPr/>
            <p:nvPr/>
          </p:nvSpPr>
          <p:spPr>
            <a:xfrm>
              <a:off x="8780472" y="3130224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" name="Google Shape;493;p43"/>
            <p:cNvCxnSpPr/>
            <p:nvPr/>
          </p:nvCxnSpPr>
          <p:spPr>
            <a:xfrm>
              <a:off x="8962872" y="3221424"/>
              <a:ext cx="2871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494;p43"/>
            <p:cNvCxnSpPr/>
            <p:nvPr/>
          </p:nvCxnSpPr>
          <p:spPr>
            <a:xfrm rot="10800000">
              <a:off x="8474772" y="3221424"/>
              <a:ext cx="3057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" name="Google Shape;495;p43"/>
            <p:cNvSpPr txBox="1"/>
            <p:nvPr/>
          </p:nvSpPr>
          <p:spPr>
            <a:xfrm>
              <a:off x="8415025" y="2814003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/>
                <a:t>-</a:t>
              </a:r>
              <a:endParaRPr sz="2000"/>
            </a:p>
          </p:txBody>
        </p:sp>
        <p:sp>
          <p:nvSpPr>
            <p:cNvPr id="27" name="Google Shape;496;p43"/>
            <p:cNvSpPr txBox="1"/>
            <p:nvPr/>
          </p:nvSpPr>
          <p:spPr>
            <a:xfrm>
              <a:off x="9024625" y="2814003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/>
                <a:t>+</a:t>
              </a:r>
              <a:endParaRPr sz="2000"/>
            </a:p>
          </p:txBody>
        </p:sp>
        <p:cxnSp>
          <p:nvCxnSpPr>
            <p:cNvPr id="28" name="Google Shape;497;p43"/>
            <p:cNvCxnSpPr/>
            <p:nvPr/>
          </p:nvCxnSpPr>
          <p:spPr>
            <a:xfrm>
              <a:off x="7711100" y="3692503"/>
              <a:ext cx="0" cy="1520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498;p43"/>
            <p:cNvCxnSpPr/>
            <p:nvPr/>
          </p:nvCxnSpPr>
          <p:spPr>
            <a:xfrm>
              <a:off x="8476819" y="4084095"/>
              <a:ext cx="0" cy="11682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499;p43"/>
            <p:cNvCxnSpPr/>
            <p:nvPr/>
          </p:nvCxnSpPr>
          <p:spPr>
            <a:xfrm>
              <a:off x="9797171" y="4101472"/>
              <a:ext cx="0" cy="11013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500;p43"/>
            <p:cNvCxnSpPr/>
            <p:nvPr/>
          </p:nvCxnSpPr>
          <p:spPr>
            <a:xfrm>
              <a:off x="9232944" y="4539162"/>
              <a:ext cx="0" cy="668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84268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</a:t>
            </a:r>
            <a:r>
              <a:rPr lang="en-US" dirty="0" err="1"/>
              <a:t>considera</a:t>
            </a:r>
            <a:r>
              <a:rPr lang="ro-RO" dirty="0"/>
              <a:t>ții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2400"/>
              </a:spcAft>
            </a:pPr>
            <a:r>
              <a:rPr lang="en-US" sz="2400" b="1" dirty="0"/>
              <a:t>Gradient Descent Considerations (more in coming </a:t>
            </a:r>
            <a:br>
              <a:rPr lang="en-US" sz="2400" b="1" dirty="0"/>
            </a:br>
            <a:r>
              <a:rPr lang="en-US" sz="2400" b="1" dirty="0"/>
              <a:t>lectures)</a:t>
            </a:r>
            <a:endParaRPr lang="en-US" sz="2400" dirty="0">
              <a:latin typeface="Karla" charset="0"/>
              <a:ea typeface="Karla" charset="0"/>
              <a:cs typeface="Karla" charset="0"/>
            </a:endParaRPr>
          </a:p>
          <a:p>
            <a:pPr marL="342900" indent="-342900">
              <a:spcAft>
                <a:spcPts val="2400"/>
              </a:spcAft>
              <a:buFont typeface="Arial" charset="0"/>
              <a:buChar char="•"/>
            </a:pP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We still need to derive or compute the derivatives</a:t>
            </a:r>
          </a:p>
          <a:p>
            <a:pPr marL="342900" indent="-342900">
              <a:spcAft>
                <a:spcPts val="2400"/>
              </a:spcAft>
              <a:buFont typeface="Arial" charset="0"/>
              <a:buChar char="•"/>
            </a:pP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We need to know what is the learning rate or how </a:t>
            </a:r>
            <a:br>
              <a:rPr lang="en-US" sz="2400" dirty="0">
                <a:latin typeface="Karla" charset="0"/>
                <a:ea typeface="Karla" charset="0"/>
                <a:cs typeface="Karla" charset="0"/>
              </a:rPr>
            </a:b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to set it</a:t>
            </a:r>
          </a:p>
          <a:p>
            <a:pPr marL="342900" indent="-342900">
              <a:spcAft>
                <a:spcPts val="2400"/>
              </a:spcAft>
              <a:buFont typeface="Arial" charset="0"/>
              <a:buChar char="•"/>
            </a:pP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We need to avoid local minima</a:t>
            </a:r>
          </a:p>
          <a:p>
            <a:pPr marL="342900" indent="-342900">
              <a:spcAft>
                <a:spcPts val="2400"/>
              </a:spcAft>
              <a:buFont typeface="Arial" charset="0"/>
              <a:buChar char="•"/>
            </a:pP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Finally, the full loss function includes summing up all individual ‘</a:t>
            </a:r>
            <a:r>
              <a:rPr lang="en-US" sz="2400" i="1" dirty="0">
                <a:latin typeface="Karla" charset="0"/>
                <a:ea typeface="Karla" charset="0"/>
                <a:cs typeface="Karla" charset="0"/>
              </a:rPr>
              <a:t>errors’.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This can be hundreds of thousands of examples. </a:t>
            </a:r>
            <a:endParaRPr lang="en-US" sz="2400" i="1" dirty="0">
              <a:latin typeface="Karla" charset="0"/>
              <a:ea typeface="Karla" charset="0"/>
              <a:cs typeface="Karla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D6AAA-7C75-FB4B-8EA1-06B22787237D}" type="slidenum">
              <a:rPr lang="en-US" smtClean="0"/>
              <a:t>59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150758" y="1169317"/>
            <a:ext cx="3691950" cy="2866600"/>
            <a:chOff x="6874450" y="2814003"/>
            <a:chExt cx="3691950" cy="2866600"/>
          </a:xfrm>
        </p:grpSpPr>
        <p:sp>
          <p:nvSpPr>
            <p:cNvPr id="6" name="Google Shape;473;p43"/>
            <p:cNvSpPr/>
            <p:nvPr/>
          </p:nvSpPr>
          <p:spPr>
            <a:xfrm>
              <a:off x="7575175" y="3337478"/>
              <a:ext cx="2813250" cy="1495125"/>
            </a:xfrm>
            <a:custGeom>
              <a:avLst/>
              <a:gdLst/>
              <a:ahLst/>
              <a:cxnLst/>
              <a:rect l="0" t="0" r="0" b="0"/>
              <a:pathLst>
                <a:path w="112530" h="59805" extrusionOk="0">
                  <a:moveTo>
                    <a:pt x="0" y="8746"/>
                  </a:moveTo>
                  <a:cubicBezTo>
                    <a:pt x="5016" y="20037"/>
                    <a:pt x="9747" y="35054"/>
                    <a:pt x="21468" y="38961"/>
                  </a:cubicBezTo>
                  <a:cubicBezTo>
                    <a:pt x="25008" y="40141"/>
                    <a:pt x="29495" y="39839"/>
                    <a:pt x="32600" y="37769"/>
                  </a:cubicBezTo>
                  <a:cubicBezTo>
                    <a:pt x="36791" y="34974"/>
                    <a:pt x="37317" y="28467"/>
                    <a:pt x="41347" y="25444"/>
                  </a:cubicBezTo>
                  <a:cubicBezTo>
                    <a:pt x="43701" y="23679"/>
                    <a:pt x="47427" y="25393"/>
                    <a:pt x="50093" y="26637"/>
                  </a:cubicBezTo>
                  <a:cubicBezTo>
                    <a:pt x="60686" y="31580"/>
                    <a:pt x="60912" y="47790"/>
                    <a:pt x="69176" y="56057"/>
                  </a:cubicBezTo>
                  <a:cubicBezTo>
                    <a:pt x="70815" y="57697"/>
                    <a:pt x="72924" y="60317"/>
                    <a:pt x="75140" y="59635"/>
                  </a:cubicBezTo>
                  <a:cubicBezTo>
                    <a:pt x="86327" y="56193"/>
                    <a:pt x="87008" y="39457"/>
                    <a:pt x="93030" y="29420"/>
                  </a:cubicBezTo>
                  <a:cubicBezTo>
                    <a:pt x="99043" y="19396"/>
                    <a:pt x="114951" y="11339"/>
                    <a:pt x="112113" y="0"/>
                  </a:cubicBezTo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7" name="Google Shape;474;p43"/>
            <p:cNvCxnSpPr/>
            <p:nvPr/>
          </p:nvCxnSpPr>
          <p:spPr>
            <a:xfrm flipH="1">
              <a:off x="9613725" y="36993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475;p43"/>
            <p:cNvCxnSpPr/>
            <p:nvPr/>
          </p:nvCxnSpPr>
          <p:spPr>
            <a:xfrm flipH="1">
              <a:off x="8288575" y="36777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476;p43"/>
            <p:cNvCxnSpPr/>
            <p:nvPr/>
          </p:nvCxnSpPr>
          <p:spPr>
            <a:xfrm>
              <a:off x="9042875" y="413485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477;p43"/>
            <p:cNvCxnSpPr/>
            <p:nvPr/>
          </p:nvCxnSpPr>
          <p:spPr>
            <a:xfrm>
              <a:off x="7527650" y="3283603"/>
              <a:ext cx="366900" cy="635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480;p43"/>
            <p:cNvCxnSpPr/>
            <p:nvPr/>
          </p:nvCxnSpPr>
          <p:spPr>
            <a:xfrm>
              <a:off x="7377500" y="2916253"/>
              <a:ext cx="0" cy="2548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481;p43"/>
            <p:cNvCxnSpPr/>
            <p:nvPr/>
          </p:nvCxnSpPr>
          <p:spPr>
            <a:xfrm>
              <a:off x="6874450" y="5231078"/>
              <a:ext cx="34854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3" name="Google Shape;483;p43"/>
            <p:cNvSpPr txBox="1"/>
            <p:nvPr/>
          </p:nvSpPr>
          <p:spPr>
            <a:xfrm>
              <a:off x="6964500" y="2877828"/>
              <a:ext cx="413100" cy="4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/>
                <a:t>L</a:t>
              </a:r>
              <a:endParaRPr sz="1800" b="1" dirty="0"/>
            </a:p>
          </p:txBody>
        </p:sp>
        <p:sp>
          <p:nvSpPr>
            <p:cNvPr id="14" name="Google Shape;482;p43"/>
            <p:cNvSpPr txBox="1"/>
            <p:nvPr/>
          </p:nvSpPr>
          <p:spPr>
            <a:xfrm>
              <a:off x="10153300" y="5248303"/>
              <a:ext cx="413100" cy="4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/>
                <a:t>w</a:t>
              </a:r>
              <a:endParaRPr sz="1800" dirty="0"/>
            </a:p>
          </p:txBody>
        </p:sp>
        <p:sp>
          <p:nvSpPr>
            <p:cNvPr id="15" name="Google Shape;484;p43"/>
            <p:cNvSpPr/>
            <p:nvPr/>
          </p:nvSpPr>
          <p:spPr>
            <a:xfrm>
              <a:off x="7619900" y="3510103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" name="Google Shape;485;p43"/>
            <p:cNvCxnSpPr/>
            <p:nvPr/>
          </p:nvCxnSpPr>
          <p:spPr>
            <a:xfrm>
              <a:off x="7802300" y="3601303"/>
              <a:ext cx="3345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Google Shape;486;p43"/>
            <p:cNvSpPr/>
            <p:nvPr/>
          </p:nvSpPr>
          <p:spPr>
            <a:xfrm>
              <a:off x="9705971" y="3919072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487;p43"/>
            <p:cNvCxnSpPr/>
            <p:nvPr/>
          </p:nvCxnSpPr>
          <p:spPr>
            <a:xfrm rot="10800000">
              <a:off x="9428771" y="4010272"/>
              <a:ext cx="2772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" name="Google Shape;488;p43"/>
            <p:cNvSpPr/>
            <p:nvPr/>
          </p:nvSpPr>
          <p:spPr>
            <a:xfrm rot="4578386">
              <a:off x="8363975" y="3904201"/>
              <a:ext cx="182487" cy="182487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489;p43"/>
            <p:cNvCxnSpPr/>
            <p:nvPr/>
          </p:nvCxnSpPr>
          <p:spPr>
            <a:xfrm rot="10800000">
              <a:off x="8131669" y="4017045"/>
              <a:ext cx="2349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" name="Google Shape;490;p43"/>
            <p:cNvSpPr/>
            <p:nvPr/>
          </p:nvSpPr>
          <p:spPr>
            <a:xfrm>
              <a:off x="9141744" y="4356762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" name="Google Shape;491;p43"/>
            <p:cNvCxnSpPr/>
            <p:nvPr/>
          </p:nvCxnSpPr>
          <p:spPr>
            <a:xfrm>
              <a:off x="9324144" y="4447962"/>
              <a:ext cx="2238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" name="Google Shape;492;p43"/>
            <p:cNvSpPr/>
            <p:nvPr/>
          </p:nvSpPr>
          <p:spPr>
            <a:xfrm>
              <a:off x="8780472" y="3130224"/>
              <a:ext cx="182400" cy="1824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" name="Google Shape;493;p43"/>
            <p:cNvCxnSpPr/>
            <p:nvPr/>
          </p:nvCxnSpPr>
          <p:spPr>
            <a:xfrm>
              <a:off x="8962872" y="3221424"/>
              <a:ext cx="2871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494;p43"/>
            <p:cNvCxnSpPr/>
            <p:nvPr/>
          </p:nvCxnSpPr>
          <p:spPr>
            <a:xfrm rot="10800000">
              <a:off x="8474772" y="3221424"/>
              <a:ext cx="305700" cy="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" name="Google Shape;495;p43"/>
            <p:cNvSpPr txBox="1"/>
            <p:nvPr/>
          </p:nvSpPr>
          <p:spPr>
            <a:xfrm>
              <a:off x="8415025" y="2814003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/>
                <a:t>-</a:t>
              </a:r>
              <a:endParaRPr sz="2000"/>
            </a:p>
          </p:txBody>
        </p:sp>
        <p:sp>
          <p:nvSpPr>
            <p:cNvPr id="27" name="Google Shape;496;p43"/>
            <p:cNvSpPr txBox="1"/>
            <p:nvPr/>
          </p:nvSpPr>
          <p:spPr>
            <a:xfrm>
              <a:off x="9024625" y="2814003"/>
              <a:ext cx="238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/>
                <a:t>+</a:t>
              </a:r>
              <a:endParaRPr sz="2000"/>
            </a:p>
          </p:txBody>
        </p:sp>
        <p:cxnSp>
          <p:nvCxnSpPr>
            <p:cNvPr id="28" name="Google Shape;497;p43"/>
            <p:cNvCxnSpPr/>
            <p:nvPr/>
          </p:nvCxnSpPr>
          <p:spPr>
            <a:xfrm>
              <a:off x="7711100" y="3692503"/>
              <a:ext cx="0" cy="15201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498;p43"/>
            <p:cNvCxnSpPr/>
            <p:nvPr/>
          </p:nvCxnSpPr>
          <p:spPr>
            <a:xfrm>
              <a:off x="8476819" y="4084095"/>
              <a:ext cx="0" cy="11682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499;p43"/>
            <p:cNvCxnSpPr/>
            <p:nvPr/>
          </p:nvCxnSpPr>
          <p:spPr>
            <a:xfrm>
              <a:off x="9797171" y="4101472"/>
              <a:ext cx="0" cy="11013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500;p43"/>
            <p:cNvCxnSpPr/>
            <p:nvPr/>
          </p:nvCxnSpPr>
          <p:spPr>
            <a:xfrm>
              <a:off x="9232944" y="4539162"/>
              <a:ext cx="0" cy="66840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33" name="Rectangle 32"/>
          <p:cNvSpPr/>
          <p:nvPr/>
        </p:nvSpPr>
        <p:spPr>
          <a:xfrm>
            <a:off x="613673" y="1230089"/>
            <a:ext cx="11051060" cy="44012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În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regresia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liniară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, nu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există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valori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minime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locale,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deoarece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funcția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de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pierdere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este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convexă</a:t>
            </a:r>
            <a:endParaRPr lang="en-US" sz="4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C00000"/>
              </a:solidFill>
              <a:effectLst/>
            </a:endParaRPr>
          </a:p>
          <a:p>
            <a:pPr marL="571500" indent="-571500">
              <a:buFont typeface="Arial" charset="0"/>
              <a:buChar char="•"/>
            </a:pPr>
            <a:endParaRPr lang="en-US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C00000"/>
              </a:solidFill>
            </a:endParaRPr>
          </a:p>
          <a:p>
            <a:pPr marL="571500" indent="-571500">
              <a:buFont typeface="Arial" charset="0"/>
              <a:buChar char="•"/>
            </a:pP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În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regresia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liniară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,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folosim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adesea</a:t>
            </a:r>
            <a:r>
              <a:rPr lang="en-US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 formula exacta</a:t>
            </a:r>
          </a:p>
          <a:p>
            <a:pPr marL="571500" indent="-571500">
              <a:buFont typeface="Arial" charset="0"/>
              <a:buChar char="•"/>
            </a:pPr>
            <a:r>
              <a:rPr lang="ro-RO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</a:rPr>
              <a:t>Algoritmii pentru care există formule exacte sunt rari</a:t>
            </a:r>
          </a:p>
        </p:txBody>
      </p:sp>
    </p:spTree>
    <p:extLst>
      <p:ext uri="{BB962C8B-B14F-4D97-AF65-F5344CB8AC3E}">
        <p14:creationId xmlns:p14="http://schemas.microsoft.com/office/powerpoint/2010/main" val="63031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Interpreta</a:t>
            </a:r>
            <a:r>
              <a:rPr lang="ro-RO" dirty="0"/>
              <a:t>rea Predictorilor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ro-RO" sz="2400" b="1" dirty="0"/>
                  <a:t>Întrebare</a:t>
                </a:r>
                <a:r>
                  <a:rPr lang="en-US" sz="2400" b="1" dirty="0"/>
                  <a:t>: </a:t>
                </a:r>
                <a:r>
                  <a:rPr lang="fr-FR" sz="2400" dirty="0"/>
                  <a:t>Ce </a:t>
                </a:r>
                <a:r>
                  <a:rPr lang="fr-FR" sz="2400" dirty="0" err="1"/>
                  <a:t>crezi</a:t>
                </a:r>
                <a:r>
                  <a:rPr lang="fr-FR" sz="2400" dirty="0"/>
                  <a:t> </a:t>
                </a:r>
                <a:r>
                  <a:rPr lang="fr-FR" sz="2400" dirty="0" err="1"/>
                  <a:t>că</a:t>
                </a:r>
                <a:r>
                  <a:rPr lang="fr-FR" sz="2400" dirty="0"/>
                  <a:t> </a:t>
                </a:r>
                <a:r>
                  <a:rPr lang="fr-FR" sz="2400" dirty="0" err="1"/>
                  <a:t>înseamnă</a:t>
                </a:r>
                <a:r>
                  <a:rPr lang="fr-FR" sz="2400" dirty="0"/>
                  <a:t> un </a:t>
                </a:r>
                <a:r>
                  <a:rPr lang="fr-FR" sz="2400" dirty="0" err="1"/>
                  <a:t>coeficient</a:t>
                </a:r>
                <a:r>
                  <a:rPr lang="fr-FR" sz="2400" dirty="0"/>
                  <a:t> </a:t>
                </a:r>
                <a:r>
                  <a:rPr lang="fr-FR" sz="2400" dirty="0" err="1"/>
                  <a:t>predictor</a:t>
                </a:r>
                <a:r>
                  <a:rPr lang="en-US" sz="2400" dirty="0"/>
                  <a:t>?</a:t>
                </a:r>
              </a:p>
              <a:p>
                <a:pPr algn="ctr">
                  <a:spcBef>
                    <a:spcPts val="18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𝑆𝑎𝑙𝑒𝑠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=7.5+0.04 </m:t>
                      </m:r>
                      <m:r>
                        <a:rPr lang="en-US" sz="24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𝑇𝑉</m:t>
                      </m:r>
                    </m:oMath>
                  </m:oMathPara>
                </a14:m>
                <a:endPara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fr-FR" sz="2400" dirty="0">
                    <a:solidFill>
                      <a:schemeClr val="accent2">
                        <a:lumMod val="75000"/>
                      </a:schemeClr>
                    </a:solidFill>
                  </a:rPr>
                  <a:t>Ce </a:t>
                </a:r>
                <a:r>
                  <a:rPr lang="fr-FR" sz="2400" dirty="0" err="1">
                    <a:solidFill>
                      <a:schemeClr val="accent2">
                        <a:lumMod val="75000"/>
                      </a:schemeClr>
                    </a:solidFill>
                  </a:rPr>
                  <a:t>înseamnă</a:t>
                </a:r>
                <a:r>
                  <a:rPr lang="fr-FR" sz="2400" dirty="0">
                    <a:solidFill>
                      <a:schemeClr val="accent2">
                        <a:lumMod val="75000"/>
                      </a:schemeClr>
                    </a:solidFill>
                  </a:rPr>
                  <a:t> 7.5 </a:t>
                </a:r>
                <a:r>
                  <a:rPr lang="fr-FR" sz="2400" dirty="0" err="1">
                    <a:solidFill>
                      <a:schemeClr val="accent2">
                        <a:lumMod val="75000"/>
                      </a:schemeClr>
                    </a:solidFill>
                  </a:rPr>
                  <a:t>și</a:t>
                </a:r>
                <a:r>
                  <a:rPr lang="fr-FR" sz="2400" dirty="0">
                    <a:solidFill>
                      <a:schemeClr val="accent2">
                        <a:lumMod val="75000"/>
                      </a:schemeClr>
                    </a:solidFill>
                  </a:rPr>
                  <a:t> ce </a:t>
                </a:r>
                <a:r>
                  <a:rPr lang="fr-FR" sz="2400" dirty="0" err="1">
                    <a:solidFill>
                      <a:schemeClr val="accent2">
                        <a:lumMod val="75000"/>
                      </a:schemeClr>
                    </a:solidFill>
                  </a:rPr>
                  <a:t>înseamnă</a:t>
                </a:r>
                <a:r>
                  <a:rPr lang="fr-FR" sz="2400" dirty="0">
                    <a:solidFill>
                      <a:schemeClr val="accent2">
                        <a:lumMod val="75000"/>
                      </a:schemeClr>
                    </a:solidFill>
                  </a:rPr>
                  <a:t> 0.04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?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Dacă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mărim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reclama TV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cu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$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1000 de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dolari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,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care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vă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așteptați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să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fie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creșterea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vânzărilor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? 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Dar dacă: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</a:rPr>
                      <m:t>𝑆𝑎𝑙𝑒𝑠</m:t>
                    </m:r>
                    <m:r>
                      <a:rPr lang="en-US" sz="2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</a:rPr>
                      <m:t>=7.5+1.01 </m:t>
                    </m:r>
                    <m:r>
                      <a:rPr lang="en-US" sz="24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</a:rPr>
                      <m:t>𝑇𝑉</m:t>
                    </m:r>
                  </m:oMath>
                </a14:m>
                <a:endPara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5" t="-2305" b="-47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69553" y="5002681"/>
            <a:ext cx="10973155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Interpretarea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predictorilor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depinde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valori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,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deciziile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depind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cât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de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mult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avem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încredere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în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aceste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valori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470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Planul cursului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E54E5B-C88E-ED43-B951-CBA664C28785}"/>
              </a:ext>
            </a:extLst>
          </p:cNvPr>
          <p:cNvSpPr txBox="1">
            <a:spLocks/>
          </p:cNvSpPr>
          <p:nvPr/>
        </p:nvSpPr>
        <p:spPr>
          <a:xfrm>
            <a:off x="1041240" y="1134895"/>
            <a:ext cx="10045860" cy="4674402"/>
          </a:xfrm>
          <a:prstGeom prst="rect">
            <a:avLst/>
          </a:prstGeom>
          <a:ln w="12700"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Modele 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Lin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iare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-US" sz="2400" dirty="0" err="1">
                <a:latin typeface="Karla" charset="0"/>
                <a:ea typeface="Karla" charset="0"/>
                <a:cs typeface="Karla" charset="0"/>
              </a:rPr>
              <a:t>Estima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rea coeficienților de regresie</a:t>
            </a:r>
            <a:endParaRPr lang="en-US" sz="2400" dirty="0">
              <a:latin typeface="Karla" charset="0"/>
              <a:ea typeface="Karla" charset="0"/>
              <a:cs typeface="Karla" charset="0"/>
            </a:endParaRPr>
          </a:p>
          <a:p>
            <a:pPr marL="1085820" lvl="1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000" dirty="0">
                <a:latin typeface="Karla" charset="0"/>
                <a:ea typeface="Karla" charset="0"/>
                <a:cs typeface="Karla" charset="0"/>
              </a:rPr>
              <a:t>Metoda exactă</a:t>
            </a:r>
            <a:endParaRPr lang="en-US" sz="2000" dirty="0">
              <a:latin typeface="Karla" charset="0"/>
              <a:ea typeface="Karla" charset="0"/>
              <a:cs typeface="Karla" charset="0"/>
            </a:endParaRPr>
          </a:p>
          <a:p>
            <a:pPr marL="1085820" lvl="1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000" dirty="0">
                <a:latin typeface="Karla" charset="0"/>
                <a:ea typeface="Karla" charset="0"/>
                <a:cs typeface="Karla" charset="0"/>
              </a:rPr>
              <a:t>Metoda Gradientului - </a:t>
            </a:r>
            <a:r>
              <a:rPr lang="en-US" sz="2000" dirty="0">
                <a:latin typeface="Karla" charset="0"/>
                <a:ea typeface="Karla" charset="0"/>
                <a:cs typeface="Karla" charset="0"/>
              </a:rPr>
              <a:t>Gradient Descent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o-RO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Intervale de încredere pentru estimările predictorilor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7244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22B038-280C-0C42-AF84-B1E7D6DBA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790" y="3998380"/>
            <a:ext cx="4104420" cy="2736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ro-RO" sz="2400" dirty="0"/>
                  <a:t>Interpretăm termenul 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𝜀</m:t>
                    </m:r>
                    <m:r>
                      <a:rPr lang="en-US" sz="2400" i="1">
                        <a:latin typeface="Cambria Math" charset="0"/>
                        <a:ea typeface="Karla" charset="0"/>
                        <a:cs typeface="Karla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d</a:t>
                </a:r>
                <a:r>
                  <a:rPr lang="en-US" sz="2400" dirty="0"/>
                  <a:t>in </a:t>
                </a:r>
                <a:r>
                  <a:rPr lang="en-US" sz="2400" dirty="0" err="1"/>
                  <a:t>observa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</a:t>
                </a:r>
                <a:r>
                  <a:rPr lang="ro-RO" sz="2400" dirty="0"/>
                  <a:t>i</a:t>
                </a:r>
                <a:endParaRPr lang="en-US" sz="2400" dirty="0"/>
              </a:p>
              <a:p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ca fiind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zgomotul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introdus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de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variații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aleatorii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în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sistemele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naturale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sau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impreciziile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instrumentelor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noastre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științifice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. </a:t>
                </a:r>
              </a:p>
              <a:p>
                <a:r>
                  <a:rPr lang="pt-BR" sz="2400" dirty="0"/>
                  <a:t>Dacă am ști forma exactă a</a:t>
                </a:r>
                <a:r>
                  <a:rPr lang="ro-RO" sz="2400" dirty="0"/>
                  <a:t> lui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,</m:t>
                    </m:r>
                  </m:oMath>
                </a14:m>
                <a:r>
                  <a:rPr lang="ro-RO" sz="2400" dirty="0"/>
                  <a:t> de </a:t>
                </a:r>
                <a:r>
                  <a:rPr lang="en-US" sz="2400" dirty="0"/>
                  <a:t>ex</a:t>
                </a:r>
                <a:r>
                  <a:rPr lang="ro-RO" sz="2400" dirty="0"/>
                  <a:t>emplu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și nu ar exista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𝜀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 ,</m:t>
                    </m:r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atunci estimarea coeficienților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p/>
                    </m:sSup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ar fi exactă</a:t>
                </a:r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45" t="-2305" r="-1240" b="-37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112" y="1700210"/>
            <a:ext cx="2055939" cy="39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37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ro-RO" sz="2400" b="1" dirty="0">
                    <a:latin typeface="Karla" charset="0"/>
                    <a:ea typeface="Karla" charset="0"/>
                    <a:cs typeface="Karla" charset="0"/>
                  </a:rPr>
                  <a:t>Cu toate acestea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, se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întâmplă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trei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lucruri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, care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duc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la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neîncredere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în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valorile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p/>
                    </m:sSup>
                    <m:r>
                      <a:rPr lang="en-US" sz="24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: </a:t>
                </a:r>
              </a:p>
              <a:p>
                <a:pPr marL="514350" indent="-514350">
                  <a:spcAft>
                    <a:spcPts val="600"/>
                  </a:spcAft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𝜺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este întotdeauna întâlnit în practică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</a:p>
              <a:p>
                <a:pPr marL="514350" indent="-514350">
                  <a:spcAft>
                    <a:spcPts val="600"/>
                  </a:spcAft>
                  <a:buFont typeface="Arial" charset="0"/>
                  <a:buChar char="•"/>
                </a:pPr>
                <a:r>
                  <a:rPr lang="pt-BR" sz="2400" dirty="0">
                    <a:latin typeface="Karla" charset="0"/>
                    <a:ea typeface="Karla" charset="0"/>
                    <a:cs typeface="Karla" charset="0"/>
                  </a:rPr>
                  <a:t>nu cunoaștem forma exactă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a lui</a:t>
                </a:r>
                <a14:m>
                  <m:oMath xmlns:m="http://schemas.openxmlformats.org/officeDocument/2006/math">
                    <m:r>
                      <a:rPr lang="ro-RO" sz="2400" b="0" i="0" smtClean="0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400" dirty="0">
                  <a:latin typeface="Karla" charset="0"/>
                  <a:ea typeface="Karla" charset="0"/>
                  <a:cs typeface="Karla" charset="0"/>
                </a:endParaRPr>
              </a:p>
              <a:p>
                <a:pPr marL="514350" indent="-514350">
                  <a:spcAft>
                    <a:spcPts val="1200"/>
                  </a:spcAft>
                  <a:buFont typeface="Arial" charset="0"/>
                  <a:buChar char="•"/>
                </a:pP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eșantioanele sunt limitate</a:t>
                </a:r>
                <a:endParaRPr lang="en-US" sz="2400" dirty="0">
                  <a:latin typeface="Karla" charset="0"/>
                  <a:ea typeface="Karla" charset="0"/>
                  <a:cs typeface="Karla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o-RO" sz="2400" b="1" dirty="0">
                    <a:latin typeface="Karla" charset="0"/>
                    <a:ea typeface="Karla" charset="0"/>
                    <a:cs typeface="Karla" charset="0"/>
                  </a:rPr>
                  <a:t>Prima dată ne ocupăm de</a:t>
                </a:r>
                <a:r>
                  <a:rPr lang="en-US" sz="2400" b="1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charset="0"/>
                        <a:ea typeface="Karla" charset="0"/>
                        <a:cs typeface="Karla" charset="0"/>
                      </a:rPr>
                      <m:t>𝛆</m:t>
                    </m:r>
                  </m:oMath>
                </a14:m>
                <a:endParaRPr lang="en-US" sz="2400" b="1" dirty="0">
                  <a:latin typeface="Karla" charset="0"/>
                  <a:ea typeface="Karla" charset="0"/>
                  <a:cs typeface="Karla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Numim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𝜀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eroarea de măsurare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sau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b="1" i="1" dirty="0" err="1">
                    <a:latin typeface="Karla" charset="0"/>
                    <a:ea typeface="Karla" charset="0"/>
                    <a:cs typeface="Karla" charset="0"/>
                  </a:rPr>
                  <a:t>ero</a:t>
                </a:r>
                <a:r>
                  <a:rPr lang="ro-RO" sz="2400" b="1" i="1" dirty="0">
                    <a:latin typeface="Karla" charset="0"/>
                    <a:ea typeface="Karla" charset="0"/>
                    <a:cs typeface="Karla" charset="0"/>
                  </a:rPr>
                  <a:t>a</a:t>
                </a:r>
                <a:r>
                  <a:rPr lang="en-US" sz="2400" b="1" i="1" dirty="0">
                    <a:latin typeface="Karla" charset="0"/>
                    <a:ea typeface="Karla" charset="0"/>
                    <a:cs typeface="Karla" charset="0"/>
                  </a:rPr>
                  <a:t>r</a:t>
                </a:r>
                <a:r>
                  <a:rPr lang="ro-RO" sz="2400" b="1" i="1" dirty="0">
                    <a:latin typeface="Karla" charset="0"/>
                    <a:ea typeface="Karla" charset="0"/>
                    <a:cs typeface="Karla" charset="0"/>
                  </a:rPr>
                  <a:t>e </a:t>
                </a:r>
                <a:r>
                  <a:rPr lang="en-US" sz="2400" b="1" i="1" dirty="0" err="1">
                    <a:latin typeface="Karla" charset="0"/>
                    <a:ea typeface="Karla" charset="0"/>
                    <a:cs typeface="Karla" charset="0"/>
                  </a:rPr>
                  <a:t>ireduc</a:t>
                </a:r>
                <a:r>
                  <a:rPr lang="ro-RO" sz="2400" b="1" i="1" dirty="0">
                    <a:latin typeface="Karla" charset="0"/>
                    <a:ea typeface="Karla" charset="0"/>
                    <a:cs typeface="Karla" charset="0"/>
                  </a:rPr>
                  <a:t>t</a:t>
                </a:r>
                <a:r>
                  <a:rPr lang="en-US" sz="2400" b="1" i="1" dirty="0" err="1">
                    <a:latin typeface="Karla" charset="0"/>
                    <a:ea typeface="Karla" charset="0"/>
                    <a:cs typeface="Karla" charset="0"/>
                  </a:rPr>
                  <a:t>ib</a:t>
                </a:r>
                <a:r>
                  <a:rPr lang="ro-RO" sz="2400" b="1" i="1" dirty="0">
                    <a:latin typeface="Karla" charset="0"/>
                    <a:ea typeface="Karla" charset="0"/>
                    <a:cs typeface="Karla" charset="0"/>
                  </a:rPr>
                  <a:t>i</a:t>
                </a:r>
                <a:r>
                  <a:rPr lang="en-US" sz="2400" b="1" i="1" dirty="0">
                    <a:latin typeface="Karla" charset="0"/>
                    <a:ea typeface="Karla" charset="0"/>
                    <a:cs typeface="Karla" charset="0"/>
                  </a:rPr>
                  <a:t>l</a:t>
                </a:r>
                <a:r>
                  <a:rPr lang="ro-RO" sz="2400" b="1" i="1" dirty="0">
                    <a:latin typeface="Karla" charset="0"/>
                    <a:ea typeface="Karla" charset="0"/>
                    <a:cs typeface="Karla" charset="0"/>
                  </a:rPr>
                  <a:t>ă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, intrinsecă.</a:t>
                </a:r>
                <a:endParaRPr lang="en-US" sz="2400" dirty="0">
                  <a:latin typeface="Karla" charset="0"/>
                  <a:ea typeface="Karla" charset="0"/>
                  <a:cs typeface="Karla" charset="0"/>
                </a:endParaRPr>
              </a:p>
              <a:p>
                <a:pPr>
                  <a:spcBef>
                    <a:spcPts val="1824"/>
                  </a:spcBef>
                  <a:spcAft>
                    <a:spcPts val="600"/>
                  </a:spcAft>
                </a:pPr>
                <a:r>
                  <a:rPr lang="ro-RO" sz="2400" dirty="0">
                    <a:ea typeface="Cambria Math" charset="0"/>
                    <a:cs typeface="Cambria Math" charset="0"/>
                  </a:rPr>
                  <a:t>Datorită lui</a:t>
                </a:r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𝜀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de fiecare dată când măsurăm răspunsul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Karla" charset="0"/>
                        <a:cs typeface="Karla" charset="0"/>
                      </a:rPr>
                      <m:t>𝑌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pentru o valoare fixă a lui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Karla" charset="0"/>
                        <a:cs typeface="Karla" charset="0"/>
                      </a:rPr>
                      <m:t>𝑋</m:t>
                    </m:r>
                    <m:r>
                      <a:rPr lang="en-US" sz="2400" b="0" i="1" smtClean="0">
                        <a:latin typeface="Cambria Math" charset="0"/>
                        <a:ea typeface="Karla" charset="0"/>
                        <a:cs typeface="Karla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vom obține o observație diferită și, prin urmare, o estimare </a:t>
                </a:r>
                <a:r>
                  <a:rPr lang="en-US" sz="2400" dirty="0" err="1">
                    <a:latin typeface="Karla" charset="0"/>
                    <a:ea typeface="Karla" charset="0"/>
                    <a:cs typeface="Karla" charset="0"/>
                  </a:rPr>
                  <a:t>diferită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latin typeface="Karla" charset="0"/>
                    <a:ea typeface="Karla" charset="0"/>
                    <a:cs typeface="Karla" charset="0"/>
                  </a:rPr>
                  <a:t>pentru</a:t>
                </a:r>
                <a:r>
                  <a:rPr lang="en-US" sz="2400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p/>
                    </m:sSup>
                    <m:r>
                      <a:rPr lang="en-US" sz="2400" b="0" i="0" smtClean="0">
                        <a:latin typeface="Cambria Math" charset="0"/>
                      </a:rPr>
                      <m:t>.</m:t>
                    </m:r>
                  </m:oMath>
                </a14:m>
                <a:endParaRPr lang="en-US" sz="2400" dirty="0">
                  <a:latin typeface="Karla" charset="0"/>
                  <a:ea typeface="Karla" charset="0"/>
                  <a:cs typeface="Karla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sz="2400" dirty="0">
                  <a:latin typeface="Karla" charset="0"/>
                  <a:ea typeface="Karla" charset="0"/>
                  <a:cs typeface="Karla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sz="2400" dirty="0"/>
              </a:p>
              <a:p>
                <a:pPr>
                  <a:spcAft>
                    <a:spcPts val="600"/>
                  </a:spcAft>
                </a:pPr>
                <a:endParaRPr lang="en-US" sz="2400" dirty="0"/>
              </a:p>
              <a:p>
                <a:pPr marL="514350" indent="-514350">
                  <a:spcAft>
                    <a:spcPts val="600"/>
                  </a:spcAft>
                  <a:buFont typeface="Arial" charset="0"/>
                  <a:buChar char="•"/>
                </a:pPr>
                <a:endParaRPr lang="en-US" sz="2400" dirty="0"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5" t="-2305" b="-140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16644" y="1489220"/>
            <a:ext cx="46536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84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E36628E-BF49-FD46-93F6-669AC0E30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856731" cy="39044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b="0" dirty="0">
                <a:ea typeface="Cambria Math" charset="0"/>
                <a:cs typeface="Cambria Math" charset="0"/>
              </a:rPr>
              <a:t>Pornim cu un model: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468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286000"/>
            <a:ext cx="5856730" cy="39044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sz="2400" b="0" dirty="0">
                    <a:ea typeface="Cambria Math" charset="0"/>
                    <a:cs typeface="Cambria Math" charset="0"/>
                  </a:rPr>
                  <a:t>Pentru unele valori ale lui</a:t>
                </a:r>
                <a:r>
                  <a:rPr lang="en-US" sz="2400" b="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𝑋</m:t>
                    </m:r>
                    <m:r>
                      <a:rPr lang="en-US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𝑌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𝑋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45" t="-2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688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DB2848-1E2E-C646-AF7F-10110DB4A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852160" cy="39014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Cambria Math" charset="0"/>
                <a:cs typeface="Cambria Math" charset="0"/>
              </a:rPr>
              <a:t>Dar, din </a:t>
            </a:r>
            <a:r>
              <a:rPr lang="en-US" sz="2400" dirty="0" err="1">
                <a:ea typeface="Cambria Math" charset="0"/>
                <a:cs typeface="Cambria Math" charset="0"/>
              </a:rPr>
              <a:t>cauza</a:t>
            </a:r>
            <a:r>
              <a:rPr lang="en-US" sz="2400" dirty="0">
                <a:ea typeface="Cambria Math" charset="0"/>
                <a:cs typeface="Cambria Math" charset="0"/>
              </a:rPr>
              <a:t> </a:t>
            </a:r>
            <a:r>
              <a:rPr lang="en-US" sz="2400" dirty="0" err="1">
                <a:ea typeface="Cambria Math" charset="0"/>
                <a:cs typeface="Cambria Math" charset="0"/>
              </a:rPr>
              <a:t>erorii</a:t>
            </a:r>
            <a:r>
              <a:rPr lang="en-US" sz="2400" dirty="0">
                <a:ea typeface="Cambria Math" charset="0"/>
                <a:cs typeface="Cambria Math" charset="0"/>
              </a:rPr>
              <a:t>, de </a:t>
            </a:r>
            <a:r>
              <a:rPr lang="en-US" sz="2400" dirty="0" err="1">
                <a:ea typeface="Cambria Math" charset="0"/>
                <a:cs typeface="Cambria Math" charset="0"/>
              </a:rPr>
              <a:t>fiecare</a:t>
            </a:r>
            <a:r>
              <a:rPr lang="en-US" sz="2400" dirty="0">
                <a:ea typeface="Cambria Math" charset="0"/>
                <a:cs typeface="Cambria Math" charset="0"/>
              </a:rPr>
              <a:t> </a:t>
            </a:r>
            <a:r>
              <a:rPr lang="en-US" sz="2400" dirty="0" err="1">
                <a:ea typeface="Cambria Math" charset="0"/>
                <a:cs typeface="Cambria Math" charset="0"/>
              </a:rPr>
              <a:t>dată</a:t>
            </a:r>
            <a:r>
              <a:rPr lang="en-US" sz="2400" dirty="0">
                <a:ea typeface="Cambria Math" charset="0"/>
                <a:cs typeface="Cambria Math" charset="0"/>
              </a:rPr>
              <a:t> </a:t>
            </a:r>
            <a:r>
              <a:rPr lang="en-US" sz="2400" dirty="0" err="1">
                <a:ea typeface="Cambria Math" charset="0"/>
                <a:cs typeface="Cambria Math" charset="0"/>
              </a:rPr>
              <a:t>când</a:t>
            </a:r>
            <a:r>
              <a:rPr lang="en-US" sz="2400" dirty="0">
                <a:ea typeface="Cambria Math" charset="0"/>
                <a:cs typeface="Cambria Math" charset="0"/>
              </a:rPr>
              <a:t> </a:t>
            </a:r>
            <a:r>
              <a:rPr lang="en-US" sz="2400" dirty="0" err="1">
                <a:ea typeface="Cambria Math" charset="0"/>
                <a:cs typeface="Cambria Math" charset="0"/>
              </a:rPr>
              <a:t>măsurăm</a:t>
            </a:r>
            <a:r>
              <a:rPr lang="en-US" sz="2400" dirty="0">
                <a:ea typeface="Cambria Math" charset="0"/>
                <a:cs typeface="Cambria Math" charset="0"/>
              </a:rPr>
              <a:t> </a:t>
            </a:r>
            <a:r>
              <a:rPr lang="en-US" sz="2400" dirty="0" err="1">
                <a:ea typeface="Cambria Math" charset="0"/>
                <a:cs typeface="Cambria Math" charset="0"/>
              </a:rPr>
              <a:t>răspunsul</a:t>
            </a:r>
            <a:r>
              <a:rPr lang="ro-RO" sz="2400" dirty="0">
                <a:ea typeface="Cambria Math" charset="0"/>
                <a:cs typeface="Cambria Math" charset="0"/>
              </a:rPr>
              <a:t> </a:t>
            </a:r>
            <a:r>
              <a:rPr lang="en-US" sz="2400" i="1" dirty="0"/>
              <a:t>Y</a:t>
            </a:r>
            <a:r>
              <a:rPr lang="en-US" sz="2400" dirty="0"/>
              <a:t> </a:t>
            </a:r>
            <a:r>
              <a:rPr lang="ro-RO" sz="2400" dirty="0"/>
              <a:t>pentru aceleași valori fixate ale lui</a:t>
            </a:r>
            <a:r>
              <a:rPr lang="en-US" sz="2400" dirty="0"/>
              <a:t> X </a:t>
            </a:r>
            <a:r>
              <a:rPr lang="ro-RO" sz="2400" dirty="0"/>
              <a:t>vom obtine observații diferite</a:t>
            </a:r>
            <a:r>
              <a:rPr lang="en-US" sz="2400" dirty="0"/>
              <a:t>. </a:t>
            </a:r>
          </a:p>
          <a:p>
            <a:endParaRPr lang="en-US" sz="2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497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624E2E-D5C5-1E48-A4C2-39890911D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852160" cy="39014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dirty="0">
                <a:ea typeface="Cambria Math" charset="0"/>
                <a:cs typeface="Cambria Math" charset="0"/>
              </a:rPr>
              <a:t>O serie de observații</a:t>
            </a:r>
            <a:r>
              <a:rPr lang="en-US" sz="2400" dirty="0">
                <a:ea typeface="Cambria Math" charset="0"/>
                <a:cs typeface="Cambria Math" charset="0"/>
              </a:rPr>
              <a:t>, “o</a:t>
            </a:r>
            <a:r>
              <a:rPr lang="ro-RO" sz="2400" dirty="0">
                <a:ea typeface="Cambria Math" charset="0"/>
                <a:cs typeface="Cambria Math" charset="0"/>
              </a:rPr>
              <a:t> realizare</a:t>
            </a:r>
            <a:r>
              <a:rPr lang="en-US" sz="2400" dirty="0">
                <a:ea typeface="Cambria Math" charset="0"/>
                <a:cs typeface="Cambria Math" charset="0"/>
              </a:rPr>
              <a:t>” </a:t>
            </a:r>
            <a:r>
              <a:rPr lang="ro-RO" sz="2400" dirty="0">
                <a:ea typeface="Cambria Math" charset="0"/>
                <a:cs typeface="Cambria Math" charset="0"/>
              </a:rPr>
              <a:t>– obținem un</a:t>
            </a:r>
            <a:r>
              <a:rPr lang="en-US" sz="2400" dirty="0">
                <a:ea typeface="Cambria Math" charset="0"/>
                <a:cs typeface="Cambria Math" charset="0"/>
              </a:rPr>
              <a:t> set </a:t>
            </a:r>
            <a:r>
              <a:rPr lang="ro-RO" sz="2400" dirty="0">
                <a:ea typeface="Cambria Math" charset="0"/>
                <a:cs typeface="Cambria Math" charset="0"/>
              </a:rPr>
              <a:t>de</a:t>
            </a:r>
            <a:r>
              <a:rPr lang="en-US" sz="2400" dirty="0">
                <a:ea typeface="Cambria Math" charset="0"/>
                <a:cs typeface="Cambria Math" charset="0"/>
              </a:rPr>
              <a:t> </a:t>
            </a:r>
            <a:r>
              <a:rPr lang="en-US" sz="2400" i="1" dirty="0">
                <a:ea typeface="Cambria Math" charset="0"/>
                <a:cs typeface="Cambria Math" charset="0"/>
              </a:rPr>
              <a:t>Y</a:t>
            </a:r>
            <a:r>
              <a:rPr lang="en-US" sz="2400" dirty="0">
                <a:ea typeface="Cambria Math" charset="0"/>
                <a:cs typeface="Cambria Math" charset="0"/>
              </a:rPr>
              <a:t> (</a:t>
            </a:r>
            <a:r>
              <a:rPr lang="ro-RO" sz="2400" dirty="0">
                <a:ea typeface="Cambria Math" charset="0"/>
                <a:cs typeface="Cambria Math" charset="0"/>
              </a:rPr>
              <a:t>marcate cu x roșu</a:t>
            </a:r>
            <a:r>
              <a:rPr lang="en-US" sz="2400" dirty="0">
                <a:ea typeface="Cambria Math" charset="0"/>
                <a:cs typeface="Cambria Math" charset="0"/>
              </a:rPr>
              <a:t>).  </a:t>
            </a:r>
            <a:endParaRPr lang="en-US" sz="2400" dirty="0"/>
          </a:p>
          <a:p>
            <a:endParaRPr lang="en-US" sz="2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96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27E86E-8E0E-FE44-BBB9-10C159292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852160" cy="39014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dirty="0">
                <a:ea typeface="Cambria Math" charset="0"/>
                <a:cs typeface="Cambria Math" charset="0"/>
              </a:rPr>
              <a:t>Alt set de observații – același X</a:t>
            </a:r>
            <a:r>
              <a:rPr lang="en-US" sz="2400" dirty="0">
                <a:ea typeface="Cambria Math" charset="0"/>
                <a:cs typeface="Cambria Math" charset="0"/>
              </a:rPr>
              <a:t>, “</a:t>
            </a:r>
            <a:r>
              <a:rPr lang="ro-RO" sz="2400" dirty="0">
                <a:ea typeface="Cambria Math" charset="0"/>
                <a:cs typeface="Cambria Math" charset="0"/>
              </a:rPr>
              <a:t>altă realizare</a:t>
            </a:r>
            <a:r>
              <a:rPr lang="en-US" sz="2400" dirty="0">
                <a:ea typeface="Cambria Math" charset="0"/>
                <a:cs typeface="Cambria Math" charset="0"/>
              </a:rPr>
              <a:t>” </a:t>
            </a:r>
            <a:r>
              <a:rPr lang="ro-RO" sz="2400" dirty="0">
                <a:ea typeface="Cambria Math" charset="0"/>
                <a:cs typeface="Cambria Math" charset="0"/>
              </a:rPr>
              <a:t>– obținem alte valori</a:t>
            </a:r>
            <a:r>
              <a:rPr lang="en-US" sz="2400" dirty="0">
                <a:ea typeface="Cambria Math" charset="0"/>
                <a:cs typeface="Cambria Math" charset="0"/>
              </a:rPr>
              <a:t> </a:t>
            </a:r>
            <a:r>
              <a:rPr lang="en-US" sz="2400" i="1" dirty="0">
                <a:ea typeface="Cambria Math" charset="0"/>
                <a:cs typeface="Cambria Math" charset="0"/>
              </a:rPr>
              <a:t>Y</a:t>
            </a:r>
            <a:r>
              <a:rPr lang="en-US" sz="2400" dirty="0">
                <a:ea typeface="Cambria Math" charset="0"/>
                <a:cs typeface="Cambria Math" charset="0"/>
              </a:rPr>
              <a:t> (</a:t>
            </a:r>
            <a:r>
              <a:rPr lang="ro-RO" sz="2400" dirty="0">
                <a:ea typeface="Cambria Math" charset="0"/>
                <a:cs typeface="Cambria Math" charset="0"/>
              </a:rPr>
              <a:t>marcaj verde</a:t>
            </a:r>
            <a:r>
              <a:rPr lang="en-US" sz="2400" dirty="0">
                <a:ea typeface="Cambria Math" charset="0"/>
                <a:cs typeface="Cambria Math" charset="0"/>
              </a:rPr>
              <a:t>).</a:t>
            </a:r>
            <a:endParaRPr lang="en-US" sz="2400" dirty="0"/>
          </a:p>
          <a:p>
            <a:endParaRPr lang="en-US" sz="2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577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dirty="0">
                <a:ea typeface="Cambria Math" charset="0"/>
                <a:cs typeface="Cambria Math" charset="0"/>
              </a:rPr>
              <a:t>Alt set de observații – același X</a:t>
            </a:r>
            <a:r>
              <a:rPr lang="en-US" sz="2400" dirty="0">
                <a:ea typeface="Cambria Math" charset="0"/>
                <a:cs typeface="Cambria Math" charset="0"/>
              </a:rPr>
              <a:t>, “</a:t>
            </a:r>
            <a:r>
              <a:rPr lang="ro-RO" sz="2400" dirty="0">
                <a:ea typeface="Cambria Math" charset="0"/>
                <a:cs typeface="Cambria Math" charset="0"/>
              </a:rPr>
              <a:t>altă realizare</a:t>
            </a:r>
            <a:r>
              <a:rPr lang="en-US" sz="2400" dirty="0">
                <a:ea typeface="Cambria Math" charset="0"/>
                <a:cs typeface="Cambria Math" charset="0"/>
              </a:rPr>
              <a:t>” </a:t>
            </a:r>
            <a:r>
              <a:rPr lang="ro-RO" sz="2400" dirty="0">
                <a:ea typeface="Cambria Math" charset="0"/>
                <a:cs typeface="Cambria Math" charset="0"/>
              </a:rPr>
              <a:t>– obținem alte valori</a:t>
            </a:r>
            <a:r>
              <a:rPr lang="en-US" sz="2400" dirty="0">
                <a:ea typeface="Cambria Math" charset="0"/>
                <a:cs typeface="Cambria Math" charset="0"/>
              </a:rPr>
              <a:t> </a:t>
            </a:r>
            <a:r>
              <a:rPr lang="en-US" sz="2400" i="1" dirty="0">
                <a:ea typeface="Cambria Math" charset="0"/>
                <a:cs typeface="Cambria Math" charset="0"/>
              </a:rPr>
              <a:t>Y</a:t>
            </a:r>
            <a:r>
              <a:rPr lang="en-US" sz="2400" dirty="0">
                <a:ea typeface="Cambria Math" charset="0"/>
                <a:cs typeface="Cambria Math" charset="0"/>
              </a:rPr>
              <a:t> (</a:t>
            </a:r>
            <a:r>
              <a:rPr lang="ro-RO" sz="2400" dirty="0">
                <a:ea typeface="Cambria Math" charset="0"/>
                <a:cs typeface="Cambria Math" charset="0"/>
              </a:rPr>
              <a:t>marcaj negru</a:t>
            </a:r>
            <a:r>
              <a:rPr lang="en-US" sz="2400" dirty="0">
                <a:ea typeface="Cambria Math" charset="0"/>
                <a:cs typeface="Cambria Math" charset="0"/>
              </a:rPr>
              <a:t>).</a:t>
            </a:r>
            <a:endParaRPr lang="en-US" sz="2400" dirty="0"/>
          </a:p>
          <a:p>
            <a:endParaRPr lang="en-US" sz="2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69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7DCD17-4737-EB4B-965A-8637E3A55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852160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09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sz="2400" dirty="0"/>
                  <a:t>Pentru fiecare din aceste </a:t>
                </a:r>
                <a:r>
                  <a:rPr lang="en-US" sz="2400" dirty="0"/>
                  <a:t>“</a:t>
                </a:r>
                <a:r>
                  <a:rPr lang="en-US" sz="2400" dirty="0" err="1"/>
                  <a:t>realiz</a:t>
                </a:r>
                <a:r>
                  <a:rPr lang="ro-RO" sz="2400" dirty="0"/>
                  <a:t>ări</a:t>
                </a:r>
                <a:r>
                  <a:rPr lang="en-US" sz="2400" dirty="0"/>
                  <a:t>”</a:t>
                </a:r>
                <a:r>
                  <a:rPr lang="ro-RO" sz="2400" dirty="0"/>
                  <a:t> ale lui Y</a:t>
                </a:r>
                <a:r>
                  <a:rPr lang="en-US" sz="2400" dirty="0"/>
                  <a:t>, </a:t>
                </a:r>
                <a:r>
                  <a:rPr lang="it-IT" sz="2400" dirty="0"/>
                  <a:t>am putea </a:t>
                </a:r>
                <a:r>
                  <a:rPr lang="ro-RO" sz="2400" dirty="0"/>
                  <a:t>alcătui </a:t>
                </a:r>
                <a:r>
                  <a:rPr lang="it-IT" sz="2400" dirty="0"/>
                  <a:t> un model și o estimare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:r>
                  <a:rPr lang="ro-RO" sz="2400" dirty="0">
                    <a:ea typeface="Cambria Math" charset="0"/>
                    <a:cs typeface="Cambria Math" charset="0"/>
                  </a:rPr>
                  <a:t>și</a:t>
                </a:r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5" t="-2305" r="-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0DF78-2640-8D4E-B418-09D4DB7BE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852160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274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sz="2400" dirty="0"/>
                  <a:t>Pentru fiecare din aceste </a:t>
                </a:r>
                <a:r>
                  <a:rPr lang="en-US" sz="2400" dirty="0"/>
                  <a:t>“</a:t>
                </a:r>
                <a:r>
                  <a:rPr lang="en-US" sz="2400" dirty="0" err="1"/>
                  <a:t>realiz</a:t>
                </a:r>
                <a:r>
                  <a:rPr lang="ro-RO" sz="2400" dirty="0"/>
                  <a:t>ări</a:t>
                </a:r>
                <a:r>
                  <a:rPr lang="en-US" sz="2400" dirty="0"/>
                  <a:t>”</a:t>
                </a:r>
                <a:r>
                  <a:rPr lang="ro-RO" sz="2400" dirty="0"/>
                  <a:t> ale lui Y</a:t>
                </a:r>
                <a:r>
                  <a:rPr lang="en-US" sz="2400" dirty="0"/>
                  <a:t>, </a:t>
                </a:r>
                <a:r>
                  <a:rPr lang="it-IT" sz="2400" dirty="0"/>
                  <a:t>am putea </a:t>
                </a:r>
                <a:r>
                  <a:rPr lang="ro-RO" sz="2400" dirty="0"/>
                  <a:t>alcătui </a:t>
                </a:r>
                <a:r>
                  <a:rPr lang="it-IT" sz="2400" dirty="0"/>
                  <a:t> un model și o estimare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:r>
                  <a:rPr lang="ro-RO" sz="2400" dirty="0">
                    <a:ea typeface="Cambria Math" charset="0"/>
                    <a:cs typeface="Cambria Math" charset="0"/>
                  </a:rPr>
                  <a:t>și</a:t>
                </a:r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5" t="-2305" r="-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96AD7-ADD4-464E-8A89-7FE5E2272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852160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902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Intervale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încredere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estimările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predictorilor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sz="2400" dirty="0"/>
                  <a:t>Pentru fiecare din aceste </a:t>
                </a:r>
                <a:r>
                  <a:rPr lang="en-US" sz="2400" dirty="0"/>
                  <a:t>“</a:t>
                </a:r>
                <a:r>
                  <a:rPr lang="en-US" sz="2400" dirty="0" err="1"/>
                  <a:t>realiz</a:t>
                </a:r>
                <a:r>
                  <a:rPr lang="ro-RO" sz="2400" dirty="0"/>
                  <a:t>ări</a:t>
                </a:r>
                <a:r>
                  <a:rPr lang="en-US" sz="2400" dirty="0"/>
                  <a:t>”</a:t>
                </a:r>
                <a:r>
                  <a:rPr lang="ro-RO" sz="2400" dirty="0"/>
                  <a:t> ale lui Y</a:t>
                </a:r>
                <a:r>
                  <a:rPr lang="en-US" sz="2400" dirty="0"/>
                  <a:t>, </a:t>
                </a:r>
                <a:r>
                  <a:rPr lang="it-IT" sz="2400" dirty="0"/>
                  <a:t>am putea </a:t>
                </a:r>
                <a:r>
                  <a:rPr lang="ro-RO" sz="2400" dirty="0"/>
                  <a:t>alcătui </a:t>
                </a:r>
                <a:r>
                  <a:rPr lang="it-IT" sz="2400" dirty="0"/>
                  <a:t> un model și o estimare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:r>
                  <a:rPr lang="ro-RO" sz="2400" dirty="0">
                    <a:ea typeface="Cambria Math" charset="0"/>
                    <a:cs typeface="Cambria Math" charset="0"/>
                  </a:rPr>
                  <a:t>și</a:t>
                </a:r>
                <a:r>
                  <a:rPr lang="en-US" sz="24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5" t="-2305" r="-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0E4D65-CCA9-3945-87FA-8565D4589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852160" cy="39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547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820715" y="1507403"/>
            <a:ext cx="10327008" cy="482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Definiție</a:t>
            </a:r>
            <a:endParaRPr lang="en-US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ro-RO" dirty="0"/>
              <a:t>E</a:t>
            </a:r>
            <a:r>
              <a:rPr lang="en-US" dirty="0" err="1"/>
              <a:t>stimarea</a:t>
            </a:r>
            <a:r>
              <a:rPr lang="en-US" dirty="0"/>
              <a:t> </a:t>
            </a:r>
            <a:r>
              <a:rPr lang="ro-RO" dirty="0"/>
              <a:t>E</a:t>
            </a:r>
            <a:r>
              <a:rPr lang="en-US" dirty="0" err="1"/>
              <a:t>rorii</a:t>
            </a:r>
            <a:r>
              <a:rPr lang="en-US" dirty="0"/>
              <a:t> de </a:t>
            </a:r>
            <a:r>
              <a:rPr lang="ro-RO" dirty="0"/>
              <a:t>E</a:t>
            </a:r>
            <a:r>
              <a:rPr lang="en-US" dirty="0" err="1"/>
              <a:t>șantionare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3415" y="1177758"/>
                <a:ext cx="10327008" cy="1785779"/>
              </a:xfrm>
              <a:solidFill>
                <a:schemeClr val="bg1">
                  <a:lumMod val="85000"/>
                </a:schemeClr>
              </a:solidFill>
            </p:spPr>
            <p:txBody>
              <a:bodyPr/>
              <a:lstStyle/>
              <a:p>
                <a:pPr algn="just"/>
                <a:r>
                  <a:rPr lang="ro-RO" dirty="0"/>
                  <a:t>În practică avem o singura listă cu observații – prea puțin pentru a avea o certitudine asupra valorilor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o-RO" dirty="0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dirty="0"/>
                  <a:t> pe care le putem calcula.</a:t>
                </a:r>
                <a:endParaRPr lang="en-US" dirty="0"/>
              </a:p>
              <a:p>
                <a:pPr algn="just"/>
                <a:endParaRPr lang="ro-RO" dirty="0"/>
              </a:p>
              <a:p>
                <a:pPr algn="just"/>
                <a:r>
                  <a:rPr lang="ro-RO" dirty="0"/>
                  <a:t>Pe baza lor trebuie să estimăm cumva care ar putea fi alte observații posibile care ar duce la estimarea incertitudinii în coeficienți</a:t>
                </a: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3415" y="1177758"/>
                <a:ext cx="10327008" cy="1785779"/>
              </a:xfrm>
              <a:blipFill>
                <a:blip r:embed="rId3"/>
                <a:stretch>
                  <a:fillRect l="-1240" t="-3413" r="-1181" b="-92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1533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820715" y="1507403"/>
            <a:ext cx="10327008" cy="482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Definiție</a:t>
            </a:r>
            <a:endParaRPr lang="en-US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ro-RO" dirty="0"/>
              <a:t>E</a:t>
            </a:r>
            <a:r>
              <a:rPr lang="en-US" dirty="0" err="1"/>
              <a:t>stimarea</a:t>
            </a:r>
            <a:r>
              <a:rPr lang="en-US" dirty="0"/>
              <a:t> </a:t>
            </a:r>
            <a:r>
              <a:rPr lang="ro-RO" dirty="0"/>
              <a:t>E</a:t>
            </a:r>
            <a:r>
              <a:rPr lang="en-US" dirty="0" err="1"/>
              <a:t>rorii</a:t>
            </a:r>
            <a:r>
              <a:rPr lang="en-US" dirty="0"/>
              <a:t> de </a:t>
            </a:r>
            <a:r>
              <a:rPr lang="ro-RO" dirty="0"/>
              <a:t>E</a:t>
            </a:r>
            <a:r>
              <a:rPr lang="en-US" dirty="0" err="1"/>
              <a:t>șantionare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0715" y="1990003"/>
                <a:ext cx="10327008" cy="1873786"/>
              </a:xfrm>
              <a:solidFill>
                <a:schemeClr val="bg1">
                  <a:lumMod val="85000"/>
                </a:schemeClr>
              </a:solidFill>
            </p:spPr>
            <p:txBody>
              <a:bodyPr/>
              <a:lstStyle/>
              <a:p>
                <a:pPr algn="just"/>
                <a:r>
                  <a:rPr lang="en-US" dirty="0"/>
                  <a:t>Bootstrapping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practica</a:t>
                </a:r>
                <a:r>
                  <a:rPr lang="en-US" dirty="0"/>
                  <a:t> </a:t>
                </a:r>
                <a:r>
                  <a:rPr lang="en-US" dirty="0" err="1"/>
                  <a:t>estimării</a:t>
                </a:r>
                <a:r>
                  <a:rPr lang="en-US" dirty="0"/>
                  <a:t> </a:t>
                </a:r>
                <a:r>
                  <a:rPr lang="en-US" dirty="0" err="1"/>
                  <a:t>proprietăților</a:t>
                </a:r>
                <a:r>
                  <a:rPr lang="en-US" dirty="0"/>
                  <a:t> </a:t>
                </a:r>
                <a:r>
                  <a:rPr lang="en-US" dirty="0" err="1"/>
                  <a:t>unui</a:t>
                </a:r>
                <a:r>
                  <a:rPr lang="en-US" dirty="0"/>
                  <a:t> estimator </a:t>
                </a:r>
                <a:r>
                  <a:rPr lang="en-US" dirty="0" err="1"/>
                  <a:t>prin</a:t>
                </a:r>
                <a:r>
                  <a:rPr lang="en-US" dirty="0"/>
                  <a:t> </a:t>
                </a:r>
                <a:r>
                  <a:rPr lang="en-US" dirty="0" err="1"/>
                  <a:t>măsurarea</a:t>
                </a:r>
                <a:r>
                  <a:rPr lang="en-US" dirty="0"/>
                  <a:t> </a:t>
                </a:r>
                <a:r>
                  <a:rPr lang="en-US" dirty="0" err="1"/>
                  <a:t>acelor</a:t>
                </a:r>
                <a:r>
                  <a:rPr lang="en-US" dirty="0"/>
                  <a:t> </a:t>
                </a:r>
                <a:r>
                  <a:rPr lang="en-US" dirty="0" err="1"/>
                  <a:t>proprietăți</a:t>
                </a:r>
                <a:r>
                  <a:rPr lang="en-US" dirty="0"/>
                  <a:t>, de </a:t>
                </a:r>
                <a:r>
                  <a:rPr lang="en-US" dirty="0" err="1"/>
                  <a:t>exemplu</a:t>
                </a:r>
                <a:r>
                  <a:rPr lang="en-US" dirty="0"/>
                  <a:t>, </a:t>
                </a:r>
                <a:r>
                  <a:rPr lang="en-US" dirty="0" err="1"/>
                  <a:t>prin</a:t>
                </a:r>
                <a:r>
                  <a:rPr lang="en-US" dirty="0"/>
                  <a:t> </a:t>
                </a:r>
                <a:r>
                  <a:rPr lang="en-US" dirty="0" err="1"/>
                  <a:t>eșantionare</a:t>
                </a:r>
                <a:r>
                  <a:rPr lang="en-US" dirty="0"/>
                  <a:t> </a:t>
                </a:r>
                <a:r>
                  <a:rPr lang="ro-RO" dirty="0"/>
                  <a:t>cu repetiție </a:t>
                </a:r>
                <a:r>
                  <a:rPr lang="en-US" dirty="0"/>
                  <a:t>din </a:t>
                </a:r>
                <a:r>
                  <a:rPr lang="en-US" dirty="0" err="1"/>
                  <a:t>datele</a:t>
                </a:r>
                <a:r>
                  <a:rPr lang="en-US" dirty="0"/>
                  <a:t> </a:t>
                </a:r>
                <a:r>
                  <a:rPr lang="en-US" dirty="0" err="1"/>
                  <a:t>observate</a:t>
                </a:r>
                <a:r>
                  <a:rPr lang="en-US" dirty="0"/>
                  <a:t>.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De </a:t>
                </a:r>
                <a:r>
                  <a:rPr lang="en-US" dirty="0" err="1"/>
                  <a:t>exemplu</a:t>
                </a:r>
                <a:r>
                  <a:rPr lang="en-US" dirty="0"/>
                  <a:t>, </a:t>
                </a:r>
                <a:r>
                  <a:rPr lang="en-US" dirty="0" err="1"/>
                  <a:t>putem</a:t>
                </a:r>
                <a:r>
                  <a:rPr lang="en-US" dirty="0"/>
                  <a:t> </a:t>
                </a:r>
                <a:r>
                  <a:rPr lang="en-US" dirty="0" err="1"/>
                  <a:t>calcula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o-RO" dirty="0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de mai multe ori prin eșantionare aleatorie din setul nostru de date. Apoi folosim varianța estimărilor noastre multiple pentru a aproxima varianța reală a</a:t>
                </a:r>
                <a:r>
                  <a:rPr lang="ro-RO" dirty="0"/>
                  <a:t> 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o-RO" dirty="0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0715" y="1990003"/>
                <a:ext cx="10327008" cy="1873786"/>
              </a:xfrm>
              <a:blipFill>
                <a:blip r:embed="rId3"/>
                <a:stretch>
                  <a:fillRect l="-1240" t="-3247" r="-1181" b="-10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7811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556" y="1987654"/>
            <a:ext cx="6531792" cy="43545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Cât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de bine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cunoaștem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modelul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26" t="-6400"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777577" y="983807"/>
                <a:ext cx="10508374" cy="7997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o-RO" sz="2400" dirty="0"/>
                  <a:t>Încrederea în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𝑓</m:t>
                    </m:r>
                  </m:oMath>
                </a14:m>
                <a:r>
                  <a:rPr lang="en-US" sz="2400" dirty="0"/>
                  <a:t> este direct </a:t>
                </a:r>
                <a:r>
                  <a:rPr lang="en-US" sz="2400" dirty="0" err="1"/>
                  <a:t>legat</a:t>
                </a:r>
                <a:r>
                  <a:rPr lang="ro-RO" sz="2400" dirty="0"/>
                  <a:t>ă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încrederea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în</a:t>
                </a:r>
                <a:r>
                  <a:rPr lang="ro-RO" sz="2400" dirty="0"/>
                  <a:t> coeficienții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𝛽</m:t>
                    </m:r>
                  </m:oMath>
                </a14:m>
                <a:r>
                  <a:rPr lang="en-US" sz="2400" dirty="0"/>
                  <a:t>. Deci, </a:t>
                </a:r>
                <a:r>
                  <a:rPr lang="en-US" sz="2400" dirty="0" err="1"/>
                  <a:t>pentru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fiecare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eșantion</a:t>
                </a:r>
                <a:r>
                  <a:rPr lang="en-US" sz="2400" dirty="0"/>
                  <a:t> bootstrap, </a:t>
                </a:r>
                <a:r>
                  <a:rPr lang="en-US" sz="2400" dirty="0" err="1"/>
                  <a:t>avem</a:t>
                </a:r>
                <a:r>
                  <a:rPr lang="en-US" sz="2400" dirty="0"/>
                  <a:t> un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𝛽</m:t>
                    </m:r>
                  </m:oMath>
                </a14:m>
                <a:r>
                  <a:rPr lang="en-US" sz="2400" dirty="0"/>
                  <a:t> </a:t>
                </a:r>
                <a:r>
                  <a:rPr lang="ro-RO" sz="2400" dirty="0"/>
                  <a:t>pe care îl putem folosi să construim modelul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7" y="983807"/>
                <a:ext cx="10508374" cy="799725"/>
              </a:xfrm>
              <a:prstGeom prst="rect">
                <a:avLst/>
              </a:prstGeom>
              <a:blipFill>
                <a:blip r:embed="rId4"/>
                <a:stretch>
                  <a:fillRect l="-929" t="-6061" b="-651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3268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47" y="1987654"/>
            <a:ext cx="6515100" cy="4343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Cât de bine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cunoaștem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modelul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26" t="-6400"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76</a:t>
            </a:fld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77577" y="983807"/>
            <a:ext cx="10505466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Aici</a:t>
            </a:r>
            <a:r>
              <a:rPr lang="en-US" sz="2400" dirty="0"/>
              <a:t> </a:t>
            </a:r>
            <a:r>
              <a:rPr lang="en-US" sz="2400" dirty="0" err="1"/>
              <a:t>vom</a:t>
            </a:r>
            <a:r>
              <a:rPr lang="en-US" sz="2400" dirty="0"/>
              <a:t> </a:t>
            </a:r>
            <a:r>
              <a:rPr lang="en-US" sz="2400" dirty="0" err="1"/>
              <a:t>arăta</a:t>
            </a:r>
            <a:r>
              <a:rPr lang="en-US" sz="2400" dirty="0"/>
              <a:t> </a:t>
            </a:r>
            <a:r>
              <a:rPr lang="en-US" sz="2400" dirty="0" err="1"/>
              <a:t>două</a:t>
            </a:r>
            <a:r>
              <a:rPr lang="en-US" sz="2400" dirty="0"/>
              <a:t> </a:t>
            </a:r>
            <a:r>
              <a:rPr lang="en-US" sz="2400" dirty="0" err="1"/>
              <a:t>seturi</a:t>
            </a:r>
            <a:r>
              <a:rPr lang="en-US" sz="2400" dirty="0"/>
              <a:t> de </a:t>
            </a:r>
            <a:r>
              <a:rPr lang="en-US" sz="2400" dirty="0" err="1"/>
              <a:t>modele</a:t>
            </a:r>
            <a:r>
              <a:rPr lang="en-US" sz="2400" dirty="0"/>
              <a:t> de date, </a:t>
            </a:r>
            <a:r>
              <a:rPr lang="ro-RO" sz="2400" dirty="0"/>
              <a:t>cu </a:t>
            </a:r>
            <a:r>
              <a:rPr lang="en-US" sz="2400" dirty="0" err="1"/>
              <a:t>coeficienții</a:t>
            </a:r>
            <a:r>
              <a:rPr lang="en-US" sz="2400" dirty="0"/>
              <a:t> </a:t>
            </a:r>
            <a:r>
              <a:rPr lang="ro-RO" sz="2400" dirty="0"/>
              <a:t>estimați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225093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47" y="1987654"/>
            <a:ext cx="6515100" cy="4343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Cât de bine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cunoaștem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modelul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26" t="-6400"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77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77577" y="983807"/>
            <a:ext cx="10020439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Există</a:t>
            </a:r>
            <a:r>
              <a:rPr lang="en-US" sz="2400" dirty="0"/>
              <a:t> o </a:t>
            </a:r>
            <a:r>
              <a:rPr lang="en-US" sz="2400" dirty="0" err="1"/>
              <a:t>astfel</a:t>
            </a:r>
            <a:r>
              <a:rPr lang="en-US" sz="2400" dirty="0"/>
              <a:t> de </a:t>
            </a:r>
            <a:r>
              <a:rPr lang="en-US" sz="2400" dirty="0" err="1"/>
              <a:t>linie</a:t>
            </a:r>
            <a:r>
              <a:rPr lang="en-US" sz="2400" dirty="0"/>
              <a:t> de </a:t>
            </a:r>
            <a:r>
              <a:rPr lang="en-US" sz="2400" dirty="0" err="1"/>
              <a:t>regresie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eșantion</a:t>
            </a:r>
            <a:r>
              <a:rPr lang="en-US" sz="2400" dirty="0"/>
              <a:t> bootstrapped. </a:t>
            </a:r>
          </a:p>
        </p:txBody>
      </p:sp>
    </p:spTree>
    <p:extLst>
      <p:ext uri="{BB962C8B-B14F-4D97-AF65-F5344CB8AC3E}">
        <p14:creationId xmlns:p14="http://schemas.microsoft.com/office/powerpoint/2010/main" val="2329453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47" y="1987654"/>
            <a:ext cx="6515100" cy="434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E99432-39F7-0040-BE73-4E4EA3F6E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296607" y="3626884"/>
            <a:ext cx="3486239" cy="7000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Cât de bine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cunoaștem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modelul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326" t="-6400"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78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68791" y="2520175"/>
            <a:ext cx="22301" cy="296622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 txBox="1">
            <a:spLocks/>
          </p:cNvSpPr>
          <p:nvPr/>
        </p:nvSpPr>
        <p:spPr>
          <a:xfrm>
            <a:off x="777577" y="825304"/>
            <a:ext cx="10317886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Mai </a:t>
            </a:r>
            <a:r>
              <a:rPr lang="en-US" sz="2400" dirty="0" err="1"/>
              <a:t>jos</a:t>
            </a:r>
            <a:r>
              <a:rPr lang="en-US" sz="2400" dirty="0"/>
              <a:t> </a:t>
            </a:r>
            <a:r>
              <a:rPr lang="en-US" sz="2400" dirty="0" err="1"/>
              <a:t>arătăm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liniile</a:t>
            </a:r>
            <a:r>
              <a:rPr lang="en-US" sz="2400" dirty="0"/>
              <a:t> de </a:t>
            </a:r>
            <a:r>
              <a:rPr lang="en-US" sz="2400" dirty="0" err="1"/>
              <a:t>regresie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o </a:t>
            </a:r>
            <a:r>
              <a:rPr lang="en-US" sz="2400" dirty="0" err="1"/>
              <a:t>mie</a:t>
            </a:r>
            <a:r>
              <a:rPr lang="en-US" sz="2400" dirty="0"/>
              <a:t> de </a:t>
            </a:r>
            <a:r>
              <a:rPr lang="en-US" sz="2400" dirty="0" err="1"/>
              <a:t>astfel</a:t>
            </a:r>
            <a:r>
              <a:rPr lang="en-US" sz="2400" dirty="0"/>
              <a:t> de </a:t>
            </a:r>
            <a:r>
              <a:rPr lang="en-US" sz="2400" dirty="0" err="1"/>
              <a:t>eșantioane</a:t>
            </a:r>
            <a:r>
              <a:rPr lang="en-US" sz="2400" dirty="0"/>
              <a:t> </a:t>
            </a:r>
            <a:r>
              <a:rPr lang="en-US" sz="2400" dirty="0" err="1"/>
              <a:t>bootstrapate</a:t>
            </a:r>
            <a:r>
              <a:rPr lang="en-US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777577" y="1577263"/>
                <a:ext cx="10317886" cy="7997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o-RO" sz="2400" dirty="0"/>
                  <a:t>Pentru un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examinăm distribuția valorilor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și aflăm </a:t>
                </a:r>
                <a:endParaRPr lang="en-US" sz="2400" dirty="0"/>
              </a:p>
              <a:p>
                <a:r>
                  <a:rPr lang="ro-RO" sz="2400" dirty="0"/>
                  <a:t>media și deviația standard</a:t>
                </a:r>
                <a:r>
                  <a:rPr lang="en-US" sz="2400" dirty="0"/>
                  <a:t>.  </a:t>
                </a:r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7" y="1577263"/>
                <a:ext cx="10317886" cy="799725"/>
              </a:xfrm>
              <a:prstGeom prst="rect">
                <a:avLst/>
              </a:prstGeom>
              <a:blipFill>
                <a:blip r:embed="rId5"/>
                <a:stretch>
                  <a:fillRect l="-946" t="-3053" b="-32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9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11111E-6 L 0.22943 0.0428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71" y="213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72074" y="3269807"/>
            <a:ext cx="5486400" cy="91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47" y="1987654"/>
            <a:ext cx="6515100" cy="4343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Cât de bine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cunoaștem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modelul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326" t="-6400"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79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68791" y="2520175"/>
            <a:ext cx="22301" cy="296622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 txBox="1">
            <a:spLocks/>
          </p:cNvSpPr>
          <p:nvPr/>
        </p:nvSpPr>
        <p:spPr>
          <a:xfrm>
            <a:off x="777577" y="825304"/>
            <a:ext cx="10317886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Mai </a:t>
            </a:r>
            <a:r>
              <a:rPr lang="en-US" sz="2400" dirty="0" err="1"/>
              <a:t>jos</a:t>
            </a:r>
            <a:r>
              <a:rPr lang="en-US" sz="2400" dirty="0"/>
              <a:t> </a:t>
            </a:r>
            <a:r>
              <a:rPr lang="en-US" sz="2400" dirty="0" err="1"/>
              <a:t>arătăm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liniile</a:t>
            </a:r>
            <a:r>
              <a:rPr lang="en-US" sz="2400" dirty="0"/>
              <a:t> de </a:t>
            </a:r>
            <a:r>
              <a:rPr lang="en-US" sz="2400" dirty="0" err="1"/>
              <a:t>regresie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o </a:t>
            </a:r>
            <a:r>
              <a:rPr lang="en-US" sz="2400" dirty="0" err="1"/>
              <a:t>mie</a:t>
            </a:r>
            <a:r>
              <a:rPr lang="en-US" sz="2400" dirty="0"/>
              <a:t> de </a:t>
            </a:r>
            <a:r>
              <a:rPr lang="en-US" sz="2400" dirty="0" err="1"/>
              <a:t>astfel</a:t>
            </a:r>
            <a:r>
              <a:rPr lang="en-US" sz="2400" dirty="0"/>
              <a:t> de </a:t>
            </a:r>
            <a:r>
              <a:rPr lang="en-US" sz="2400" dirty="0" err="1"/>
              <a:t>eșantioane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777577" y="1575320"/>
                <a:ext cx="10317886" cy="7997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o-RO" sz="2400" dirty="0"/>
                  <a:t>Pentru un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examinăm distribuția valorilor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și aflăm </a:t>
                </a:r>
                <a:endParaRPr lang="en-US" sz="2400" dirty="0"/>
              </a:p>
              <a:p>
                <a:r>
                  <a:rPr lang="ro-RO" sz="2400" dirty="0"/>
                  <a:t>media și</a:t>
                </a:r>
                <a:r>
                  <a:rPr lang="en-US" sz="2400" dirty="0"/>
                  <a:t> </a:t>
                </a:r>
                <a:r>
                  <a:rPr lang="ro-RO" sz="2400" dirty="0"/>
                  <a:t>deviația standard</a:t>
                </a:r>
                <a:r>
                  <a:rPr lang="en-US" sz="2400" dirty="0"/>
                  <a:t>.  </a:t>
                </a:r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7" y="1575320"/>
                <a:ext cx="10317886" cy="799725"/>
              </a:xfrm>
              <a:prstGeom prst="rect">
                <a:avLst/>
              </a:prstGeom>
              <a:blipFill>
                <a:blip r:embed="rId5"/>
                <a:stretch>
                  <a:fillRect l="-946" t="-3030" b="-31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8790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47" y="1987654"/>
            <a:ext cx="6515100" cy="4343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Cât de bine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cunoaștem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modelul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26" t="-6400"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80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68791" y="2520175"/>
            <a:ext cx="22301" cy="296622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 txBox="1">
            <a:spLocks/>
          </p:cNvSpPr>
          <p:nvPr/>
        </p:nvSpPr>
        <p:spPr>
          <a:xfrm>
            <a:off x="777577" y="825304"/>
            <a:ext cx="10317886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Mai </a:t>
            </a:r>
            <a:r>
              <a:rPr lang="en-US" sz="2400" dirty="0" err="1"/>
              <a:t>jos</a:t>
            </a:r>
            <a:r>
              <a:rPr lang="en-US" sz="2400" dirty="0"/>
              <a:t> </a:t>
            </a:r>
            <a:r>
              <a:rPr lang="en-US" sz="2400" dirty="0" err="1"/>
              <a:t>arătăm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liniile</a:t>
            </a:r>
            <a:r>
              <a:rPr lang="en-US" sz="2400" dirty="0"/>
              <a:t> de </a:t>
            </a:r>
            <a:r>
              <a:rPr lang="en-US" sz="2400" dirty="0" err="1"/>
              <a:t>regresie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o </a:t>
            </a:r>
            <a:r>
              <a:rPr lang="en-US" sz="2400" dirty="0" err="1"/>
              <a:t>mie</a:t>
            </a:r>
            <a:r>
              <a:rPr lang="en-US" sz="2400" dirty="0"/>
              <a:t> de </a:t>
            </a:r>
            <a:r>
              <a:rPr lang="en-US" sz="2400" dirty="0" err="1"/>
              <a:t>astfel</a:t>
            </a:r>
            <a:r>
              <a:rPr lang="en-US" sz="2400" dirty="0"/>
              <a:t> de </a:t>
            </a:r>
            <a:r>
              <a:rPr lang="en-US" sz="2400" dirty="0" err="1"/>
              <a:t>eșantioane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96B7D7-57D8-40A6-BC76-29F4AD494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77437" y="3275638"/>
            <a:ext cx="5486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4C273A5-0513-BA5C-7612-0DBE38FA5E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577" y="1575320"/>
                <a:ext cx="10317886" cy="7997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o-RO" sz="2400" dirty="0"/>
                  <a:t>Pentru un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examinăm distribuția valorilor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și aflăm </a:t>
                </a:r>
                <a:endParaRPr lang="en-US" sz="2400" dirty="0"/>
              </a:p>
              <a:p>
                <a:r>
                  <a:rPr lang="ro-RO" sz="2400" dirty="0"/>
                  <a:t>media și</a:t>
                </a:r>
                <a:r>
                  <a:rPr lang="en-US" sz="2400" dirty="0"/>
                  <a:t> </a:t>
                </a:r>
                <a:r>
                  <a:rPr lang="ro-RO" sz="2400" dirty="0"/>
                  <a:t>deviația standard</a:t>
                </a:r>
                <a:r>
                  <a:rPr lang="en-US" sz="2400" dirty="0"/>
                  <a:t>. 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4C273A5-0513-BA5C-7612-0DBE38FA5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7" y="1575320"/>
                <a:ext cx="10317886" cy="799725"/>
              </a:xfrm>
              <a:prstGeom prst="rect">
                <a:avLst/>
              </a:prstGeom>
              <a:blipFill>
                <a:blip r:embed="rId5"/>
                <a:stretch>
                  <a:fillRect l="-946" t="-3030" b="-31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7894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Cât de bine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cunoaștem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dirty="0" err="1">
                    <a:latin typeface="Karla" charset="0"/>
                    <a:ea typeface="Karla" charset="0"/>
                    <a:cs typeface="Karla" charset="0"/>
                  </a:rPr>
                  <a:t>modelul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26" t="-6400" b="-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81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777577" y="983807"/>
                <a:ext cx="10020439" cy="7997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o-RO" sz="2400" dirty="0"/>
                  <a:t>Pentru fiecare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calculăm media tuturor modelelor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400" dirty="0"/>
                  <a:t> (</a:t>
                </a:r>
                <a:r>
                  <a:rPr lang="ro-RO" sz="2400" dirty="0"/>
                  <a:t>linia punctată</a:t>
                </a:r>
                <a:r>
                  <a:rPr lang="en-US" sz="2400" dirty="0"/>
                  <a:t>) </a:t>
                </a:r>
                <a:r>
                  <a:rPr lang="ro-RO" sz="2400" dirty="0"/>
                  <a:t>și intervalul de</a:t>
                </a:r>
                <a:r>
                  <a:rPr lang="en-US" sz="2400" dirty="0"/>
                  <a:t> </a:t>
                </a:r>
                <a:r>
                  <a:rPr lang="ro-RO" sz="2400" dirty="0"/>
                  <a:t>încredere de </a:t>
                </a:r>
                <a:r>
                  <a:rPr lang="en-US" sz="2400" dirty="0"/>
                  <a:t>95% </a:t>
                </a:r>
                <a:r>
                  <a:rPr lang="ro-RO" sz="2400" dirty="0"/>
                  <a:t>pentru modele</a:t>
                </a:r>
                <a:r>
                  <a:rPr lang="en-US" sz="2400" dirty="0"/>
                  <a:t> (</a:t>
                </a:r>
                <a:r>
                  <a:rPr lang="ro-RO" sz="2400" dirty="0"/>
                  <a:t>zona albastră</a:t>
                </a:r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77" y="983807"/>
                <a:ext cx="10020439" cy="799725"/>
              </a:xfrm>
              <a:prstGeom prst="rect">
                <a:avLst/>
              </a:prstGeom>
              <a:blipFill>
                <a:blip r:embed="rId3"/>
                <a:stretch>
                  <a:fillRect l="-974" t="-3030" b="-219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2501218" y="1944111"/>
            <a:ext cx="6515100" cy="4343400"/>
            <a:chOff x="2501218" y="1944111"/>
            <a:chExt cx="6515100" cy="43434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1218" y="1944111"/>
              <a:ext cx="6515100" cy="4343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4499430" y="2662139"/>
                  <a:ext cx="1320800" cy="38491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Estimated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charset="0"/>
                            </a:rPr>
                            <m:t>𝑓</m:t>
                          </m:r>
                        </m:e>
                      </m:acc>
                    </m:oMath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430" y="2662139"/>
                  <a:ext cx="1320800" cy="38491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3687" t="-7937" r="-12442" b="-253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254958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584118"/>
            <a:ext cx="9144000" cy="548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ro-RO" dirty="0">
                    <a:latin typeface="Karla" charset="0"/>
                    <a:ea typeface="Karla" charset="0"/>
                    <a:cs typeface="Karla" charset="0"/>
                  </a:rPr>
                  <a:t>Încrederea în predicțiile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  <a:ea typeface="Karla" charset="0"/>
                            <a:cs typeface="Karla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26" t="-10400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82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77577" y="983807"/>
            <a:ext cx="10020439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 </a:t>
            </a:r>
          </a:p>
          <a:p>
            <a:r>
              <a:rPr lang="en-US" sz="2400" dirty="0"/>
              <a:t> 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63480" y="816842"/>
            <a:ext cx="10020439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353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581912"/>
            <a:ext cx="9144000" cy="548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ro-RO" dirty="0">
                    <a:latin typeface="Karla" charset="0"/>
                    <a:ea typeface="Karla" charset="0"/>
                    <a:cs typeface="Karla" charset="0"/>
                  </a:rPr>
                  <a:t>Încrederea în predicțiile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charset="0"/>
                            <a:ea typeface="Karla" charset="0"/>
                            <a:cs typeface="Karla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26" t="-10400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83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77577" y="983807"/>
            <a:ext cx="10020439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 </a:t>
            </a:r>
          </a:p>
          <a:p>
            <a:r>
              <a:rPr lang="en-US" sz="24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/>
              <p:cNvSpPr txBox="1">
                <a:spLocks/>
              </p:cNvSpPr>
              <p:nvPr/>
            </p:nvSpPr>
            <p:spPr>
              <a:xfrm>
                <a:off x="463481" y="816842"/>
                <a:ext cx="9280884" cy="7997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charset="0"/>
                  <a:buChar char="•"/>
                </a:pPr>
                <a:r>
                  <a:rPr lang="ro-RO" sz="2400" dirty="0"/>
                  <a:t>Pentru un eșantion</a:t>
                </a:r>
                <a:r>
                  <a:rPr lang="en-US" sz="2400" dirty="0"/>
                  <a:t> </a:t>
                </a:r>
                <a:r>
                  <a:rPr lang="en-US" sz="2400" i="1" dirty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sz="2400" dirty="0"/>
                  <a:t>,</a:t>
                </a:r>
                <a:r>
                  <a:rPr lang="ro-RO" sz="2400" dirty="0"/>
                  <a:t> </a:t>
                </a:r>
                <a:r>
                  <a:rPr lang="pt-BR" sz="2400" dirty="0"/>
                  <a:t>avem o distribuție de modele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ro-RO" sz="2400" dirty="0"/>
                  <a:t>Pentru fiecare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, 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2400" dirty="0"/>
                  <a:t>redic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</a:t>
                </a:r>
                <a:r>
                  <a:rPr lang="ro-RO" sz="2400" dirty="0"/>
                  <a:t>ile</a:t>
                </a:r>
                <a:r>
                  <a:rPr lang="en-US" sz="2400" dirty="0"/>
                  <a:t> </a:t>
                </a:r>
                <a:r>
                  <a:rPr lang="ro-RO" sz="2400" dirty="0"/>
                  <a:t>sunt distribuite astfel: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𝑦</m:t>
                    </m:r>
                    <m:r>
                      <a:rPr lang="en-US" sz="2400" i="1">
                        <a:latin typeface="Cambria Math" charset="0"/>
                      </a:rPr>
                      <m:t>~</m:t>
                    </m:r>
                    <m:r>
                      <a:rPr lang="en-US" sz="2400" i="1">
                        <a:latin typeface="Cambria Math" charset="0"/>
                      </a:rPr>
                      <m:t>𝑁</m:t>
                    </m:r>
                    <m:r>
                      <a:rPr lang="en-US" sz="2400" i="1">
                        <a:latin typeface="Cambria Math" charset="0"/>
                      </a:rPr>
                      <m:t>(</m:t>
                    </m:r>
                    <m:r>
                      <a:rPr lang="en-US" sz="2400" i="1">
                        <a:latin typeface="Cambria Math" charset="0"/>
                      </a:rPr>
                      <m:t>𝑓</m:t>
                    </m:r>
                    <m:r>
                      <a:rPr lang="en-US" sz="2400" i="1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𝜖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81" y="816842"/>
                <a:ext cx="9280884" cy="799725"/>
              </a:xfrm>
              <a:prstGeom prst="rect">
                <a:avLst/>
              </a:prstGeom>
              <a:blipFill>
                <a:blip r:embed="rId4"/>
                <a:stretch>
                  <a:fillRect l="-854" t="-7634" b="-687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 flipH="1">
            <a:off x="8893248" y="2980164"/>
            <a:ext cx="610116" cy="1344948"/>
          </a:xfrm>
          <a:custGeom>
            <a:avLst/>
            <a:gdLst>
              <a:gd name="connsiteX0" fmla="*/ 0 w 417351"/>
              <a:gd name="connsiteY0" fmla="*/ 0 h 1060397"/>
              <a:gd name="connsiteX1" fmla="*/ 145997 w 417351"/>
              <a:gd name="connsiteY1" fmla="*/ 338098 h 1060397"/>
              <a:gd name="connsiteX2" fmla="*/ 368834 w 417351"/>
              <a:gd name="connsiteY2" fmla="*/ 430306 h 1060397"/>
              <a:gd name="connsiteX3" fmla="*/ 407254 w 417351"/>
              <a:gd name="connsiteY3" fmla="*/ 545567 h 1060397"/>
              <a:gd name="connsiteX4" fmla="*/ 230521 w 417351"/>
              <a:gd name="connsiteY4" fmla="*/ 637775 h 1060397"/>
              <a:gd name="connsiteX5" fmla="*/ 92209 w 417351"/>
              <a:gd name="connsiteY5" fmla="*/ 829876 h 1060397"/>
              <a:gd name="connsiteX6" fmla="*/ 7684 w 417351"/>
              <a:gd name="connsiteY6" fmla="*/ 1060397 h 1060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351" h="1060397">
                <a:moveTo>
                  <a:pt x="0" y="0"/>
                </a:moveTo>
                <a:cubicBezTo>
                  <a:pt x="42262" y="133190"/>
                  <a:pt x="84525" y="266380"/>
                  <a:pt x="145997" y="338098"/>
                </a:cubicBezTo>
                <a:cubicBezTo>
                  <a:pt x="207469" y="409816"/>
                  <a:pt x="325291" y="395728"/>
                  <a:pt x="368834" y="430306"/>
                </a:cubicBezTo>
                <a:cubicBezTo>
                  <a:pt x="412377" y="464884"/>
                  <a:pt x="430306" y="510989"/>
                  <a:pt x="407254" y="545567"/>
                </a:cubicBezTo>
                <a:cubicBezTo>
                  <a:pt x="384202" y="580145"/>
                  <a:pt x="283028" y="590390"/>
                  <a:pt x="230521" y="637775"/>
                </a:cubicBezTo>
                <a:cubicBezTo>
                  <a:pt x="178014" y="685160"/>
                  <a:pt x="129349" y="759439"/>
                  <a:pt x="92209" y="829876"/>
                </a:cubicBezTo>
                <a:cubicBezTo>
                  <a:pt x="55070" y="900313"/>
                  <a:pt x="7684" y="1060397"/>
                  <a:pt x="7684" y="1060397"/>
                </a:cubicBez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spcBef>
                    <a:spcPts val="672"/>
                  </a:spcBef>
                  <a:spcAft>
                    <a:spcPts val="1200"/>
                  </a:spcAft>
                </a:pPr>
                <a:r>
                  <a:rPr lang="ro-RO" dirty="0">
                    <a:latin typeface="Karla" charset="0"/>
                    <a:ea typeface="Karla" charset="0"/>
                    <a:cs typeface="Karla" charset="0"/>
                  </a:rPr>
                  <a:t>Încrederea în predicțiile</a:t>
                </a:r>
                <a:r>
                  <a:rPr lang="en-US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charset="0"/>
                            <a:ea typeface="Karla" charset="0"/>
                            <a:cs typeface="Karla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>
                  <a:latin typeface="Karla" charset="0"/>
                  <a:ea typeface="Karla" charset="0"/>
                  <a:cs typeface="Karla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26" t="-10400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84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77577" y="983807"/>
            <a:ext cx="10020439" cy="79972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457182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1pPr>
            <a:lvl2pPr marL="742920" indent="-285738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2pPr>
            <a:lvl3pPr marL="114295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3pPr>
            <a:lvl4pPr marL="1600136" indent="-228590" algn="l" defTabSz="45718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4pPr>
            <a:lvl5pPr marL="2057317" indent="-228590" algn="l" defTabSz="45718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464646"/>
                </a:solidFill>
                <a:latin typeface="Karla"/>
                <a:ea typeface="+mn-ea"/>
                <a:cs typeface="Karla"/>
              </a:defRPr>
            </a:lvl5pPr>
            <a:lvl6pPr marL="2514499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4" indent="-228590" algn="l" defTabSz="457182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 </a:t>
            </a:r>
          </a:p>
          <a:p>
            <a:r>
              <a:rPr lang="en-US" sz="24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/>
              <p:cNvSpPr txBox="1">
                <a:spLocks/>
              </p:cNvSpPr>
              <p:nvPr/>
            </p:nvSpPr>
            <p:spPr>
              <a:xfrm>
                <a:off x="463481" y="816842"/>
                <a:ext cx="9336302" cy="799725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>
                <a:lvl1pPr marL="0" indent="0" algn="l" defTabSz="457182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1pPr>
                <a:lvl2pPr marL="742920" indent="-285738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24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2pPr>
                <a:lvl3pPr marL="114295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3pPr>
                <a:lvl4pPr marL="1600136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–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4pPr>
                <a:lvl5pPr marL="2057317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»"/>
                  <a:defRPr sz="1800" kern="1200">
                    <a:solidFill>
                      <a:srgbClr val="464646"/>
                    </a:solidFill>
                    <a:latin typeface="Karla"/>
                    <a:ea typeface="+mn-ea"/>
                    <a:cs typeface="Karla"/>
                  </a:defRPr>
                </a:lvl5pPr>
                <a:lvl6pPr marL="2514499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81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63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44" indent="-228590" algn="l" defTabSz="457182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charset="0"/>
                  <a:buChar char="•"/>
                </a:pPr>
                <a:r>
                  <a:rPr lang="ro-RO" sz="2400" dirty="0"/>
                  <a:t>Pentru un eșantion</a:t>
                </a:r>
                <a:r>
                  <a:rPr lang="en-US" sz="2400" dirty="0"/>
                  <a:t> </a:t>
                </a:r>
                <a:r>
                  <a:rPr lang="en-US" sz="2400" i="1" dirty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sz="2400" dirty="0"/>
                  <a:t>,</a:t>
                </a:r>
                <a:r>
                  <a:rPr lang="ro-RO" sz="2400" dirty="0"/>
                  <a:t> </a:t>
                </a:r>
                <a:r>
                  <a:rPr lang="pt-BR" sz="2400" dirty="0"/>
                  <a:t>avem o distribuție de modele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ro-RO" sz="2400" dirty="0"/>
                  <a:t>Pentru fiecare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, </m:t>
                    </m:r>
                    <m:r>
                      <a:rPr lang="ro-RO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2400" dirty="0"/>
                  <a:t>redic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</a:t>
                </a:r>
                <a:r>
                  <a:rPr lang="ro-RO" sz="2400" dirty="0"/>
                  <a:t>ile</a:t>
                </a:r>
                <a:r>
                  <a:rPr lang="en-US" sz="2400" dirty="0"/>
                  <a:t> </a:t>
                </a:r>
                <a:r>
                  <a:rPr lang="ro-RO" sz="2400" dirty="0"/>
                  <a:t>sunt distribuite astfel: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𝑦</m:t>
                    </m:r>
                    <m:r>
                      <a:rPr lang="en-US" sz="2400" i="1">
                        <a:latin typeface="Cambria Math" charset="0"/>
                      </a:rPr>
                      <m:t>~</m:t>
                    </m:r>
                    <m:r>
                      <a:rPr lang="en-US" sz="2400" i="1" smtClean="0">
                        <a:latin typeface="Cambria Math" charset="0"/>
                      </a:rPr>
                      <m:t>𝑁</m:t>
                    </m:r>
                    <m:r>
                      <a:rPr lang="en-US" sz="2400" i="1">
                        <a:latin typeface="Cambria Math" charset="0"/>
                      </a:rPr>
                      <m:t>(</m:t>
                    </m:r>
                    <m:r>
                      <a:rPr lang="en-US" sz="2400" i="1">
                        <a:latin typeface="Cambria Math" charset="0"/>
                      </a:rPr>
                      <m:t>𝑓</m:t>
                    </m:r>
                    <m:r>
                      <a:rPr lang="en-US" sz="2400" i="1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𝜖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2400" dirty="0" err="1"/>
                  <a:t>Intervalele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încredere</a:t>
                </a:r>
                <a:r>
                  <a:rPr lang="en-US" sz="2400" dirty="0"/>
                  <a:t> </a:t>
                </a:r>
                <a:r>
                  <a:rPr lang="ro-RO" sz="2400" dirty="0"/>
                  <a:t>în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predicție</a:t>
                </a:r>
                <a:r>
                  <a:rPr lang="en-US" sz="2400" dirty="0"/>
                  <a:t> sunt </a:t>
                </a:r>
                <a:r>
                  <a:rPr lang="en-US" sz="2400" dirty="0" err="1"/>
                  <a:t>atunci</a:t>
                </a:r>
                <a:r>
                  <a:rPr lang="ro-RO" sz="2400" dirty="0"/>
                  <a:t> combinația între încrederea în model (în estimarea parametrilor) și </a:t>
                </a:r>
              </a:p>
              <a:p>
                <a:r>
                  <a:rPr lang="ro-RO" sz="2400" dirty="0"/>
                  <a:t>     în estimarea valorilor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2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81" y="816842"/>
                <a:ext cx="9336302" cy="799725"/>
              </a:xfrm>
              <a:prstGeom prst="rect">
                <a:avLst/>
              </a:prstGeom>
              <a:blipFill>
                <a:blip r:embed="rId3"/>
                <a:stretch>
                  <a:fillRect l="-849" t="-7634" b="-2312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501" y="2216878"/>
            <a:ext cx="7865207" cy="47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933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0BC3-996B-46FB-A238-A1DB47F3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Cross-validare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8B04-11A5-4A3D-99A4-62585658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85</a:t>
            </a:fld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58DC662-C214-48D3-9030-1267886A05EB}"/>
              </a:ext>
            </a:extLst>
          </p:cNvPr>
          <p:cNvGrpSpPr/>
          <p:nvPr/>
        </p:nvGrpSpPr>
        <p:grpSpPr>
          <a:xfrm>
            <a:off x="2293480" y="819680"/>
            <a:ext cx="9489600" cy="5680080"/>
            <a:chOff x="2293480" y="819680"/>
            <a:chExt cx="9489600" cy="56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14270A-7ABE-4B37-869F-54930A7B6DA3}"/>
                    </a:ext>
                  </a:extLst>
                </p14:cNvPr>
                <p14:cNvContentPartPr/>
                <p14:nvPr/>
              </p14:nvContentPartPr>
              <p14:xfrm>
                <a:off x="2355760" y="2468480"/>
                <a:ext cx="4652640" cy="3254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14270A-7ABE-4B37-869F-54930A7B6DA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6760" y="2459480"/>
                  <a:ext cx="4670280" cy="32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E866F83-6E55-4999-93C8-6B28D6BB65B7}"/>
                    </a:ext>
                  </a:extLst>
                </p14:cNvPr>
                <p14:cNvContentPartPr/>
                <p14:nvPr/>
              </p14:nvContentPartPr>
              <p14:xfrm>
                <a:off x="2712160" y="2488640"/>
                <a:ext cx="4611960" cy="3265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E866F83-6E55-4999-93C8-6B28D6BB65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03520" y="2479640"/>
                  <a:ext cx="4629600" cy="32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E7C003-A9F8-42FE-9906-0275A31CF9EB}"/>
                    </a:ext>
                  </a:extLst>
                </p14:cNvPr>
                <p14:cNvContentPartPr/>
                <p14:nvPr/>
              </p14:nvContentPartPr>
              <p14:xfrm>
                <a:off x="2407600" y="3880760"/>
                <a:ext cx="5000400" cy="806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E7C003-A9F8-42FE-9906-0275A31CF9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8600" y="3871760"/>
                  <a:ext cx="501804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890C3C-735B-4698-9C87-B32DFB4881FD}"/>
                    </a:ext>
                  </a:extLst>
                </p14:cNvPr>
                <p14:cNvContentPartPr/>
                <p14:nvPr/>
              </p14:nvContentPartPr>
              <p14:xfrm>
                <a:off x="3314080" y="2539760"/>
                <a:ext cx="109800" cy="311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890C3C-735B-4698-9C87-B32DFB4881F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05080" y="2531120"/>
                  <a:ext cx="127440" cy="31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AE339D-2AC4-40D8-B458-03A9E1F305C7}"/>
                    </a:ext>
                  </a:extLst>
                </p14:cNvPr>
                <p14:cNvContentPartPr/>
                <p14:nvPr/>
              </p14:nvContentPartPr>
              <p14:xfrm>
                <a:off x="4189960" y="2712200"/>
                <a:ext cx="199440" cy="2963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AE339D-2AC4-40D8-B458-03A9E1F305C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80960" y="2703200"/>
                  <a:ext cx="217080" cy="29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794220-2F72-4858-BE1A-C3B786BE9E31}"/>
                    </a:ext>
                  </a:extLst>
                </p14:cNvPr>
                <p14:cNvContentPartPr/>
                <p14:nvPr/>
              </p14:nvContentPartPr>
              <p14:xfrm>
                <a:off x="5363920" y="2834240"/>
                <a:ext cx="154800" cy="2390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794220-2F72-4858-BE1A-C3B786BE9E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55280" y="2825240"/>
                  <a:ext cx="172440" cy="24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0C40F0-5DC2-43C3-AAB8-DF3781489159}"/>
                    </a:ext>
                  </a:extLst>
                </p14:cNvPr>
                <p14:cNvContentPartPr/>
                <p14:nvPr/>
              </p14:nvContentPartPr>
              <p14:xfrm>
                <a:off x="6307120" y="2814080"/>
                <a:ext cx="63360" cy="368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0C40F0-5DC2-43C3-AAB8-DF37814891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98120" y="2805080"/>
                  <a:ext cx="81000" cy="37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052E95-F557-406E-91C6-84FB042C5987}"/>
                    </a:ext>
                  </a:extLst>
                </p14:cNvPr>
                <p14:cNvContentPartPr/>
                <p14:nvPr/>
              </p14:nvContentPartPr>
              <p14:xfrm>
                <a:off x="5465440" y="5232200"/>
                <a:ext cx="39600" cy="427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052E95-F557-406E-91C6-84FB042C59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56800" y="5223200"/>
                  <a:ext cx="572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826AB44-08AE-4903-98FA-C3D68E4DFFA7}"/>
                    </a:ext>
                  </a:extLst>
                </p14:cNvPr>
                <p14:cNvContentPartPr/>
                <p14:nvPr/>
              </p14:nvContentPartPr>
              <p14:xfrm>
                <a:off x="2591560" y="2569640"/>
                <a:ext cx="435960" cy="405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826AB44-08AE-4903-98FA-C3D68E4DFFA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82920" y="2561000"/>
                  <a:ext cx="4536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7C1694-701A-489C-877B-20ADBDFE2814}"/>
                    </a:ext>
                  </a:extLst>
                </p14:cNvPr>
                <p14:cNvContentPartPr/>
                <p14:nvPr/>
              </p14:nvContentPartPr>
              <p14:xfrm>
                <a:off x="2635840" y="2671880"/>
                <a:ext cx="767880" cy="732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7C1694-701A-489C-877B-20ADBDFE28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7200" y="2662880"/>
                  <a:ext cx="78552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EF37F39-961B-418E-B33C-6CD3A6B80B63}"/>
                    </a:ext>
                  </a:extLst>
                </p14:cNvPr>
                <p14:cNvContentPartPr/>
                <p14:nvPr/>
              </p14:nvContentPartPr>
              <p14:xfrm>
                <a:off x="2705320" y="3260840"/>
                <a:ext cx="596520" cy="354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EF37F39-961B-418E-B33C-6CD3A6B80B6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96320" y="3252200"/>
                  <a:ext cx="6141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D2D534C-8A72-4B0B-AB91-41509414D42B}"/>
                    </a:ext>
                  </a:extLst>
                </p14:cNvPr>
                <p14:cNvContentPartPr/>
                <p14:nvPr/>
              </p14:nvContentPartPr>
              <p14:xfrm>
                <a:off x="2976400" y="3666920"/>
                <a:ext cx="162720" cy="182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D2D534C-8A72-4B0B-AB91-41509414D4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7760" y="3658280"/>
                  <a:ext cx="180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081A45-3FFF-4ADF-9D41-7D0B7B39828C}"/>
                    </a:ext>
                  </a:extLst>
                </p14:cNvPr>
                <p14:cNvContentPartPr/>
                <p14:nvPr/>
              </p14:nvContentPartPr>
              <p14:xfrm>
                <a:off x="7955200" y="1700600"/>
                <a:ext cx="82080" cy="678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081A45-3FFF-4ADF-9D41-7D0B7B3982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46200" y="1691960"/>
                  <a:ext cx="9972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EE70136-8200-424F-8A42-C59AA83672E6}"/>
                    </a:ext>
                  </a:extLst>
                </p14:cNvPr>
                <p14:cNvContentPartPr/>
                <p14:nvPr/>
              </p14:nvContentPartPr>
              <p14:xfrm>
                <a:off x="7955200" y="2417720"/>
                <a:ext cx="163800" cy="21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EE70136-8200-424F-8A42-C59AA83672E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46200" y="2408720"/>
                  <a:ext cx="181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5F49E9-E710-4FA7-87FF-153C1D107E64}"/>
                    </a:ext>
                  </a:extLst>
                </p14:cNvPr>
                <p14:cNvContentPartPr/>
                <p14:nvPr/>
              </p14:nvContentPartPr>
              <p14:xfrm>
                <a:off x="2293480" y="2120720"/>
                <a:ext cx="1160280" cy="180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5F49E9-E710-4FA7-87FF-153C1D107E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84480" y="2111720"/>
                  <a:ext cx="1177920" cy="18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233F72-9C58-4394-8135-78FA6F1BE966}"/>
                    </a:ext>
                  </a:extLst>
                </p14:cNvPr>
                <p14:cNvContentPartPr/>
                <p14:nvPr/>
              </p14:nvContentPartPr>
              <p14:xfrm>
                <a:off x="3525040" y="819680"/>
                <a:ext cx="5555160" cy="1470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233F72-9C58-4394-8135-78FA6F1BE9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16040" y="811040"/>
                  <a:ext cx="5572800" cy="14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F86165-E14E-45B4-8038-5D2E86DC5E4D}"/>
                    </a:ext>
                  </a:extLst>
                </p14:cNvPr>
                <p14:cNvContentPartPr/>
                <p14:nvPr/>
              </p14:nvContentPartPr>
              <p14:xfrm>
                <a:off x="8890120" y="2021720"/>
                <a:ext cx="165240" cy="262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F86165-E14E-45B4-8038-5D2E86DC5E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81120" y="2012720"/>
                  <a:ext cx="182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3FD0EB-567A-46A7-A13A-44BD28C46A69}"/>
                    </a:ext>
                  </a:extLst>
                </p14:cNvPr>
                <p14:cNvContentPartPr/>
                <p14:nvPr/>
              </p14:nvContentPartPr>
              <p14:xfrm>
                <a:off x="9357040" y="1980680"/>
                <a:ext cx="89640" cy="547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3FD0EB-567A-46A7-A13A-44BD28C46A6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48400" y="1971680"/>
                  <a:ext cx="1072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C71893A-A490-43D6-8924-2387B3434CC1}"/>
                    </a:ext>
                  </a:extLst>
                </p14:cNvPr>
                <p14:cNvContentPartPr/>
                <p14:nvPr/>
              </p14:nvContentPartPr>
              <p14:xfrm>
                <a:off x="9235720" y="1862960"/>
                <a:ext cx="488880" cy="67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C71893A-A490-43D6-8924-2387B3434C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26720" y="1853960"/>
                  <a:ext cx="506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0140D4-B584-4A1D-9D37-75464C7DA088}"/>
                    </a:ext>
                  </a:extLst>
                </p14:cNvPr>
                <p14:cNvContentPartPr/>
                <p14:nvPr/>
              </p14:nvContentPartPr>
              <p14:xfrm>
                <a:off x="9692200" y="2092280"/>
                <a:ext cx="497520" cy="490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0140D4-B584-4A1D-9D37-75464C7DA0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83560" y="2083280"/>
                  <a:ext cx="51516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2412E03-92E9-4105-ABB9-1BF696ACF384}"/>
                    </a:ext>
                  </a:extLst>
                </p14:cNvPr>
                <p14:cNvContentPartPr/>
                <p14:nvPr/>
              </p14:nvContentPartPr>
              <p14:xfrm>
                <a:off x="9713080" y="2118560"/>
                <a:ext cx="265680" cy="76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2412E03-92E9-4105-ABB9-1BF696ACF3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04080" y="2109560"/>
                  <a:ext cx="283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0B447B2-9F11-4222-9E6C-1CEA29BDC74D}"/>
                    </a:ext>
                  </a:extLst>
                </p14:cNvPr>
                <p14:cNvContentPartPr/>
                <p14:nvPr/>
              </p14:nvContentPartPr>
              <p14:xfrm>
                <a:off x="9794440" y="1829840"/>
                <a:ext cx="559800" cy="181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0B447B2-9F11-4222-9E6C-1CEA29BDC7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85440" y="1820840"/>
                  <a:ext cx="577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BBDAE19-561C-4D85-A622-521017D7B3A8}"/>
                    </a:ext>
                  </a:extLst>
                </p14:cNvPr>
                <p14:cNvContentPartPr/>
                <p14:nvPr/>
              </p14:nvContentPartPr>
              <p14:xfrm>
                <a:off x="10351000" y="1889600"/>
                <a:ext cx="286920" cy="519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BBDAE19-561C-4D85-A622-521017D7B3A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42000" y="1880600"/>
                  <a:ext cx="30456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29F219E-158B-4AEE-BF30-B609D984C264}"/>
                    </a:ext>
                  </a:extLst>
                </p14:cNvPr>
                <p14:cNvContentPartPr/>
                <p14:nvPr/>
              </p14:nvContentPartPr>
              <p14:xfrm>
                <a:off x="11033920" y="1990760"/>
                <a:ext cx="54000" cy="419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29F219E-158B-4AEE-BF30-B609D984C26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24920" y="1982120"/>
                  <a:ext cx="716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93E90C-08AF-49DF-91F2-E7A892DFBDD0}"/>
                    </a:ext>
                  </a:extLst>
                </p14:cNvPr>
                <p14:cNvContentPartPr/>
                <p14:nvPr/>
              </p14:nvContentPartPr>
              <p14:xfrm>
                <a:off x="10870840" y="1940360"/>
                <a:ext cx="830520" cy="32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93E90C-08AF-49DF-91F2-E7A892DFBDD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62200" y="1931360"/>
                  <a:ext cx="848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4CE21BF-347F-46AD-AED7-979F8FD358AE}"/>
                    </a:ext>
                  </a:extLst>
                </p14:cNvPr>
                <p14:cNvContentPartPr/>
                <p14:nvPr/>
              </p14:nvContentPartPr>
              <p14:xfrm>
                <a:off x="8066800" y="3271280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4CE21BF-347F-46AD-AED7-979F8FD358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58160" y="32626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2643147-B999-4AD0-B30D-03D4334B318E}"/>
                    </a:ext>
                  </a:extLst>
                </p14:cNvPr>
                <p14:cNvContentPartPr/>
                <p14:nvPr/>
              </p14:nvContentPartPr>
              <p14:xfrm>
                <a:off x="8168320" y="3738560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2643147-B999-4AD0-B30D-03D4334B318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59320" y="3729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0F3E500-0D38-4EAE-93A4-F9A58B555D71}"/>
                    </a:ext>
                  </a:extLst>
                </p14:cNvPr>
                <p14:cNvContentPartPr/>
                <p14:nvPr/>
              </p14:nvContentPartPr>
              <p14:xfrm>
                <a:off x="8229160" y="4175240"/>
                <a:ext cx="432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0F3E500-0D38-4EAE-93A4-F9A58B555D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20520" y="4166240"/>
                  <a:ext cx="2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38EE69A-A8B5-4666-99DA-FBADA113D082}"/>
                    </a:ext>
                  </a:extLst>
                </p14:cNvPr>
                <p14:cNvContentPartPr/>
                <p14:nvPr/>
              </p14:nvContentPartPr>
              <p14:xfrm>
                <a:off x="8056360" y="4975160"/>
                <a:ext cx="88560" cy="419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38EE69A-A8B5-4666-99DA-FBADA113D08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47720" y="4966520"/>
                  <a:ext cx="106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D062AE-8EC0-4EEB-BC28-A5F96EA9CC6E}"/>
                    </a:ext>
                  </a:extLst>
                </p14:cNvPr>
                <p14:cNvContentPartPr/>
                <p14:nvPr/>
              </p14:nvContentPartPr>
              <p14:xfrm>
                <a:off x="8223760" y="4993880"/>
                <a:ext cx="340200" cy="510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D062AE-8EC0-4EEB-BC28-A5F96EA9CC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15120" y="4984880"/>
                  <a:ext cx="35784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BCA3BC8-2F5F-4D28-B309-33DD0C5AEA71}"/>
                    </a:ext>
                  </a:extLst>
                </p14:cNvPr>
                <p14:cNvContentPartPr/>
                <p14:nvPr/>
              </p14:nvContentPartPr>
              <p14:xfrm>
                <a:off x="6603760" y="4601840"/>
                <a:ext cx="325440" cy="384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BCA3BC8-2F5F-4D28-B309-33DD0C5AEA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4760" y="4593200"/>
                  <a:ext cx="3430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E7E5A2A-AEC4-414E-8B09-D594BF723EEE}"/>
                    </a:ext>
                  </a:extLst>
                </p14:cNvPr>
                <p14:cNvContentPartPr/>
                <p14:nvPr/>
              </p14:nvContentPartPr>
              <p14:xfrm>
                <a:off x="6366880" y="4957880"/>
                <a:ext cx="714600" cy="413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E7E5A2A-AEC4-414E-8B09-D594BF723EE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58240" y="4948880"/>
                  <a:ext cx="7322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EBA4EC1-FA33-447E-B101-6D08EC494EE7}"/>
                    </a:ext>
                  </a:extLst>
                </p14:cNvPr>
                <p14:cNvContentPartPr/>
                <p14:nvPr/>
              </p14:nvContentPartPr>
              <p14:xfrm>
                <a:off x="6280840" y="5293040"/>
                <a:ext cx="546840" cy="265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EBA4EC1-FA33-447E-B101-6D08EC494E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71840" y="5284400"/>
                  <a:ext cx="5644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B4B768C-9B92-45DE-BAA7-0099CBE8E688}"/>
                    </a:ext>
                  </a:extLst>
                </p14:cNvPr>
                <p14:cNvContentPartPr/>
                <p14:nvPr/>
              </p14:nvContentPartPr>
              <p14:xfrm>
                <a:off x="6194080" y="4327880"/>
                <a:ext cx="1261440" cy="1793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B4B768C-9B92-45DE-BAA7-0099CBE8E6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85440" y="4318880"/>
                  <a:ext cx="1279080" cy="18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34F3044-3252-4ECE-BA0A-C656F759CA29}"/>
                    </a:ext>
                  </a:extLst>
                </p14:cNvPr>
                <p14:cNvContentPartPr/>
                <p14:nvPr/>
              </p14:nvContentPartPr>
              <p14:xfrm>
                <a:off x="7558840" y="5240840"/>
                <a:ext cx="2014200" cy="633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34F3044-3252-4ECE-BA0A-C656F759CA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9840" y="5232200"/>
                  <a:ext cx="203184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064D9D9-9754-4EB9-8792-E2E92A3E0D18}"/>
                    </a:ext>
                  </a:extLst>
                </p14:cNvPr>
                <p14:cNvContentPartPr/>
                <p14:nvPr/>
              </p14:nvContentPartPr>
              <p14:xfrm>
                <a:off x="9509680" y="5127800"/>
                <a:ext cx="86760" cy="52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064D9D9-9754-4EB9-8792-E2E92A3E0D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01040" y="5118800"/>
                  <a:ext cx="1044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9E57E1-C219-494E-832A-9356FD465119}"/>
                    </a:ext>
                  </a:extLst>
                </p14:cNvPr>
                <p14:cNvContentPartPr/>
                <p14:nvPr/>
              </p14:nvContentPartPr>
              <p14:xfrm>
                <a:off x="9997120" y="4805240"/>
                <a:ext cx="29160" cy="354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9E57E1-C219-494E-832A-9356FD46511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88120" y="4796240"/>
                  <a:ext cx="468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CBC65F-1F43-45DB-848C-37B4612EFF48}"/>
                    </a:ext>
                  </a:extLst>
                </p14:cNvPr>
                <p14:cNvContentPartPr/>
                <p14:nvPr/>
              </p14:nvContentPartPr>
              <p14:xfrm>
                <a:off x="9763840" y="4714160"/>
                <a:ext cx="624960" cy="67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CBC65F-1F43-45DB-848C-37B4612EFF4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54840" y="4705160"/>
                  <a:ext cx="642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D3B8DD-3DA8-4AFC-A481-D2261B2B2DC1}"/>
                    </a:ext>
                  </a:extLst>
                </p14:cNvPr>
                <p14:cNvContentPartPr/>
                <p14:nvPr/>
              </p14:nvContentPartPr>
              <p14:xfrm>
                <a:off x="10342720" y="4764200"/>
                <a:ext cx="291600" cy="426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D3B8DD-3DA8-4AFC-A481-D2261B2B2DC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33720" y="4755560"/>
                  <a:ext cx="3092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895B528-C788-4B9C-9B1B-44F0C0F3F78A}"/>
                    </a:ext>
                  </a:extLst>
                </p14:cNvPr>
                <p14:cNvContentPartPr/>
                <p14:nvPr/>
              </p14:nvContentPartPr>
              <p14:xfrm>
                <a:off x="10230760" y="4806680"/>
                <a:ext cx="421560" cy="130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895B528-C788-4B9C-9B1B-44F0C0F3F78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22120" y="4798040"/>
                  <a:ext cx="439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8161451-D125-405D-849D-24A2010E6E17}"/>
                    </a:ext>
                  </a:extLst>
                </p14:cNvPr>
                <p14:cNvContentPartPr/>
                <p14:nvPr/>
              </p14:nvContentPartPr>
              <p14:xfrm>
                <a:off x="10342720" y="4658000"/>
                <a:ext cx="479160" cy="56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8161451-D125-405D-849D-24A2010E6E1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33720" y="4649000"/>
                  <a:ext cx="496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72B6084-747D-40CF-B90C-93CF52AAF9BD}"/>
                    </a:ext>
                  </a:extLst>
                </p14:cNvPr>
                <p14:cNvContentPartPr/>
                <p14:nvPr/>
              </p14:nvContentPartPr>
              <p14:xfrm>
                <a:off x="10726480" y="4642880"/>
                <a:ext cx="405000" cy="531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72B6084-747D-40CF-B90C-93CF52AAF9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717480" y="4633880"/>
                  <a:ext cx="42264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62C12F-565C-4A6E-A2EB-6A4189442BAF}"/>
                    </a:ext>
                  </a:extLst>
                </p14:cNvPr>
                <p14:cNvContentPartPr/>
                <p14:nvPr/>
              </p14:nvContentPartPr>
              <p14:xfrm>
                <a:off x="11328040" y="4744040"/>
                <a:ext cx="158760" cy="562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62C12F-565C-4A6E-A2EB-6A4189442B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319400" y="4735400"/>
                  <a:ext cx="17640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EA8259-02FE-4C7E-BFF9-3680CC0C2691}"/>
                    </a:ext>
                  </a:extLst>
                </p14:cNvPr>
                <p14:cNvContentPartPr/>
                <p14:nvPr/>
              </p14:nvContentPartPr>
              <p14:xfrm>
                <a:off x="11236600" y="4661600"/>
                <a:ext cx="546480" cy="102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EA8259-02FE-4C7E-BFF9-3680CC0C269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27960" y="4652960"/>
                  <a:ext cx="564120" cy="12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5802929"/>
      </p:ext>
    </p:extLst>
  </p:cSld>
  <p:clrMapOvr>
    <a:masterClrMapping/>
  </p:clrMapOvr>
</p:sld>
</file>

<file path=ppt/theme/theme1.xml><?xml version="1.0" encoding="utf-8"?>
<a:theme xmlns:a="http://schemas.openxmlformats.org/drawingml/2006/main" name="GEC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EE3F4256-57BA-4E45-A16C-7FF03EA64AD5}" vid="{8FDA9A5F-BD2F-2E4D-B6B1-DDFA3E9D3C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CS109a_template</Template>
  <TotalTime>17863</TotalTime>
  <Words>3878</Words>
  <Application>Microsoft Office PowerPoint</Application>
  <PresentationFormat>Widescreen</PresentationFormat>
  <Paragraphs>634</Paragraphs>
  <Slides>86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1" baseType="lpstr">
      <vt:lpstr>Arial</vt:lpstr>
      <vt:lpstr>Calibri</vt:lpstr>
      <vt:lpstr>Cambria Math</vt:lpstr>
      <vt:lpstr>Karla</vt:lpstr>
      <vt:lpstr>GEC_template</vt:lpstr>
      <vt:lpstr>ADS1 - Curs 6 Regresie</vt:lpstr>
      <vt:lpstr>Cuprins Curs </vt:lpstr>
      <vt:lpstr>Prognoza unei variabile</vt:lpstr>
      <vt:lpstr>Date</vt:lpstr>
      <vt:lpstr>Variabile răspuns/target vs. Variabile predictor</vt:lpstr>
      <vt:lpstr>Variabile răspuns/target vs. Variabile predictor</vt:lpstr>
      <vt:lpstr>Variabile răspuns/target vs. Variabile predictor</vt:lpstr>
      <vt:lpstr> Definiție</vt:lpstr>
      <vt:lpstr>Modelare Statistică</vt:lpstr>
      <vt:lpstr>Model real vs. Model Statistic</vt:lpstr>
      <vt:lpstr>Model Statistic</vt:lpstr>
      <vt:lpstr>Model Statistic</vt:lpstr>
      <vt:lpstr>Model Statistic</vt:lpstr>
      <vt:lpstr>Model Statistic</vt:lpstr>
      <vt:lpstr>Predicție vs. Estimare</vt:lpstr>
      <vt:lpstr>Model Simplu de Predicție</vt:lpstr>
      <vt:lpstr>Model Simplu de Predicție</vt:lpstr>
      <vt:lpstr>Extensia Modelului Simplu</vt:lpstr>
      <vt:lpstr>Model Simplu de Predicție și Extensii la k - vecini</vt:lpstr>
      <vt:lpstr>Model Simplu de Predicție</vt:lpstr>
      <vt:lpstr>k-Nearest Neighbors (cei mai apropiați k vecini)</vt:lpstr>
      <vt:lpstr> k-Nearest Neighbors - kNN</vt:lpstr>
      <vt:lpstr>Unde suntem:</vt:lpstr>
      <vt:lpstr>Evaluarea Modelului</vt:lpstr>
      <vt:lpstr>Evaluarea Erorilor</vt:lpstr>
      <vt:lpstr>Evaluarea Erorilor</vt:lpstr>
      <vt:lpstr>Evaluarea Erorilor</vt:lpstr>
      <vt:lpstr>Evaluarea Erorilor</vt:lpstr>
      <vt:lpstr>Evaluarea Erorilor</vt:lpstr>
      <vt:lpstr>Evaluarea Erorilor</vt:lpstr>
      <vt:lpstr>Evaluarea Erorilor</vt:lpstr>
      <vt:lpstr>Evaluarea Erorilor</vt:lpstr>
      <vt:lpstr>Unde am ajuns:</vt:lpstr>
      <vt:lpstr>Compararea modelelor</vt:lpstr>
      <vt:lpstr>Compararea modelelor</vt:lpstr>
      <vt:lpstr>Evaluarea modelului</vt:lpstr>
      <vt:lpstr>Evaluarea modelului</vt:lpstr>
      <vt:lpstr>Evaluarea modelului</vt:lpstr>
      <vt:lpstr>R-pătrat (R-squared)</vt:lpstr>
      <vt:lpstr>Media erorilor absolute la predicție – MAE, MAPE</vt:lpstr>
      <vt:lpstr>Recapitulare</vt:lpstr>
      <vt:lpstr>Regresie Liniară Simplă</vt:lpstr>
      <vt:lpstr>Planul cursului </vt:lpstr>
      <vt:lpstr>Planul cursului </vt:lpstr>
      <vt:lpstr>Modele liniare</vt:lpstr>
      <vt:lpstr>Regresie liniară</vt:lpstr>
      <vt:lpstr>Planul cursului </vt:lpstr>
      <vt:lpstr>Estimarea coeficienților de regresie </vt:lpstr>
      <vt:lpstr>Estimarea coeficienților de regresie (cont)</vt:lpstr>
      <vt:lpstr>Estimarea coeficienților de regresie (cont) </vt:lpstr>
      <vt:lpstr>Estimarea coeficienților de regresie (cont) </vt:lpstr>
      <vt:lpstr>Estimarea coeficienților de regresie (cont) </vt:lpstr>
      <vt:lpstr>Estimarea coeficienților de regresie (cont) </vt:lpstr>
      <vt:lpstr>Estimarea coeficienților de regresie: metoda exactă</vt:lpstr>
      <vt:lpstr>Estimarea coeficienților de regresie:  gradient descent </vt:lpstr>
      <vt:lpstr>Estimarea coeficienților de regresie:  gradient descent </vt:lpstr>
      <vt:lpstr>Estimarea coeficienților de regresie:  gradient descent </vt:lpstr>
      <vt:lpstr>Estimarea coeficienților de regresie:  gradient descent </vt:lpstr>
      <vt:lpstr>Gradient Descent: considerații</vt:lpstr>
      <vt:lpstr>Gradient Descent: considerații</vt:lpstr>
      <vt:lpstr>Interpretarea Predictorilor</vt:lpstr>
      <vt:lpstr>Planul cursului </vt:lpstr>
      <vt:lpstr>Intervale de încredere pentru estimările predictorilor</vt:lpstr>
      <vt:lpstr>Intervale de încredere pentru estimările predictorilor (cont)</vt:lpstr>
      <vt:lpstr>Intervale de încredere pentru estimările predictorilor (cont)</vt:lpstr>
      <vt:lpstr>Intervale de încredere pentru estimările predictorilor (cont)</vt:lpstr>
      <vt:lpstr>Intervale de încredere pentru estimările predictorilor (cont)</vt:lpstr>
      <vt:lpstr>Intervale de încredere pentru estimările predictorilor (cont)</vt:lpstr>
      <vt:lpstr>Intervale de încredere pentru estimările predictorilor (cont)</vt:lpstr>
      <vt:lpstr>Intervale de încredere pentru estimările predictorilor (cont)</vt:lpstr>
      <vt:lpstr>Intervale de încredere pentru estimările predictorilor (cont)</vt:lpstr>
      <vt:lpstr>Intervale de încredere pentru estimările predictorilor (cont)</vt:lpstr>
      <vt:lpstr>Intervale de încredere pentru estimările predictorilor (cont)</vt:lpstr>
      <vt:lpstr>Bootstrapping pentru Estimarea Erorii de Eșantionare</vt:lpstr>
      <vt:lpstr>Bootstrapping pentru Estimarea Erorii de Eșantionare</vt:lpstr>
      <vt:lpstr>Cât de bine cunoaștem modelul f ̂? </vt:lpstr>
      <vt:lpstr>Cât de bine cunoaștem modelul f ̂? </vt:lpstr>
      <vt:lpstr>Cât de bine cunoaștem modelul f ̂? </vt:lpstr>
      <vt:lpstr>Cât de bine cunoaștem modelul f ̂? </vt:lpstr>
      <vt:lpstr>Cât de bine cunoaștem modelul f ̂? </vt:lpstr>
      <vt:lpstr>Cât de bine cunoaștem modelul f ̂? </vt:lpstr>
      <vt:lpstr>Cât de bine cunoaștem modelul f ̂? </vt:lpstr>
      <vt:lpstr>Încrederea în predicțiile y ̂</vt:lpstr>
      <vt:lpstr>Încrederea în predicțiile y ̂</vt:lpstr>
      <vt:lpstr>Încrederea în predicțiile y ̂</vt:lpstr>
      <vt:lpstr>Cross-validare</vt:lpstr>
    </vt:vector>
  </TitlesOfParts>
  <Company>harvard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pavlos protopapas</dc:creator>
  <cp:lastModifiedBy>Stefan Bildea</cp:lastModifiedBy>
  <cp:revision>523</cp:revision>
  <cp:lastPrinted>2019-09-16T01:37:26Z</cp:lastPrinted>
  <dcterms:created xsi:type="dcterms:W3CDTF">2018-04-18T18:49:01Z</dcterms:created>
  <dcterms:modified xsi:type="dcterms:W3CDTF">2025-11-11T22:11:26Z</dcterms:modified>
</cp:coreProperties>
</file>