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055" r:id="rId1"/>
  </p:sldMasterIdLst>
  <p:notesMasterIdLst>
    <p:notesMasterId r:id="rId70"/>
  </p:notesMasterIdLst>
  <p:sldIdLst>
    <p:sldId id="256" r:id="rId2"/>
    <p:sldId id="259" r:id="rId3"/>
    <p:sldId id="383" r:id="rId4"/>
    <p:sldId id="262" r:id="rId5"/>
    <p:sldId id="268" r:id="rId6"/>
    <p:sldId id="311" r:id="rId7"/>
    <p:sldId id="269" r:id="rId8"/>
    <p:sldId id="270" r:id="rId9"/>
    <p:sldId id="264" r:id="rId10"/>
    <p:sldId id="363" r:id="rId11"/>
    <p:sldId id="366" r:id="rId12"/>
    <p:sldId id="384" r:id="rId13"/>
    <p:sldId id="260" r:id="rId14"/>
    <p:sldId id="371" r:id="rId15"/>
    <p:sldId id="372" r:id="rId16"/>
    <p:sldId id="361" r:id="rId17"/>
    <p:sldId id="362" r:id="rId18"/>
    <p:sldId id="271" r:id="rId19"/>
    <p:sldId id="312" r:id="rId20"/>
    <p:sldId id="313" r:id="rId21"/>
    <p:sldId id="314" r:id="rId22"/>
    <p:sldId id="315" r:id="rId23"/>
    <p:sldId id="352" r:id="rId24"/>
    <p:sldId id="316" r:id="rId25"/>
    <p:sldId id="317" r:id="rId26"/>
    <p:sldId id="321" r:id="rId27"/>
    <p:sldId id="319" r:id="rId28"/>
    <p:sldId id="322" r:id="rId29"/>
    <p:sldId id="323" r:id="rId30"/>
    <p:sldId id="353" r:id="rId31"/>
    <p:sldId id="354" r:id="rId32"/>
    <p:sldId id="285" r:id="rId33"/>
    <p:sldId id="287" r:id="rId34"/>
    <p:sldId id="286" r:id="rId35"/>
    <p:sldId id="388" r:id="rId36"/>
    <p:sldId id="389" r:id="rId37"/>
    <p:sldId id="307" r:id="rId38"/>
    <p:sldId id="344" r:id="rId39"/>
    <p:sldId id="345" r:id="rId40"/>
    <p:sldId id="346" r:id="rId41"/>
    <p:sldId id="347" r:id="rId42"/>
    <p:sldId id="348" r:id="rId43"/>
    <p:sldId id="349" r:id="rId44"/>
    <p:sldId id="350" r:id="rId45"/>
    <p:sldId id="343" r:id="rId46"/>
    <p:sldId id="308" r:id="rId47"/>
    <p:sldId id="386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331" r:id="rId56"/>
    <p:sldId id="333" r:id="rId57"/>
    <p:sldId id="295" r:id="rId58"/>
    <p:sldId id="359" r:id="rId59"/>
    <p:sldId id="360" r:id="rId60"/>
    <p:sldId id="297" r:id="rId61"/>
    <p:sldId id="379" r:id="rId62"/>
    <p:sldId id="387" r:id="rId63"/>
    <p:sldId id="332" r:id="rId64"/>
    <p:sldId id="334" r:id="rId65"/>
    <p:sldId id="335" r:id="rId66"/>
    <p:sldId id="385" r:id="rId67"/>
    <p:sldId id="357" r:id="rId68"/>
    <p:sldId id="356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CE8"/>
    <a:srgbClr val="1E7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012BB-5E04-4345-8E55-EED74C4D8FDF}" v="44" dt="2025-12-03T13:47:46.722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67"/>
    <p:restoredTop sz="87750" autoAdjust="0"/>
  </p:normalViewPr>
  <p:slideViewPr>
    <p:cSldViewPr snapToGrid="0" snapToObjects="1">
      <p:cViewPr varScale="1">
        <p:scale>
          <a:sx n="72" d="100"/>
          <a:sy n="72" d="100"/>
        </p:scale>
        <p:origin x="91" y="317"/>
      </p:cViewPr>
      <p:guideLst>
        <p:guide orient="horz" pos="22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0C28CB8B-D633-48A1-8252-973CD3B09C26}"/>
    <pc:docChg chg="undo custSel addSld delSld modSld sldOrd">
      <pc:chgData name="Stefan Bildea" userId="14ee9846484ecb5c" providerId="LiveId" clId="{0C28CB8B-D633-48A1-8252-973CD3B09C26}" dt="2025-12-03T13:55:35.652" v="450" actId="47"/>
      <pc:docMkLst>
        <pc:docMk/>
      </pc:docMkLst>
      <pc:sldChg chg="modSp mod">
        <pc:chgData name="Stefan Bildea" userId="14ee9846484ecb5c" providerId="LiveId" clId="{0C28CB8B-D633-48A1-8252-973CD3B09C26}" dt="2025-12-03T13:55:29.832" v="449" actId="20577"/>
        <pc:sldMkLst>
          <pc:docMk/>
          <pc:sldMk cId="1797788642" sldId="285"/>
        </pc:sldMkLst>
        <pc:spChg chg="mod">
          <ac:chgData name="Stefan Bildea" userId="14ee9846484ecb5c" providerId="LiveId" clId="{0C28CB8B-D633-48A1-8252-973CD3B09C26}" dt="2025-12-03T13:55:29.832" v="449" actId="20577"/>
          <ac:spMkLst>
            <pc:docMk/>
            <pc:sldMk cId="1797788642" sldId="285"/>
            <ac:spMk id="2" creationId="{00000000-0000-0000-0000-000000000000}"/>
          </ac:spMkLst>
        </pc:spChg>
      </pc:sldChg>
      <pc:sldChg chg="addSp delSp modSp mod ord">
        <pc:chgData name="Stefan Bildea" userId="14ee9846484ecb5c" providerId="LiveId" clId="{0C28CB8B-D633-48A1-8252-973CD3B09C26}" dt="2025-12-03T13:32:51.348" v="154" actId="1076"/>
        <pc:sldMkLst>
          <pc:docMk/>
          <pc:sldMk cId="894932799" sldId="286"/>
        </pc:sldMkLst>
        <pc:spChg chg="add del">
          <ac:chgData name="Stefan Bildea" userId="14ee9846484ecb5c" providerId="LiveId" clId="{0C28CB8B-D633-48A1-8252-973CD3B09C26}" dt="2025-12-03T13:29:01.357" v="39" actId="478"/>
          <ac:spMkLst>
            <pc:docMk/>
            <pc:sldMk cId="894932799" sldId="286"/>
            <ac:spMk id="4" creationId="{2532BB4F-C312-A5C4-2453-32DB45475D3E}"/>
          </ac:spMkLst>
        </pc:spChg>
        <pc:spChg chg="add mod">
          <ac:chgData name="Stefan Bildea" userId="14ee9846484ecb5c" providerId="LiveId" clId="{0C28CB8B-D633-48A1-8252-973CD3B09C26}" dt="2025-12-03T13:32:01.406" v="118" actId="1076"/>
          <ac:spMkLst>
            <pc:docMk/>
            <pc:sldMk cId="894932799" sldId="286"/>
            <ac:spMk id="5" creationId="{51A351AE-BAB7-F53E-C7A3-A768DB268BBD}"/>
          </ac:spMkLst>
        </pc:spChg>
        <pc:spChg chg="add mod">
          <ac:chgData name="Stefan Bildea" userId="14ee9846484ecb5c" providerId="LiveId" clId="{0C28CB8B-D633-48A1-8252-973CD3B09C26}" dt="2025-12-03T13:31:55.018" v="117" actId="6549"/>
          <ac:spMkLst>
            <pc:docMk/>
            <pc:sldMk cId="894932799" sldId="286"/>
            <ac:spMk id="6" creationId="{DA18085D-8153-3B27-9119-462E552EA112}"/>
          </ac:spMkLst>
        </pc:spChg>
        <pc:spChg chg="add mod">
          <ac:chgData name="Stefan Bildea" userId="14ee9846484ecb5c" providerId="LiveId" clId="{0C28CB8B-D633-48A1-8252-973CD3B09C26}" dt="2025-12-03T13:32:51.348" v="154" actId="1076"/>
          <ac:spMkLst>
            <pc:docMk/>
            <pc:sldMk cId="894932799" sldId="286"/>
            <ac:spMk id="7" creationId="{F5FBB53B-119B-4DAA-BDED-900B095EE0E3}"/>
          </ac:spMkLst>
        </pc:spChg>
        <pc:spChg chg="add mod">
          <ac:chgData name="Stefan Bildea" userId="14ee9846484ecb5c" providerId="LiveId" clId="{0C28CB8B-D633-48A1-8252-973CD3B09C26}" dt="2025-12-03T13:32:38.854" v="151" actId="1076"/>
          <ac:spMkLst>
            <pc:docMk/>
            <pc:sldMk cId="894932799" sldId="286"/>
            <ac:spMk id="8" creationId="{CB1863CC-1A71-D814-ABA9-A2938003F4A6}"/>
          </ac:spMkLst>
        </pc:spChg>
      </pc:sldChg>
      <pc:sldChg chg="addSp delSp modSp mod modClrScheme chgLayout">
        <pc:chgData name="Stefan Bildea" userId="14ee9846484ecb5c" providerId="LiveId" clId="{0C28CB8B-D633-48A1-8252-973CD3B09C26}" dt="2025-12-03T13:33:22.380" v="195" actId="20577"/>
        <pc:sldMkLst>
          <pc:docMk/>
          <pc:sldMk cId="1999947032" sldId="287"/>
        </pc:sldMkLst>
        <pc:spChg chg="mod ord">
          <ac:chgData name="Stefan Bildea" userId="14ee9846484ecb5c" providerId="LiveId" clId="{0C28CB8B-D633-48A1-8252-973CD3B09C26}" dt="2025-12-03T13:18:57.727" v="2" actId="700"/>
          <ac:spMkLst>
            <pc:docMk/>
            <pc:sldMk cId="1999947032" sldId="287"/>
            <ac:spMk id="3" creationId="{00000000-0000-0000-0000-000000000000}"/>
          </ac:spMkLst>
        </pc:spChg>
        <pc:spChg chg="add del mod ord">
          <ac:chgData name="Stefan Bildea" userId="14ee9846484ecb5c" providerId="LiveId" clId="{0C28CB8B-D633-48A1-8252-973CD3B09C26}" dt="2025-12-03T13:18:57.727" v="2" actId="700"/>
          <ac:spMkLst>
            <pc:docMk/>
            <pc:sldMk cId="1999947032" sldId="287"/>
            <ac:spMk id="4" creationId="{F7BA8E9D-0AB6-47DE-95D7-86A2023BBB19}"/>
          </ac:spMkLst>
        </pc:spChg>
        <pc:spChg chg="add del mod ord">
          <ac:chgData name="Stefan Bildea" userId="14ee9846484ecb5c" providerId="LiveId" clId="{0C28CB8B-D633-48A1-8252-973CD3B09C26}" dt="2025-12-03T13:18:57.727" v="2" actId="700"/>
          <ac:spMkLst>
            <pc:docMk/>
            <pc:sldMk cId="1999947032" sldId="287"/>
            <ac:spMk id="5" creationId="{20D4435B-B225-DEFC-9932-22B5144A768D}"/>
          </ac:spMkLst>
        </pc:spChg>
        <pc:spChg chg="add mod">
          <ac:chgData name="Stefan Bildea" userId="14ee9846484ecb5c" providerId="LiveId" clId="{0C28CB8B-D633-48A1-8252-973CD3B09C26}" dt="2025-12-03T13:28:00.987" v="35" actId="20577"/>
          <ac:spMkLst>
            <pc:docMk/>
            <pc:sldMk cId="1999947032" sldId="287"/>
            <ac:spMk id="6" creationId="{ABEAAEBD-2C0A-BBB1-2598-3CFAF9CF3B05}"/>
          </ac:spMkLst>
        </pc:spChg>
        <pc:spChg chg="add mod">
          <ac:chgData name="Stefan Bildea" userId="14ee9846484ecb5c" providerId="LiveId" clId="{0C28CB8B-D633-48A1-8252-973CD3B09C26}" dt="2025-12-03T13:28:07.343" v="37" actId="12"/>
          <ac:spMkLst>
            <pc:docMk/>
            <pc:sldMk cId="1999947032" sldId="287"/>
            <ac:spMk id="7" creationId="{D7E34CCA-8A09-1D57-DC51-1D22FB8920B5}"/>
          </ac:spMkLst>
        </pc:spChg>
        <pc:spChg chg="mod ord">
          <ac:chgData name="Stefan Bildea" userId="14ee9846484ecb5c" providerId="LiveId" clId="{0C28CB8B-D633-48A1-8252-973CD3B09C26}" dt="2025-12-03T13:33:22.380" v="195" actId="20577"/>
          <ac:spMkLst>
            <pc:docMk/>
            <pc:sldMk cId="1999947032" sldId="287"/>
            <ac:spMk id="8" creationId="{BA63FC01-4D8D-4BE4-A56A-622BE476C3E8}"/>
          </ac:spMkLst>
        </pc:spChg>
        <pc:picChg chg="del">
          <ac:chgData name="Stefan Bildea" userId="14ee9846484ecb5c" providerId="LiveId" clId="{0C28CB8B-D633-48A1-8252-973CD3B09C26}" dt="2025-12-03T13:18:11.223" v="0" actId="478"/>
          <ac:picMkLst>
            <pc:docMk/>
            <pc:sldMk cId="1999947032" sldId="287"/>
            <ac:picMk id="2" creationId="{00000000-0000-0000-0000-000000000000}"/>
          </ac:picMkLst>
        </pc:picChg>
      </pc:sldChg>
      <pc:sldChg chg="del">
        <pc:chgData name="Stefan Bildea" userId="14ee9846484ecb5c" providerId="LiveId" clId="{0C28CB8B-D633-48A1-8252-973CD3B09C26}" dt="2025-12-03T13:55:35.652" v="450" actId="47"/>
        <pc:sldMkLst>
          <pc:docMk/>
          <pc:sldMk cId="987097670" sldId="381"/>
        </pc:sldMkLst>
      </pc:sldChg>
      <pc:sldChg chg="delSp mod">
        <pc:chgData name="Stefan Bildea" userId="14ee9846484ecb5c" providerId="LiveId" clId="{0C28CB8B-D633-48A1-8252-973CD3B09C26}" dt="2025-12-03T13:49:50.392" v="440" actId="478"/>
        <pc:sldMkLst>
          <pc:docMk/>
          <pc:sldMk cId="844306249" sldId="386"/>
        </pc:sldMkLst>
        <pc:spChg chg="del">
          <ac:chgData name="Stefan Bildea" userId="14ee9846484ecb5c" providerId="LiveId" clId="{0C28CB8B-D633-48A1-8252-973CD3B09C26}" dt="2025-12-03T13:49:50.392" v="440" actId="478"/>
          <ac:spMkLst>
            <pc:docMk/>
            <pc:sldMk cId="844306249" sldId="386"/>
            <ac:spMk id="4" creationId="{412452B4-40D5-1670-BF55-FE74ED0DBABC}"/>
          </ac:spMkLst>
        </pc:spChg>
      </pc:sldChg>
      <pc:sldChg chg="addSp delSp modSp new mod setBg modClrScheme chgLayout">
        <pc:chgData name="Stefan Bildea" userId="14ee9846484ecb5c" providerId="LiveId" clId="{0C28CB8B-D633-48A1-8252-973CD3B09C26}" dt="2025-12-03T13:47:44.813" v="428"/>
        <pc:sldMkLst>
          <pc:docMk/>
          <pc:sldMk cId="792057300" sldId="388"/>
        </pc:sldMkLst>
        <pc:spChg chg="mod ord">
          <ac:chgData name="Stefan Bildea" userId="14ee9846484ecb5c" providerId="LiveId" clId="{0C28CB8B-D633-48A1-8252-973CD3B09C26}" dt="2025-12-03T13:47:44.813" v="428"/>
          <ac:spMkLst>
            <pc:docMk/>
            <pc:sldMk cId="792057300" sldId="388"/>
            <ac:spMk id="2" creationId="{605A2579-A9DA-D517-5E37-02A37C8F9074}"/>
          </ac:spMkLst>
        </pc:spChg>
        <pc:spChg chg="mod ord">
          <ac:chgData name="Stefan Bildea" userId="14ee9846484ecb5c" providerId="LiveId" clId="{0C28CB8B-D633-48A1-8252-973CD3B09C26}" dt="2025-12-03T13:47:44.813" v="428"/>
          <ac:spMkLst>
            <pc:docMk/>
            <pc:sldMk cId="792057300" sldId="388"/>
            <ac:spMk id="3" creationId="{5F58E205-A37E-66FE-C88E-EDE0BFF4A449}"/>
          </ac:spMkLst>
        </pc:spChg>
        <pc:spChg chg="mod ord">
          <ac:chgData name="Stefan Bildea" userId="14ee9846484ecb5c" providerId="LiveId" clId="{0C28CB8B-D633-48A1-8252-973CD3B09C26}" dt="2025-12-03T13:47:44.813" v="428"/>
          <ac:spMkLst>
            <pc:docMk/>
            <pc:sldMk cId="792057300" sldId="388"/>
            <ac:spMk id="4" creationId="{FF93CBAE-A46B-CF71-5ED4-B877D1AE5D2B}"/>
          </ac:spMkLst>
        </pc:spChg>
        <pc:spChg chg="add del">
          <ac:chgData name="Stefan Bildea" userId="14ee9846484ecb5c" providerId="LiveId" clId="{0C28CB8B-D633-48A1-8252-973CD3B09C26}" dt="2025-12-03T13:19:40.261" v="13" actId="22"/>
          <ac:spMkLst>
            <pc:docMk/>
            <pc:sldMk cId="792057300" sldId="388"/>
            <ac:spMk id="6" creationId="{935B530E-3095-0F14-4CEC-26BE26C2E260}"/>
          </ac:spMkLst>
        </pc:spChg>
        <pc:spChg chg="add del mod ord">
          <ac:chgData name="Stefan Bildea" userId="14ee9846484ecb5c" providerId="LiveId" clId="{0C28CB8B-D633-48A1-8252-973CD3B09C26}" dt="2025-12-03T13:45:44.219" v="408" actId="700"/>
          <ac:spMkLst>
            <pc:docMk/>
            <pc:sldMk cId="792057300" sldId="388"/>
            <ac:spMk id="7" creationId="{7D82425D-7655-7CDA-8568-6300ACF10F75}"/>
          </ac:spMkLst>
        </pc:spChg>
      </pc:sldChg>
      <pc:sldChg chg="addSp delSp modSp add mod setBg modClrScheme chgLayout">
        <pc:chgData name="Stefan Bildea" userId="14ee9846484ecb5c" providerId="LiveId" clId="{0C28CB8B-D633-48A1-8252-973CD3B09C26}" dt="2025-12-03T13:49:31.151" v="439" actId="20577"/>
        <pc:sldMkLst>
          <pc:docMk/>
          <pc:sldMk cId="2522452356" sldId="389"/>
        </pc:sldMkLst>
        <pc:spChg chg="mod ord">
          <ac:chgData name="Stefan Bildea" userId="14ee9846484ecb5c" providerId="LiveId" clId="{0C28CB8B-D633-48A1-8252-973CD3B09C26}" dt="2025-12-03T13:46:25.511" v="410" actId="108"/>
          <ac:spMkLst>
            <pc:docMk/>
            <pc:sldMk cId="2522452356" sldId="389"/>
            <ac:spMk id="2" creationId="{77A49895-C18E-2EC7-DCEB-5A488330AEAE}"/>
          </ac:spMkLst>
        </pc:spChg>
        <pc:spChg chg="mod ord">
          <ac:chgData name="Stefan Bildea" userId="14ee9846484ecb5c" providerId="LiveId" clId="{0C28CB8B-D633-48A1-8252-973CD3B09C26}" dt="2025-12-03T13:49:31.151" v="439" actId="20577"/>
          <ac:spMkLst>
            <pc:docMk/>
            <pc:sldMk cId="2522452356" sldId="389"/>
            <ac:spMk id="3" creationId="{70E2281F-D0E3-6945-D994-4DB420903940}"/>
          </ac:spMkLst>
        </pc:spChg>
        <pc:spChg chg="mod ord">
          <ac:chgData name="Stefan Bildea" userId="14ee9846484ecb5c" providerId="LiveId" clId="{0C28CB8B-D633-48A1-8252-973CD3B09C26}" dt="2025-12-03T13:47:46.722" v="429"/>
          <ac:spMkLst>
            <pc:docMk/>
            <pc:sldMk cId="2522452356" sldId="389"/>
            <ac:spMk id="4" creationId="{A85F4522-C964-D8FF-3323-DD5A825C6790}"/>
          </ac:spMkLst>
        </pc:spChg>
        <pc:spChg chg="add del mod ord">
          <ac:chgData name="Stefan Bildea" userId="14ee9846484ecb5c" providerId="LiveId" clId="{0C28CB8B-D633-48A1-8252-973CD3B09C26}" dt="2025-12-03T13:42:27.525" v="388" actId="700"/>
          <ac:spMkLst>
            <pc:docMk/>
            <pc:sldMk cId="2522452356" sldId="389"/>
            <ac:spMk id="5" creationId="{220DFCE2-85F6-56FF-D49D-13AC909DFBA5}"/>
          </ac:spMkLst>
        </pc:spChg>
        <pc:cxnChg chg="add mod">
          <ac:chgData name="Stefan Bildea" userId="14ee9846484ecb5c" providerId="LiveId" clId="{0C28CB8B-D633-48A1-8252-973CD3B09C26}" dt="2025-12-03T13:43:23.422" v="395" actId="13822"/>
          <ac:cxnSpMkLst>
            <pc:docMk/>
            <pc:sldMk cId="2522452356" sldId="389"/>
            <ac:cxnSpMk id="7" creationId="{32CF2783-2549-D458-AA8C-A44773E8158D}"/>
          </ac:cxnSpMkLst>
        </pc:cxnChg>
      </pc:sldChg>
      <pc:sldChg chg="add del">
        <pc:chgData name="Stefan Bildea" userId="14ee9846484ecb5c" providerId="LiveId" clId="{0C28CB8B-D633-48A1-8252-973CD3B09C26}" dt="2025-12-03T13:42:49.966" v="392"/>
        <pc:sldMkLst>
          <pc:docMk/>
          <pc:sldMk cId="178680914" sldId="390"/>
        </pc:sldMkLst>
      </pc:sldChg>
      <pc:sldChg chg="add del">
        <pc:chgData name="Stefan Bildea" userId="14ee9846484ecb5c" providerId="LiveId" clId="{0C28CB8B-D633-48A1-8252-973CD3B09C26}" dt="2025-12-03T13:44:50.634" v="406"/>
        <pc:sldMkLst>
          <pc:docMk/>
          <pc:sldMk cId="371881853" sldId="390"/>
        </pc:sldMkLst>
      </pc:sldChg>
      <pc:sldChg chg="add del">
        <pc:chgData name="Stefan Bildea" userId="14ee9846484ecb5c" providerId="LiveId" clId="{0C28CB8B-D633-48A1-8252-973CD3B09C26}" dt="2025-12-03T13:41:47.765" v="384"/>
        <pc:sldMkLst>
          <pc:docMk/>
          <pc:sldMk cId="1613546120" sldId="390"/>
        </pc:sldMkLst>
      </pc:sldChg>
      <pc:sldChg chg="add del">
        <pc:chgData name="Stefan Bildea" userId="14ee9846484ecb5c" providerId="LiveId" clId="{0C28CB8B-D633-48A1-8252-973CD3B09C26}" dt="2025-12-03T13:42:44.577" v="390"/>
        <pc:sldMkLst>
          <pc:docMk/>
          <pc:sldMk cId="4034366345" sldId="390"/>
        </pc:sldMkLst>
      </pc:sldChg>
    </pc:docChg>
  </pc:docChgLst>
  <pc:docChgLst>
    <pc:chgData name="Stefan Bildea" userId="14ee9846484ecb5c" providerId="LiveId" clId="{44190A50-DAC9-4FDC-BF86-75F4E4CD1A46}"/>
    <pc:docChg chg="custSel modSld">
      <pc:chgData name="Stefan Bildea" userId="14ee9846484ecb5c" providerId="LiveId" clId="{44190A50-DAC9-4FDC-BF86-75F4E4CD1A46}" dt="2025-11-18T20:32:23.887" v="12" actId="20577"/>
      <pc:docMkLst>
        <pc:docMk/>
      </pc:docMkLst>
      <pc:sldChg chg="delSp mod">
        <pc:chgData name="Stefan Bildea" userId="14ee9846484ecb5c" providerId="LiveId" clId="{44190A50-DAC9-4FDC-BF86-75F4E4CD1A46}" dt="2025-11-18T20:29:08.528" v="0" actId="478"/>
        <pc:sldMkLst>
          <pc:docMk/>
          <pc:sldMk cId="1253814274" sldId="315"/>
        </pc:sldMkLst>
      </pc:sldChg>
      <pc:sldChg chg="modSp mod modAnim">
        <pc:chgData name="Stefan Bildea" userId="14ee9846484ecb5c" providerId="LiveId" clId="{44190A50-DAC9-4FDC-BF86-75F4E4CD1A46}" dt="2025-11-18T20:30:46.865" v="8" actId="20577"/>
        <pc:sldMkLst>
          <pc:docMk/>
          <pc:sldMk cId="2119404418" sldId="319"/>
        </pc:sldMkLst>
        <pc:spChg chg="mod">
          <ac:chgData name="Stefan Bildea" userId="14ee9846484ecb5c" providerId="LiveId" clId="{44190A50-DAC9-4FDC-BF86-75F4E4CD1A46}" dt="2025-11-18T20:29:55.441" v="1" actId="20577"/>
          <ac:spMkLst>
            <pc:docMk/>
            <pc:sldMk cId="2119404418" sldId="319"/>
            <ac:spMk id="2" creationId="{00000000-0000-0000-0000-000000000000}"/>
          </ac:spMkLst>
        </pc:spChg>
        <pc:spChg chg="mod">
          <ac:chgData name="Stefan Bildea" userId="14ee9846484ecb5c" providerId="LiveId" clId="{44190A50-DAC9-4FDC-BF86-75F4E4CD1A46}" dt="2025-11-18T20:30:46.865" v="8" actId="20577"/>
          <ac:spMkLst>
            <pc:docMk/>
            <pc:sldMk cId="2119404418" sldId="319"/>
            <ac:spMk id="3" creationId="{00000000-0000-0000-0000-000000000000}"/>
          </ac:spMkLst>
        </pc:spChg>
        <pc:spChg chg="mod">
          <ac:chgData name="Stefan Bildea" userId="14ee9846484ecb5c" providerId="LiveId" clId="{44190A50-DAC9-4FDC-BF86-75F4E4CD1A46}" dt="2025-11-18T20:30:36.946" v="7" actId="20577"/>
          <ac:spMkLst>
            <pc:docMk/>
            <pc:sldMk cId="2119404418" sldId="319"/>
            <ac:spMk id="6" creationId="{00000000-0000-0000-0000-000000000000}"/>
          </ac:spMkLst>
        </pc:spChg>
      </pc:sldChg>
      <pc:sldChg chg="modSp modAnim">
        <pc:chgData name="Stefan Bildea" userId="14ee9846484ecb5c" providerId="LiveId" clId="{44190A50-DAC9-4FDC-BF86-75F4E4CD1A46}" dt="2025-11-18T20:31:27.570" v="11" actId="20577"/>
        <pc:sldMkLst>
          <pc:docMk/>
          <pc:sldMk cId="1964606639" sldId="322"/>
        </pc:sldMkLst>
        <pc:spChg chg="mod">
          <ac:chgData name="Stefan Bildea" userId="14ee9846484ecb5c" providerId="LiveId" clId="{44190A50-DAC9-4FDC-BF86-75F4E4CD1A46}" dt="2025-11-18T20:31:27.570" v="11" actId="20577"/>
          <ac:spMkLst>
            <pc:docMk/>
            <pc:sldMk cId="1964606639" sldId="322"/>
            <ac:spMk id="3" creationId="{00000000-0000-0000-0000-000000000000}"/>
          </ac:spMkLst>
        </pc:spChg>
      </pc:sldChg>
      <pc:sldChg chg="modSp mod">
        <pc:chgData name="Stefan Bildea" userId="14ee9846484ecb5c" providerId="LiveId" clId="{44190A50-DAC9-4FDC-BF86-75F4E4CD1A46}" dt="2025-11-18T20:32:23.887" v="12" actId="20577"/>
        <pc:sldMkLst>
          <pc:docMk/>
          <pc:sldMk cId="1163718001" sldId="354"/>
        </pc:sldMkLst>
        <pc:spChg chg="mod">
          <ac:chgData name="Stefan Bildea" userId="14ee9846484ecb5c" providerId="LiveId" clId="{44190A50-DAC9-4FDC-BF86-75F4E4CD1A46}" dt="2025-11-18T20:32:23.887" v="12" actId="20577"/>
          <ac:spMkLst>
            <pc:docMk/>
            <pc:sldMk cId="1163718001" sldId="354"/>
            <ac:spMk id="2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0.45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1.63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7.01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08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44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8.81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1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39.54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  <inkml:trace contextRef="#ctx0" brushRef="#br0" timeOffset="1">3217 872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2.20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43.8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5.27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6.41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25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6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7.99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  <inkml:trace contextRef="#ctx0" brushRef="#br0" timeOffset="1">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36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58.7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6.93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7.96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31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8.68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036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  <inkml:trace contextRef="#ctx0" brushRef="#br0" timeOffset="1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42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5:29.784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4:42.12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4:45.083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5T20:44:57.96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916D4-D3FC-7E44-806B-AFE67B3FD2D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87189-9274-814D-9CD5-CBA9E19E0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95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887189-9274-814D-9CD5-CBA9E19E06C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5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56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CC1623-6B39-8543-823A-29D9E60F17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6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40.png"/><Relationship Id="rId18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customXml" Target="../ink/ink16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2.xml"/><Relationship Id="rId2" Type="http://schemas.openxmlformats.org/officeDocument/2006/relationships/image" Target="../media/image3.png"/><Relationship Id="rId16" Type="http://schemas.openxmlformats.org/officeDocument/2006/relationships/customXml" Target="../ink/ink11.xml"/><Relationship Id="rId20" Type="http://schemas.openxmlformats.org/officeDocument/2006/relationships/customXml" Target="../ink/ink15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5" Type="http://schemas.openxmlformats.org/officeDocument/2006/relationships/image" Target="../media/image30.png"/><Relationship Id="rId15" Type="http://schemas.openxmlformats.org/officeDocument/2006/relationships/customXml" Target="../ink/ink10.xml"/><Relationship Id="rId10" Type="http://schemas.openxmlformats.org/officeDocument/2006/relationships/customXml" Target="../ink/ink6.xml"/><Relationship Id="rId19" Type="http://schemas.openxmlformats.org/officeDocument/2006/relationships/customXml" Target="../ink/ink14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9.xml"/><Relationship Id="rId22" Type="http://schemas.openxmlformats.org/officeDocument/2006/relationships/customXml" Target="../ink/ink1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customXml" Target="../ink/ink24.xml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12" Type="http://schemas.openxmlformats.org/officeDocument/2006/relationships/customXml" Target="../ink/ink2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18.xml"/><Relationship Id="rId11" Type="http://schemas.openxmlformats.org/officeDocument/2006/relationships/customXml" Target="../ink/ink22.xml"/><Relationship Id="rId5" Type="http://schemas.openxmlformats.org/officeDocument/2006/relationships/image" Target="../media/image4.png"/><Relationship Id="rId10" Type="http://schemas.openxmlformats.org/officeDocument/2006/relationships/customXml" Target="../ink/ink21.xml"/><Relationship Id="rId4" Type="http://schemas.openxmlformats.org/officeDocument/2006/relationships/image" Target="../media/image3.png"/><Relationship Id="rId9" Type="http://schemas.openxmlformats.org/officeDocument/2006/relationships/customXml" Target="../ink/ink20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9490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400" b="0" i="0" baseline="0">
                <a:solidFill>
                  <a:srgbClr val="464646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r>
              <a:rPr lang="en-US"/>
              <a:t>Lecture #: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00" y="2958528"/>
            <a:ext cx="802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CS109A Introduction to Data Science</a:t>
            </a:r>
            <a:endParaRPr lang="en-US" sz="2400" b="0" i="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Protopapas,</a:t>
            </a:r>
            <a:r>
              <a:rPr lang="en-US" sz="2400" b="0" i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Kevin Rader and Chris Tanner</a:t>
            </a:r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4475134" y="4428549"/>
            <a:ext cx="3154320" cy="1764795"/>
            <a:chOff x="3383860" y="4092499"/>
            <a:chExt cx="1774304" cy="1102997"/>
          </a:xfrm>
        </p:grpSpPr>
        <p:pic>
          <p:nvPicPr>
            <p:cNvPr id="13" name="Picture 12" descr="iacs.png"/>
            <p:cNvPicPr>
              <a:picLocks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3860" y="4092501"/>
              <a:ext cx="874886" cy="1102995"/>
            </a:xfrm>
            <a:prstGeom prst="rect">
              <a:avLst/>
            </a:prstGeom>
          </p:spPr>
        </p:pic>
        <p:pic>
          <p:nvPicPr>
            <p:cNvPr id="14" name="Picture 13" descr="harvard.png"/>
            <p:cNvPicPr>
              <a:picLocks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769" y="4092499"/>
              <a:ext cx="874395" cy="1102995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7" name="Picture 6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8" name="Picture 7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746" y="6400800"/>
            <a:ext cx="2287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Conten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1" name="Picture 10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94902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sz="3400" b="0" i="0" baseline="0">
                <a:solidFill>
                  <a:srgbClr val="464646"/>
                </a:solidFill>
                <a:latin typeface="Karla" charset="0"/>
                <a:ea typeface="Karla" charset="0"/>
                <a:cs typeface="Karla" charset="0"/>
              </a:defRPr>
            </a:lvl1pPr>
          </a:lstStyle>
          <a:p>
            <a:r>
              <a:rPr lang="ro-RO" dirty="0"/>
              <a:t>Curs</a:t>
            </a:r>
            <a:r>
              <a:rPr lang="en-US" dirty="0"/>
              <a:t> #: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82800" y="2958528"/>
            <a:ext cx="802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3200" kern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Karla" charset="0"/>
                <a:ea typeface="Karla" charset="0"/>
                <a:cs typeface="Karla" charset="0"/>
              </a:rPr>
              <a:t>ADS1</a:t>
            </a:r>
            <a:endParaRPr lang="en-US" sz="2400" b="0" i="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  <a:p>
            <a:pPr algn="ctr"/>
            <a:r>
              <a:rPr lang="ro-RO"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Karla" charset="0"/>
                <a:ea typeface="Karla" charset="0"/>
                <a:cs typeface="Karla" charset="0"/>
              </a:rPr>
              <a:t>Teodor-Ștefan Bîldea</a:t>
            </a:r>
            <a:endParaRPr lang="en-US" sz="2400" b="0" i="0" dirty="0">
              <a:solidFill>
                <a:schemeClr val="tx1">
                  <a:lumMod val="75000"/>
                  <a:lumOff val="25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4F978E-AB5A-4EF8-9169-97393E45D4EF}"/>
              </a:ext>
            </a:extLst>
          </p:cNvPr>
          <p:cNvGrpSpPr/>
          <p:nvPr userDrawn="1"/>
        </p:nvGrpSpPr>
        <p:grpSpPr>
          <a:xfrm>
            <a:off x="4573239" y="4103661"/>
            <a:ext cx="3098800" cy="1504984"/>
            <a:chOff x="5420732" y="4428552"/>
            <a:chExt cx="2741961" cy="1313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FF51675-7BEC-4D30-9AFA-8F57E1E826D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AC716E-D964-4FCD-B25A-2C8E424ADA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AD6993-E1DC-4309-A89E-A9286067D75D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BB25837-4C99-43BE-82BB-7791F37C2A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B2F48C4-D66A-462E-B412-07AC2533259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14:cNvPr>
              <p14:cNvContentPartPr/>
              <p14:nvPr userDrawn="1"/>
            </p14:nvContentPartPr>
            <p14:xfrm>
              <a:off x="5451429" y="666154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617F77-D016-430E-9084-4A62A0DAF2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2429" y="665254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14:cNvPr>
              <p14:cNvContentPartPr/>
              <p14:nvPr userDrawn="1"/>
            </p14:nvContentPartPr>
            <p14:xfrm>
              <a:off x="5494989" y="649594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92CAA3-2BE9-43EB-961C-5624C76E11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85989" y="64873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14:cNvPr>
              <p14:cNvContentPartPr/>
              <p14:nvPr userDrawn="1"/>
            </p14:nvContentPartPr>
            <p14:xfrm>
              <a:off x="5477709" y="6557143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345A17-F251-42C9-A678-28B52AD404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68709" y="654850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2F5F418-37C1-435C-B0E4-A547D23BB866}"/>
              </a:ext>
            </a:extLst>
          </p:cNvPr>
          <p:cNvGrpSpPr/>
          <p:nvPr/>
        </p:nvGrpSpPr>
        <p:grpSpPr>
          <a:xfrm>
            <a:off x="6784149" y="6478663"/>
            <a:ext cx="1158480" cy="313920"/>
            <a:chOff x="6784149" y="6478663"/>
            <a:chExt cx="115848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34603A-3554-49E1-91A9-90D5468504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D3985D9-7F05-4853-88B0-65632B0AA7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346F1A-5E63-44BE-9AA7-FAC5EBAF1F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8C21F62-2E96-4CCA-9AD4-EA1E1B6872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75149" y="64700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14:cNvPr>
                <p14:cNvContentPartPr/>
                <p14:nvPr userDrawn="1"/>
              </p14:nvContentPartPr>
              <p14:xfrm>
                <a:off x="6784149" y="6478663"/>
                <a:ext cx="1158480" cy="31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5795F83-762E-4B9D-B89D-F01A41F8835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75149" y="6470023"/>
                  <a:ext cx="117612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14:cNvPr>
              <p14:cNvContentPartPr/>
              <p14:nvPr userDrawn="1"/>
            </p14:nvContentPartPr>
            <p14:xfrm>
              <a:off x="9901389" y="6504943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F2D1880-E5EF-4259-9436-78ECCAAFD6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2389" y="64963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14:cNvPr>
              <p14:cNvContentPartPr/>
              <p14:nvPr userDrawn="1"/>
            </p14:nvContentPartPr>
            <p14:xfrm>
              <a:off x="9352749" y="3308503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3D8241-EC57-4040-A98E-A96DA46C72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4109" y="32998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14:cNvPr>
              <p14:cNvContentPartPr/>
              <p14:nvPr userDrawn="1"/>
            </p14:nvContentPartPr>
            <p14:xfrm>
              <a:off x="775029" y="6644263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AF526E8-6E2B-471E-8AF8-4D0CDF5F29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029" y="663526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F715B1-FC5B-438F-9591-681E83730B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7DC0CD7-EABA-4CED-985D-879755DEA7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05B70B4-470F-4A36-8BD9-7BFBF985DA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BB5F3E-CBE0-48B1-8789-7C3606D873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61B9389-4577-4319-BD57-ED7E5DAE82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14:cNvPr>
              <p14:cNvContentPartPr/>
              <p14:nvPr userDrawn="1"/>
            </p14:nvContentPartPr>
            <p14:xfrm>
              <a:off x="809589" y="6531223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C3D89F5-A352-4129-999B-6BDA1EF159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589" y="652222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Conten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951" y="357487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1" name="Picture 10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CE1402-E415-4CFD-BA45-D412A1A1E22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D8D1454-33B6-4F1D-83AF-7311DD9CF8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C2239C-A0A0-43D8-AB56-EBF6C71D484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14:cNvPr>
              <p14:cNvContentPartPr/>
              <p14:nvPr userDrawn="1"/>
            </p14:nvContentPartPr>
            <p14:xfrm>
              <a:off x="5677509" y="644374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78DB12-1C4F-4BDA-B944-ABDBFF2A96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68869" y="643474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511744A-4631-44F2-A9F5-9E58F9520181}"/>
              </a:ext>
            </a:extLst>
          </p:cNvPr>
          <p:cNvGrpSpPr/>
          <p:nvPr/>
        </p:nvGrpSpPr>
        <p:grpSpPr>
          <a:xfrm>
            <a:off x="5677509" y="6600703"/>
            <a:ext cx="360" cy="360"/>
            <a:chOff x="5677509" y="6600703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1F2FF3-B3EA-4C10-BBF1-B3AA98D767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61A54A-93E5-42B1-AD15-078AB00BCE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0275BBC-244F-428B-ABD9-6D47AF6B58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CB135F-355D-431E-B0FE-B41CA09029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14:cNvPr>
                <p14:cNvContentPartPr/>
                <p14:nvPr userDrawn="1"/>
              </p14:nvContentPartPr>
              <p14:xfrm>
                <a:off x="5677509" y="6600703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B1084F6-AB4C-46BA-9967-AC10661D706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869" y="659206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14:cNvPr>
              <p14:cNvContentPartPr/>
              <p14:nvPr userDrawn="1"/>
            </p14:nvContentPartPr>
            <p14:xfrm>
              <a:off x="5599389" y="660970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9BE68B-8435-4942-A94F-4CD236ED7E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90749" y="660070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206D7EC-7AC7-424B-A384-CE26A63C1C45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493416" cy="767276"/>
          </a:xfrm>
          <a:prstGeom prst="rect">
            <a:avLst/>
          </a:prstGeom>
          <a:ln>
            <a:noFill/>
          </a:ln>
        </p:spPr>
        <p:txBody>
          <a:bodyPr/>
          <a:lstStyle>
            <a:lvl1pPr algn="l">
              <a:defRPr>
                <a:solidFill>
                  <a:srgbClr val="46464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1177758"/>
            <a:ext cx="10327008" cy="211114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800">
                <a:solidFill>
                  <a:srgbClr val="464646"/>
                </a:solidFill>
                <a:latin typeface="Karla"/>
                <a:cs typeface="Karla"/>
              </a:defRPr>
            </a:lvl1pPr>
            <a:lvl2pPr>
              <a:defRPr sz="2400">
                <a:solidFill>
                  <a:srgbClr val="464646"/>
                </a:solidFill>
                <a:latin typeface="Karla"/>
                <a:cs typeface="Karla"/>
              </a:defRPr>
            </a:lvl2pPr>
            <a:lvl3pPr>
              <a:defRPr sz="2000">
                <a:solidFill>
                  <a:srgbClr val="464646"/>
                </a:solidFill>
                <a:latin typeface="Karla"/>
                <a:cs typeface="Karla"/>
              </a:defRPr>
            </a:lvl3pPr>
            <a:lvl4pPr>
              <a:defRPr sz="1800">
                <a:solidFill>
                  <a:srgbClr val="464646"/>
                </a:solidFill>
                <a:latin typeface="Karla"/>
                <a:cs typeface="Karla"/>
              </a:defRPr>
            </a:lvl4pPr>
            <a:lvl5pPr>
              <a:defRPr sz="1800">
                <a:solidFill>
                  <a:srgbClr val="464646"/>
                </a:solidFill>
                <a:latin typeface="Karla"/>
                <a:cs typeface="Karl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89856"/>
            <a:ext cx="12192000" cy="0"/>
          </a:xfrm>
          <a:prstGeom prst="line">
            <a:avLst/>
          </a:prstGeom>
          <a:ln w="9525" cmpd="sng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746" y="6400800"/>
            <a:ext cx="22878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2ADF759-97FB-491E-BBFD-EA87085CCB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6296849"/>
            <a:ext cx="609601" cy="28651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8766" y="4406903"/>
            <a:ext cx="9227518" cy="136207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A8E7AC-9713-48E3-B555-24E0455D22A5}"/>
              </a:ext>
            </a:extLst>
          </p:cNvPr>
          <p:cNvGrpSpPr/>
          <p:nvPr userDrawn="1"/>
        </p:nvGrpSpPr>
        <p:grpSpPr>
          <a:xfrm>
            <a:off x="1085385" y="4570946"/>
            <a:ext cx="946615" cy="423328"/>
            <a:chOff x="5420732" y="4428552"/>
            <a:chExt cx="2741961" cy="1313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52A14F-2825-4D28-8C16-CF956D98E56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EF0EFB-FBD4-4934-B7FE-36265DD5BAA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109057" y="6109785"/>
            <a:ext cx="12891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Pavlos Protopapas</a:t>
            </a:r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4" name="Picture 13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5" name="Picture 14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B4531E-22DB-4EE2-9EF8-3E39893CD0D3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719F49B-652A-4515-A341-17F90A9BA06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2BCEEF6-CB58-4AA2-B3C1-75147CC4CB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6" name="Picture 15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7" name="Picture 16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200EDA-1345-47B6-8C46-79894D34D23F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9216A0B-F649-4297-8FC8-424439526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198D62-93FA-42B2-8E95-1905986F76B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2" name="Picture 11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3" name="Picture 12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801572D-F2CB-4CF8-B06F-4DCAEEBE301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2FAA3C-C78F-4FB3-8A19-681E71D0D08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EED26DC-8270-4596-B6E6-388E0ECE81B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4665787-721E-4024-9717-7B149537F13B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457200" y="6400800"/>
            <a:ext cx="487418" cy="274320"/>
            <a:chOff x="8442646" y="6356350"/>
            <a:chExt cx="482609" cy="274320"/>
          </a:xfrm>
        </p:grpSpPr>
        <p:pic>
          <p:nvPicPr>
            <p:cNvPr id="10" name="Picture 9" descr="iacs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2646" y="6356350"/>
              <a:ext cx="244154" cy="274320"/>
            </a:xfrm>
            <a:prstGeom prst="rect">
              <a:avLst/>
            </a:prstGeom>
          </p:spPr>
        </p:pic>
        <p:pic>
          <p:nvPicPr>
            <p:cNvPr id="11" name="Picture 10" descr="harvard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6800" y="6356350"/>
              <a:ext cx="238455" cy="27432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BCCF41B-D47C-43CD-80E4-D3C90D579ABB}"/>
              </a:ext>
            </a:extLst>
          </p:cNvPr>
          <p:cNvGrpSpPr/>
          <p:nvPr userDrawn="1"/>
        </p:nvGrpSpPr>
        <p:grpSpPr>
          <a:xfrm>
            <a:off x="203200" y="6303124"/>
            <a:ext cx="946615" cy="423328"/>
            <a:chOff x="5420732" y="4428552"/>
            <a:chExt cx="2741961" cy="13139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5B057DC-CD1A-4923-9864-6361E676BC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/>
            <a:srcRect l="1666" t="20000" r="88842" b="64065"/>
            <a:stretch/>
          </p:blipFill>
          <p:spPr>
            <a:xfrm>
              <a:off x="6771269" y="4428552"/>
              <a:ext cx="1391424" cy="131395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98E0093-C42B-4A7C-92A9-4F2C94E520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/>
            <a:srcRect l="-640" t="16423" r="91494" b="67763"/>
            <a:stretch/>
          </p:blipFill>
          <p:spPr>
            <a:xfrm>
              <a:off x="5420732" y="4428552"/>
              <a:ext cx="1350537" cy="1313507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710340C-CB8E-43F4-9352-74EE385CD5D9}"/>
              </a:ext>
            </a:extLst>
          </p:cNvPr>
          <p:cNvSpPr txBox="1"/>
          <p:nvPr userDrawn="1"/>
        </p:nvSpPr>
        <p:spPr>
          <a:xfrm>
            <a:off x="5709849" y="6400800"/>
            <a:ext cx="8996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ADS1, B</a:t>
            </a:r>
            <a:r>
              <a:rPr lang="ro-RO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îldea</a:t>
            </a:r>
            <a:endParaRPr lang="en-US" sz="1100" cap="small" baseline="0" dirty="0">
              <a:solidFill>
                <a:schemeClr val="tx1">
                  <a:lumMod val="50000"/>
                  <a:lumOff val="50000"/>
                </a:schemeClr>
              </a:solidFill>
              <a:latin typeface="Karla" charset="0"/>
              <a:ea typeface="Karla" charset="0"/>
              <a:cs typeface="Karla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9958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2844800" cy="365125"/>
          </a:xfrm>
        </p:spPr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15747" y="6400800"/>
            <a:ext cx="2287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cap="small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Karla" charset="0"/>
                <a:ea typeface="Karla" charset="0"/>
                <a:cs typeface="Karla" charset="0"/>
              </a:rPr>
              <a:t>CS109A, Protopapas, Rader, Tanner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596482"/>
            <a:ext cx="10972800" cy="21111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41" y="951502"/>
            <a:ext cx="10972800" cy="7672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596482"/>
            <a:ext cx="10972800" cy="211114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A0A949C3-CFBA-402D-9AE6-6FC9DDC87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" y="5976691"/>
            <a:ext cx="609601" cy="28651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7CCDB-6D39-0547-B7B3-C80E39D65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56" r:id="rId4"/>
    <p:sldLayoutId id="2147484057" r:id="rId5"/>
    <p:sldLayoutId id="2147484058" r:id="rId6"/>
    <p:sldLayoutId id="2147483966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3970" r:id="rId13"/>
    <p:sldLayoutId id="2147483971" r:id="rId14"/>
    <p:sldLayoutId id="2147483972" r:id="rId15"/>
    <p:sldLayoutId id="2147484064" r:id="rId16"/>
    <p:sldLayoutId id="2147484065" r:id="rId17"/>
    <p:sldLayoutId id="2147484066" r:id="rId18"/>
    <p:sldLayoutId id="2147483975" r:id="rId19"/>
    <p:sldLayoutId id="2147484067" r:id="rId20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Karla"/>
          <a:ea typeface="+mj-ea"/>
          <a:cs typeface="Karla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7.xml"/><Relationship Id="rId5" Type="http://schemas.openxmlformats.org/officeDocument/2006/relationships/customXml" Target="../ink/ink26.xml"/><Relationship Id="rId4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iff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0.png"/><Relationship Id="rId5" Type="http://schemas.openxmlformats.org/officeDocument/2006/relationships/image" Target="../media/image56.png"/><Relationship Id="rId10" Type="http://schemas.openxmlformats.org/officeDocument/2006/relationships/image" Target="../media/image550.png"/><Relationship Id="rId4" Type="http://schemas.openxmlformats.org/officeDocument/2006/relationships/image" Target="../media/image450.png"/><Relationship Id="rId9" Type="http://schemas.openxmlformats.org/officeDocument/2006/relationships/image" Target="../media/image5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40.png"/><Relationship Id="rId7" Type="http://schemas.openxmlformats.org/officeDocument/2006/relationships/image" Target="../media/image6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2.png"/><Relationship Id="rId4" Type="http://schemas.openxmlformats.org/officeDocument/2006/relationships/image" Target="../media/image450.png"/><Relationship Id="rId9" Type="http://schemas.openxmlformats.org/officeDocument/2006/relationships/image" Target="../media/image55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twitter.com/wdaali999/status/1161973951565881345" TargetMode="Externa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4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0.png"/><Relationship Id="rId5" Type="http://schemas.openxmlformats.org/officeDocument/2006/relationships/image" Target="../media/image450.png"/><Relationship Id="rId4" Type="http://schemas.openxmlformats.org/officeDocument/2006/relationships/image" Target="../media/image63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0.png"/><Relationship Id="rId7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0.png"/><Relationship Id="rId5" Type="http://schemas.openxmlformats.org/officeDocument/2006/relationships/image" Target="../media/image680.png"/><Relationship Id="rId4" Type="http://schemas.openxmlformats.org/officeDocument/2006/relationships/image" Target="../media/image670.png"/><Relationship Id="rId9" Type="http://schemas.openxmlformats.org/officeDocument/2006/relationships/image" Target="../media/image7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94902"/>
            <a:ext cx="10363200" cy="1403898"/>
          </a:xfrm>
        </p:spPr>
        <p:txBody>
          <a:bodyPr lIns="91440" tIns="45720" rIns="91440" bIns="45720" anchor="t"/>
          <a:lstStyle/>
          <a:p>
            <a:r>
              <a:rPr lang="ro-RO" dirty="0"/>
              <a:t>Curs 7 - Regularizare în Regresie Liniară</a:t>
            </a:r>
            <a:br>
              <a:rPr lang="en-US" dirty="0"/>
            </a:b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23F779-D41F-428F-9762-8247F8E13963}"/>
              </a:ext>
            </a:extLst>
          </p:cNvPr>
          <p:cNvGrpSpPr/>
          <p:nvPr/>
        </p:nvGrpSpPr>
        <p:grpSpPr>
          <a:xfrm>
            <a:off x="6796720" y="4663040"/>
            <a:ext cx="360" cy="360"/>
            <a:chOff x="6796720" y="466304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31303D-E79D-4E10-8CD3-D83D268BA79C}"/>
                    </a:ext>
                  </a:extLst>
                </p14:cNvPr>
                <p14:cNvContentPartPr/>
                <p14:nvPr/>
              </p14:nvContentPartPr>
              <p14:xfrm>
                <a:off x="6796720" y="466304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31303D-E79D-4E10-8CD3-D83D268BA79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88080" y="4654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5B34546-48B0-4E32-AD87-2B304F4474E9}"/>
                    </a:ext>
                  </a:extLst>
                </p14:cNvPr>
                <p14:cNvContentPartPr/>
                <p14:nvPr/>
              </p14:nvContentPartPr>
              <p14:xfrm>
                <a:off x="6796720" y="4663040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5B34546-48B0-4E32-AD87-2B304F4474E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88080" y="4654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C94D5E9-EE61-4857-8E7D-30FCF1FA69FE}"/>
                  </a:ext>
                </a:extLst>
              </p14:cNvPr>
              <p14:cNvContentPartPr/>
              <p14:nvPr/>
            </p14:nvContentPartPr>
            <p14:xfrm>
              <a:off x="-558800" y="186872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C94D5E9-EE61-4857-8E7D-30FCF1FA69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67800" y="1860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99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Planul</a:t>
            </a:r>
            <a:r>
              <a:rPr lang="en-US" dirty="0"/>
              <a:t> </a:t>
            </a:r>
            <a:r>
              <a:rPr lang="en-US" dirty="0" err="1"/>
              <a:t>Cursului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/>
              <a:t>Overfitting/</a:t>
            </a:r>
            <a:r>
              <a:rPr lang="en-US" dirty="0" err="1"/>
              <a:t>Supraadaptare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Modelului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Cross Validation/</a:t>
            </a:r>
            <a:r>
              <a:rPr lang="en-US" dirty="0" err="1"/>
              <a:t>Validare</a:t>
            </a:r>
            <a:r>
              <a:rPr lang="en-US" dirty="0"/>
              <a:t> </a:t>
            </a:r>
            <a:r>
              <a:rPr lang="ro-RO" dirty="0"/>
              <a:t>încrucișată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Bias vs Varian</a:t>
            </a:r>
            <a:r>
              <a:rPr lang="ro-RO" dirty="0"/>
              <a:t>ță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 err="1"/>
              <a:t>Regulariza</a:t>
            </a:r>
            <a:r>
              <a:rPr lang="ro-RO" dirty="0"/>
              <a:t>re</a:t>
            </a:r>
            <a:r>
              <a:rPr lang="en-US" dirty="0"/>
              <a:t>: LASSO </a:t>
            </a:r>
            <a:r>
              <a:rPr lang="ro-RO" dirty="0"/>
              <a:t>și</a:t>
            </a:r>
            <a:r>
              <a:rPr lang="en-US" dirty="0"/>
              <a:t> Ridge</a:t>
            </a:r>
          </a:p>
          <a:p>
            <a:pPr>
              <a:spcAft>
                <a:spcPts val="1200"/>
              </a:spcAft>
            </a:pPr>
            <a:r>
              <a:rPr lang="ro-RO" dirty="0"/>
              <a:t>Metod de </a:t>
            </a:r>
            <a:r>
              <a:rPr lang="en-US" dirty="0" err="1"/>
              <a:t>Regulariza</a:t>
            </a:r>
            <a:r>
              <a:rPr lang="ro-RO" dirty="0"/>
              <a:t>re</a:t>
            </a:r>
            <a:r>
              <a:rPr lang="en-US" dirty="0"/>
              <a:t>: </a:t>
            </a:r>
            <a:r>
              <a:rPr lang="ro-RO" dirty="0"/>
              <a:t>O </a:t>
            </a:r>
            <a:r>
              <a:rPr lang="en-US" dirty="0" err="1"/>
              <a:t>Compar</a:t>
            </a:r>
            <a:r>
              <a:rPr lang="ro-RO" dirty="0"/>
              <a:t>ație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99E4-01CF-4818-9205-AC1273ED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Overfitting/</a:t>
            </a:r>
            <a:r>
              <a:rPr lang="en-US" b="1" dirty="0" err="1"/>
              <a:t>Supraadaptare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1EB14-6814-41AA-B2C7-42A59873F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F2CA-25F6-4108-80B6-FE942256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3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6CD32-5185-4AE3-8232-1724BD50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2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076DD-B600-401C-9F4B-E3A26B9EE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8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DE11-5E30-4B7B-BC5C-94F33735F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8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B2DF6-E6C2-441C-93A8-BD3EFC6E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1FB8-D0B3-418A-8037-529DEB76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6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7D28A0-2D74-4769-8AE2-993093AB6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9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940D-97DE-474D-B2E0-74925D5A3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54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Antrenare-Validare-Testare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>
                <a:solidFill>
                  <a:schemeClr val="accent2"/>
                </a:solidFill>
              </a:rPr>
              <a:t>Înrebare</a:t>
            </a:r>
            <a:r>
              <a:rPr lang="en-US" b="1" dirty="0">
                <a:solidFill>
                  <a:schemeClr val="accent2"/>
                </a:solidFill>
              </a:rPr>
              <a:t>:</a:t>
            </a:r>
          </a:p>
          <a:p>
            <a:r>
              <a:rPr lang="en-US" dirty="0"/>
              <a:t>	</a:t>
            </a:r>
            <a:r>
              <a:rPr lang="it-IT" dirty="0"/>
              <a:t>Cum ați raporta performanța modelului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	</a:t>
            </a:r>
            <a:r>
              <a:rPr lang="is-IS" dirty="0"/>
              <a:t>R2_test  = 0.52</a:t>
            </a:r>
          </a:p>
          <a:p>
            <a:r>
              <a:rPr lang="is-IS" dirty="0"/>
              <a:t>	R2_train(</a:t>
            </a:r>
            <a:r>
              <a:rPr lang="ro-RO" dirty="0"/>
              <a:t>grad</a:t>
            </a:r>
            <a:r>
              <a:rPr lang="is-IS" dirty="0"/>
              <a:t>=1) = 0.83</a:t>
            </a:r>
          </a:p>
          <a:p>
            <a:endParaRPr lang="is-IS" dirty="0"/>
          </a:p>
          <a:p>
            <a:endParaRPr lang="is-I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10</a:t>
            </a:fld>
            <a:endParaRPr lang="en-US"/>
          </a:p>
        </p:txBody>
      </p:sp>
      <p:sp>
        <p:nvSpPr>
          <p:cNvPr id="5" name="AutoShape 2" descr="mage result for train validation test split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mage result for train validation test spl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067" y="4210852"/>
            <a:ext cx="739140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38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20B9-1025-4D0B-AF5D-14169BCD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SELEcetarea modelului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07A18-434F-4922-A9FF-A381444E6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6057B-1AB2-4503-89CD-60248908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833A1-46C9-FB45-812F-A8AC7B5136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72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Selectarea Modelului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b="1" dirty="0" err="1"/>
              <a:t>Selecția</a:t>
            </a:r>
            <a:r>
              <a:rPr lang="en-US" sz="2500" b="1" dirty="0"/>
              <a:t> </a:t>
            </a:r>
            <a:r>
              <a:rPr lang="en-US" sz="2500" b="1" dirty="0" err="1"/>
              <a:t>modelului</a:t>
            </a:r>
            <a:r>
              <a:rPr lang="en-US" sz="2500" b="1" dirty="0"/>
              <a:t> </a:t>
            </a:r>
            <a:r>
              <a:rPr lang="en-US" sz="2500" dirty="0" err="1"/>
              <a:t>este</a:t>
            </a:r>
            <a:r>
              <a:rPr lang="en-US" sz="2500" dirty="0"/>
              <a:t> </a:t>
            </a:r>
            <a:r>
              <a:rPr lang="en-US" sz="2500" dirty="0" err="1"/>
              <a:t>aplicarea</a:t>
            </a:r>
            <a:r>
              <a:rPr lang="en-US" sz="2500" dirty="0"/>
              <a:t> </a:t>
            </a:r>
            <a:r>
              <a:rPr lang="en-US" sz="2500" dirty="0" err="1"/>
              <a:t>unei</a:t>
            </a:r>
            <a:r>
              <a:rPr lang="en-US" sz="2500" dirty="0"/>
              <a:t> </a:t>
            </a:r>
            <a:r>
              <a:rPr lang="en-US" sz="2500" dirty="0" err="1"/>
              <a:t>metode</a:t>
            </a:r>
            <a:r>
              <a:rPr lang="en-US" sz="2500" dirty="0"/>
              <a:t> </a:t>
            </a:r>
            <a:r>
              <a:rPr lang="ro-RO" sz="2500" dirty="0"/>
              <a:t>algoritmice</a:t>
            </a:r>
            <a:r>
              <a:rPr lang="en-US" sz="2500" dirty="0"/>
              <a:t> </a:t>
            </a:r>
            <a:r>
              <a:rPr lang="en-US" sz="2500" dirty="0" err="1"/>
              <a:t>pentru</a:t>
            </a:r>
            <a:r>
              <a:rPr lang="en-US" sz="2500" dirty="0"/>
              <a:t> a </a:t>
            </a:r>
            <a:r>
              <a:rPr lang="ro-RO" sz="2500" dirty="0"/>
              <a:t>balansa</a:t>
            </a:r>
            <a:r>
              <a:rPr lang="en-US" sz="2500" dirty="0"/>
              <a:t> </a:t>
            </a:r>
            <a:r>
              <a:rPr lang="en-US" sz="2500" dirty="0" err="1"/>
              <a:t>complexitatea</a:t>
            </a:r>
            <a:r>
              <a:rPr lang="en-US" sz="2500" dirty="0"/>
              <a:t> </a:t>
            </a:r>
            <a:r>
              <a:rPr lang="en-US" sz="2500" dirty="0" err="1"/>
              <a:t>modelului</a:t>
            </a:r>
            <a:r>
              <a:rPr lang="ro-RO" sz="2500" dirty="0"/>
              <a:t> cu eroare pe datele de antrenament/test</a:t>
            </a:r>
            <a:r>
              <a:rPr lang="en-US" sz="2500" dirty="0"/>
              <a:t>, de ex. </a:t>
            </a:r>
            <a:r>
              <a:rPr lang="en-US" sz="2500" dirty="0" err="1"/>
              <a:t>alegerea</a:t>
            </a:r>
            <a:r>
              <a:rPr lang="en-US" sz="2500" dirty="0"/>
              <a:t> </a:t>
            </a:r>
            <a:r>
              <a:rPr lang="en-US" sz="2500" dirty="0" err="1"/>
              <a:t>unui</a:t>
            </a:r>
            <a:r>
              <a:rPr lang="en-US" sz="2500" dirty="0"/>
              <a:t> subset de </a:t>
            </a:r>
            <a:r>
              <a:rPr lang="en-US" sz="2500" dirty="0" err="1"/>
              <a:t>predictori</a:t>
            </a:r>
            <a:r>
              <a:rPr lang="en-US" sz="2500" dirty="0"/>
              <a:t>, </a:t>
            </a:r>
            <a:r>
              <a:rPr lang="en-US" sz="2500" dirty="0" err="1"/>
              <a:t>alegerea</a:t>
            </a:r>
            <a:r>
              <a:rPr lang="en-US" sz="2500" dirty="0"/>
              <a:t> </a:t>
            </a:r>
            <a:r>
              <a:rPr lang="en-US" sz="2500" dirty="0" err="1"/>
              <a:t>gradului</a:t>
            </a:r>
            <a:r>
              <a:rPr lang="en-US" sz="2500" dirty="0"/>
              <a:t> </a:t>
            </a:r>
            <a:r>
              <a:rPr lang="en-US" sz="2500" dirty="0" err="1"/>
              <a:t>modelului</a:t>
            </a:r>
            <a:r>
              <a:rPr lang="en-US" sz="2500" dirty="0"/>
              <a:t> </a:t>
            </a:r>
            <a:r>
              <a:rPr lang="en-US" sz="2500" dirty="0" err="1"/>
              <a:t>polinomial</a:t>
            </a:r>
            <a:r>
              <a:rPr lang="en-US" sz="2500" dirty="0"/>
              <a:t> etc.</a:t>
            </a:r>
          </a:p>
          <a:p>
            <a:endParaRPr lang="en-US" sz="2500" dirty="0"/>
          </a:p>
          <a:p>
            <a:r>
              <a:rPr lang="en-US" sz="2500" dirty="0"/>
              <a:t>O </a:t>
            </a:r>
            <a:r>
              <a:rPr lang="en-US" sz="2500" dirty="0" err="1"/>
              <a:t>motivație</a:t>
            </a:r>
            <a:r>
              <a:rPr lang="en-US" sz="2500" dirty="0"/>
              <a:t> </a:t>
            </a:r>
            <a:r>
              <a:rPr lang="en-US" sz="2500" dirty="0" err="1"/>
              <a:t>puternică</a:t>
            </a:r>
            <a:r>
              <a:rPr lang="en-US" sz="2500" dirty="0"/>
              <a:t> </a:t>
            </a:r>
            <a:r>
              <a:rPr lang="en-US" sz="2500" dirty="0" err="1"/>
              <a:t>pentru</a:t>
            </a:r>
            <a:r>
              <a:rPr lang="en-US" sz="2500" dirty="0"/>
              <a:t> </a:t>
            </a:r>
            <a:r>
              <a:rPr lang="en-US" sz="2500" dirty="0" err="1"/>
              <a:t>efectuarea</a:t>
            </a:r>
            <a:r>
              <a:rPr lang="en-US" sz="2500" dirty="0"/>
              <a:t> </a:t>
            </a:r>
            <a:r>
              <a:rPr lang="en-US" sz="2500" dirty="0" err="1"/>
              <a:t>selecției</a:t>
            </a:r>
            <a:r>
              <a:rPr lang="en-US" sz="2500" dirty="0"/>
              <a:t> </a:t>
            </a:r>
            <a:r>
              <a:rPr lang="en-US" sz="2500" dirty="0" err="1"/>
              <a:t>modelului</a:t>
            </a:r>
            <a:r>
              <a:rPr lang="en-US" sz="2500" dirty="0"/>
              <a:t> </a:t>
            </a:r>
            <a:r>
              <a:rPr lang="en-US" sz="2500" dirty="0" err="1"/>
              <a:t>este</a:t>
            </a:r>
            <a:r>
              <a:rPr lang="en-US" sz="2500" dirty="0"/>
              <a:t> de a </a:t>
            </a:r>
            <a:r>
              <a:rPr lang="en-US" sz="2500" dirty="0" err="1"/>
              <a:t>evita</a:t>
            </a:r>
            <a:r>
              <a:rPr lang="en-US" sz="2500" dirty="0"/>
              <a:t> </a:t>
            </a:r>
            <a:r>
              <a:rPr lang="en-US" sz="2500" dirty="0" err="1"/>
              <a:t>supraadaptarea</a:t>
            </a:r>
            <a:r>
              <a:rPr lang="en-US" sz="2500" dirty="0"/>
              <a:t>, </a:t>
            </a:r>
            <a:r>
              <a:rPr lang="en-US" sz="2500" dirty="0" err="1"/>
              <a:t>ceea</a:t>
            </a:r>
            <a:r>
              <a:rPr lang="en-US" sz="2500" dirty="0"/>
              <a:t> </a:t>
            </a:r>
            <a:r>
              <a:rPr lang="en-US" sz="2500" dirty="0" err="1"/>
              <a:t>ce</a:t>
            </a:r>
            <a:r>
              <a:rPr lang="en-US" sz="2500" dirty="0"/>
              <a:t> am </a:t>
            </a:r>
            <a:r>
              <a:rPr lang="en-US" sz="2500" dirty="0" err="1"/>
              <a:t>văzut</a:t>
            </a:r>
            <a:r>
              <a:rPr lang="en-US" sz="2500" dirty="0"/>
              <a:t> </a:t>
            </a:r>
            <a:r>
              <a:rPr lang="en-US" sz="2500" dirty="0" err="1"/>
              <a:t>că</a:t>
            </a:r>
            <a:r>
              <a:rPr lang="en-US" sz="2500" dirty="0"/>
              <a:t> se </a:t>
            </a:r>
            <a:r>
              <a:rPr lang="en-US" sz="2500" dirty="0" err="1"/>
              <a:t>poate</a:t>
            </a:r>
            <a:r>
              <a:rPr lang="en-US" sz="2500" dirty="0"/>
              <a:t> </a:t>
            </a:r>
            <a:r>
              <a:rPr lang="en-US" sz="2500" dirty="0" err="1"/>
              <a:t>întâmpla</a:t>
            </a:r>
            <a:r>
              <a:rPr lang="en-US" sz="2500" dirty="0"/>
              <a:t> </a:t>
            </a:r>
            <a:r>
              <a:rPr lang="en-US" sz="2500" dirty="0" err="1"/>
              <a:t>când</a:t>
            </a:r>
            <a:r>
              <a:rPr lang="en-US" sz="2500" dirty="0"/>
              <a:t>: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500" dirty="0"/>
              <a:t>sunt </a:t>
            </a:r>
            <a:r>
              <a:rPr lang="en-US" sz="2500" dirty="0" err="1"/>
              <a:t>prea</a:t>
            </a:r>
            <a:r>
              <a:rPr lang="en-US" sz="2500" dirty="0"/>
              <a:t> </a:t>
            </a:r>
            <a:r>
              <a:rPr lang="en-US" sz="2500" dirty="0" err="1"/>
              <a:t>mulți</a:t>
            </a:r>
            <a:r>
              <a:rPr lang="en-US" sz="2500" dirty="0"/>
              <a:t> </a:t>
            </a:r>
            <a:r>
              <a:rPr lang="en-US" sz="2500" dirty="0" err="1"/>
              <a:t>predictori</a:t>
            </a:r>
            <a:r>
              <a:rPr lang="en-US" sz="2500" dirty="0"/>
              <a:t>:</a:t>
            </a:r>
          </a:p>
          <a:p>
            <a:pPr marL="1085820" lvl="1" indent="-342900">
              <a:buFont typeface="Arial" charset="0"/>
              <a:buChar char="•"/>
            </a:pPr>
            <a:r>
              <a:rPr lang="en-US" sz="2000" dirty="0" err="1"/>
              <a:t>spațiul</a:t>
            </a:r>
            <a:r>
              <a:rPr lang="en-US" sz="2000" dirty="0"/>
              <a:t> </a:t>
            </a:r>
            <a:r>
              <a:rPr lang="en-US" sz="2000" dirty="0" err="1"/>
              <a:t>caracteristic</a:t>
            </a:r>
            <a:r>
              <a:rPr lang="ro-RO" sz="2000" dirty="0"/>
              <a:t>ilor</a:t>
            </a:r>
            <a:r>
              <a:rPr lang="en-US" sz="2000" dirty="0"/>
              <a:t> are o </a:t>
            </a:r>
            <a:r>
              <a:rPr lang="en-US" sz="2000" dirty="0" err="1"/>
              <a:t>dimensionalitate</a:t>
            </a:r>
            <a:r>
              <a:rPr lang="en-US" sz="2000" dirty="0"/>
              <a:t> </a:t>
            </a:r>
            <a:r>
              <a:rPr lang="en-US" sz="2000" dirty="0" err="1"/>
              <a:t>ridicată</a:t>
            </a:r>
            <a:r>
              <a:rPr lang="ro-RO" sz="2000" dirty="0"/>
              <a:t> (multe coloane)</a:t>
            </a:r>
            <a:endParaRPr lang="en-US" sz="2000" dirty="0"/>
          </a:p>
          <a:p>
            <a:pPr marL="1085820" lvl="1" indent="-342900">
              <a:buFont typeface="Arial" charset="0"/>
              <a:buChar char="•"/>
            </a:pPr>
            <a:r>
              <a:rPr lang="en-US" sz="2000" dirty="0" err="1"/>
              <a:t>gradul</a:t>
            </a:r>
            <a:r>
              <a:rPr lang="en-US" sz="2000" dirty="0"/>
              <a:t> </a:t>
            </a:r>
            <a:r>
              <a:rPr lang="en-US" sz="2000" dirty="0" err="1"/>
              <a:t>polinomial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prea</a:t>
            </a:r>
            <a:r>
              <a:rPr lang="en-US" sz="2000" dirty="0"/>
              <a:t> mare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b="1" dirty="0" err="1"/>
              <a:t>valorile</a:t>
            </a:r>
            <a:r>
              <a:rPr lang="en-US" sz="2400" dirty="0"/>
              <a:t> </a:t>
            </a:r>
            <a:r>
              <a:rPr lang="en-US" sz="2400" dirty="0" err="1"/>
              <a:t>coeficienților</a:t>
            </a:r>
            <a:r>
              <a:rPr lang="en-US" sz="2400" dirty="0"/>
              <a:t> sunt </a:t>
            </a:r>
            <a:r>
              <a:rPr lang="en-US" sz="2400" b="1" dirty="0" err="1"/>
              <a:t>prea</a:t>
            </a:r>
            <a:r>
              <a:rPr lang="en-US" sz="2400" b="1" dirty="0"/>
              <a:t> extreme (nu am </a:t>
            </a:r>
            <a:r>
              <a:rPr lang="en-US" sz="2400" b="1" dirty="0" err="1"/>
              <a:t>văzut</a:t>
            </a:r>
            <a:r>
              <a:rPr lang="en-US" sz="2400" b="1" dirty="0"/>
              <a:t> </a:t>
            </a:r>
            <a:r>
              <a:rPr lang="en-US" sz="2400" b="1" dirty="0" err="1"/>
              <a:t>asta</a:t>
            </a:r>
            <a:r>
              <a:rPr lang="en-US" sz="2400" b="1" dirty="0"/>
              <a:t> </a:t>
            </a:r>
            <a:r>
              <a:rPr lang="en-US" sz="2400" b="1" dirty="0" err="1"/>
              <a:t>încă</a:t>
            </a:r>
            <a:r>
              <a:rPr lang="en-US" sz="2400" b="1" dirty="0"/>
              <a:t>)</a:t>
            </a:r>
            <a:endParaRPr lang="en-US" b="1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92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Selectarea Modelului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b="1" dirty="0"/>
              <a:t>Întrebare</a:t>
            </a:r>
            <a:r>
              <a:rPr lang="en-US" sz="2400" b="1" dirty="0"/>
              <a:t>: </a:t>
            </a:r>
          </a:p>
          <a:p>
            <a:r>
              <a:rPr lang="en-US" sz="2400" dirty="0"/>
              <a:t>        </a:t>
            </a:r>
          </a:p>
          <a:p>
            <a:r>
              <a:rPr lang="en-US" sz="2400" dirty="0" err="1"/>
              <a:t>Câte</a:t>
            </a:r>
            <a:r>
              <a:rPr lang="en-US" sz="2400" dirty="0"/>
              <a:t> </a:t>
            </a:r>
            <a:r>
              <a:rPr lang="en-US" sz="2400" dirty="0" err="1"/>
              <a:t>modele</a:t>
            </a:r>
            <a:r>
              <a:rPr lang="en-US" sz="2400" dirty="0"/>
              <a:t> </a:t>
            </a:r>
            <a:r>
              <a:rPr lang="en-US" sz="2400" dirty="0" err="1"/>
              <a:t>diferite</a:t>
            </a:r>
            <a:r>
              <a:rPr lang="en-US" sz="2400" dirty="0"/>
              <a:t> </a:t>
            </a:r>
            <a:r>
              <a:rPr lang="ro-RO" sz="2400" dirty="0"/>
              <a:t>pot exista </a:t>
            </a:r>
            <a:r>
              <a:rPr lang="en-US" sz="2400" dirty="0" err="1"/>
              <a:t>atunci</a:t>
            </a:r>
            <a:r>
              <a:rPr lang="en-US" sz="2400" dirty="0"/>
              <a:t> </a:t>
            </a:r>
            <a:r>
              <a:rPr lang="en-US" sz="2400" dirty="0" err="1"/>
              <a:t>când</a:t>
            </a:r>
            <a:r>
              <a:rPr lang="en-US" sz="2400" dirty="0"/>
              <a:t> se </a:t>
            </a:r>
            <a:r>
              <a:rPr lang="en-US" sz="2400" dirty="0" err="1"/>
              <a:t>iau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considerare</a:t>
            </a:r>
            <a:r>
              <a:rPr lang="en-US" sz="2400" dirty="0"/>
              <a:t> </a:t>
            </a:r>
            <a:r>
              <a:rPr lang="ro-RO" sz="2400" dirty="0"/>
              <a:t>un număr de J </a:t>
            </a:r>
            <a:r>
              <a:rPr lang="en-US" sz="2400" dirty="0" err="1"/>
              <a:t>predictori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77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Selectarea Modelului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latin typeface="Karla" charset="0"/>
                    <a:ea typeface="Karla" charset="0"/>
                    <a:cs typeface="Karla" charset="0"/>
                  </a:rPr>
                  <a:t>Ex</a:t>
                </a:r>
                <a:r>
                  <a:rPr lang="ro-RO" sz="2400" b="1" dirty="0">
                    <a:latin typeface="Karla" charset="0"/>
                    <a:ea typeface="Karla" charset="0"/>
                    <a:cs typeface="Karla" charset="0"/>
                  </a:rPr>
                  <a:t>e</a:t>
                </a:r>
                <a:r>
                  <a:rPr lang="en-US" sz="2400" b="1" dirty="0" err="1">
                    <a:latin typeface="Karla" charset="0"/>
                    <a:ea typeface="Karla" charset="0"/>
                    <a:cs typeface="Karla" charset="0"/>
                  </a:rPr>
                  <a:t>mpl</a:t>
                </a:r>
                <a:r>
                  <a:rPr lang="ro-RO" sz="2400" b="1" dirty="0">
                    <a:latin typeface="Karla" charset="0"/>
                    <a:ea typeface="Karla" charset="0"/>
                    <a:cs typeface="Karla" charset="0"/>
                  </a:rPr>
                  <a:t>u</a:t>
                </a:r>
                <a:r>
                  <a:rPr lang="en-US" sz="2400" b="1" dirty="0">
                    <a:latin typeface="Karla" charset="0"/>
                    <a:ea typeface="Karla" charset="0"/>
                    <a:cs typeface="Karla" charset="0"/>
                  </a:rPr>
                  <a:t>:  3 predictor</a:t>
                </a:r>
                <a:r>
                  <a:rPr lang="ro-RO" sz="2400" b="1" dirty="0">
                    <a:latin typeface="Karla" charset="0"/>
                    <a:ea typeface="Karla" charset="0"/>
                    <a:cs typeface="Karla" charset="0"/>
                  </a:rPr>
                  <a:t>i</a:t>
                </a:r>
                <a:r>
                  <a:rPr lang="en-US" sz="2400" b="1" dirty="0">
                    <a:latin typeface="Karla" charset="0"/>
                    <a:ea typeface="Karla" charset="0"/>
                    <a:cs typeface="Karl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,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,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𝑿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Karla" charset="0"/>
                            <a:cs typeface="Karla" charset="0"/>
                          </a:rPr>
                          <m:t>𝟑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Karla" charset="0"/>
                        <a:cs typeface="Karla" charset="0"/>
                      </a:rPr>
                      <m:t>)</m:t>
                    </m:r>
                  </m:oMath>
                </a14:m>
                <a:endParaRPr lang="en-US" sz="2400" b="1" dirty="0">
                  <a:latin typeface="Karla" charset="0"/>
                  <a:ea typeface="Karla" charset="0"/>
                  <a:cs typeface="Karla" charset="0"/>
                </a:endParaRPr>
              </a:p>
              <a:p>
                <a:pPr marL="1041400">
                  <a:buFont typeface="Arial" charset="0"/>
                  <a:buChar char="•"/>
                </a:pPr>
                <a:r>
                  <a:rPr lang="en-US" sz="2000" dirty="0"/>
                  <a:t>	Model </a:t>
                </a:r>
                <a:r>
                  <a:rPr lang="ro-RO" sz="2000" dirty="0"/>
                  <a:t>cu</a:t>
                </a:r>
                <a:r>
                  <a:rPr lang="en-US" sz="2000" dirty="0"/>
                  <a:t> 0 predictor</a:t>
                </a:r>
                <a:r>
                  <a:rPr lang="ro-RO" sz="2000" dirty="0"/>
                  <a:t>i (de ex. Media)</a:t>
                </a:r>
                <a:r>
                  <a:rPr lang="en-US" sz="2000" dirty="0"/>
                  <a:t>:</a:t>
                </a:r>
              </a:p>
              <a:p>
                <a:pPr marL="1041400"/>
                <a:r>
                  <a:rPr lang="en-US" sz="2000" dirty="0"/>
                  <a:t>						M0: </a:t>
                </a:r>
              </a:p>
              <a:p>
                <a:pPr marL="1041400">
                  <a:buFont typeface="Arial" charset="0"/>
                  <a:buChar char="•"/>
                </a:pPr>
                <a:r>
                  <a:rPr lang="en-US" sz="2000" dirty="0"/>
                  <a:t>	Model</a:t>
                </a:r>
                <a:r>
                  <a:rPr lang="ro-RO" sz="2000" dirty="0"/>
                  <a:t>e</a:t>
                </a:r>
                <a:r>
                  <a:rPr lang="en-US" sz="2000" dirty="0"/>
                  <a:t> </a:t>
                </a:r>
                <a:r>
                  <a:rPr lang="ro-RO" sz="2000" dirty="0"/>
                  <a:t>cu</a:t>
                </a:r>
                <a:r>
                  <a:rPr lang="en-US" sz="2000" dirty="0"/>
                  <a:t> 1 predictor:  </a:t>
                </a:r>
              </a:p>
              <a:p>
                <a:pPr marL="1041400"/>
                <a:r>
                  <a:rPr lang="en-US" sz="2000" dirty="0"/>
                  <a:t>						M1: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1041400"/>
                <a:r>
                  <a:rPr lang="en-US" sz="2000" dirty="0"/>
                  <a:t>						M2: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1041400"/>
                <a:r>
                  <a:rPr lang="en-US" sz="2000" dirty="0"/>
                  <a:t>						M3: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1041400">
                  <a:buFont typeface="Arial" charset="0"/>
                  <a:buChar char="•"/>
                </a:pPr>
                <a:r>
                  <a:rPr lang="en-US" sz="2000" dirty="0"/>
                  <a:t>	Model</a:t>
                </a:r>
                <a:r>
                  <a:rPr lang="ro-RO" sz="2000" dirty="0"/>
                  <a:t>e</a:t>
                </a:r>
                <a:r>
                  <a:rPr lang="en-US" sz="2000" dirty="0"/>
                  <a:t> </a:t>
                </a:r>
                <a:r>
                  <a:rPr lang="ro-RO" sz="2000" dirty="0"/>
                  <a:t>cu</a:t>
                </a:r>
                <a:r>
                  <a:rPr lang="en-US" sz="2000" dirty="0"/>
                  <a:t> 2 predictor</a:t>
                </a:r>
                <a:r>
                  <a:rPr lang="ro-RO" sz="2000" dirty="0"/>
                  <a:t>i</a:t>
                </a:r>
                <a:r>
                  <a:rPr lang="en-US" sz="2000" dirty="0"/>
                  <a:t>: </a:t>
                </a:r>
              </a:p>
              <a:p>
                <a:pPr marL="1041400"/>
                <a:r>
                  <a:rPr lang="en-US" sz="2000" dirty="0"/>
                  <a:t>						M4: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1041400"/>
                <a:r>
                  <a:rPr lang="en-US" sz="2000" dirty="0"/>
                  <a:t>						M5: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{</m:t>
                        </m:r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1041400"/>
                <a:r>
                  <a:rPr lang="en-US" sz="2000" dirty="0"/>
                  <a:t>						M6: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{</m:t>
                        </m:r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1041400">
                  <a:buFont typeface="Arial" charset="0"/>
                  <a:buChar char="•"/>
                </a:pPr>
                <a:r>
                  <a:rPr lang="en-US" sz="2000" dirty="0"/>
                  <a:t>	Model</a:t>
                </a:r>
                <a:r>
                  <a:rPr lang="ro-RO" sz="2000" dirty="0"/>
                  <a:t>e</a:t>
                </a:r>
                <a:r>
                  <a:rPr lang="en-US" sz="2000" dirty="0"/>
                  <a:t> </a:t>
                </a:r>
                <a:r>
                  <a:rPr lang="ro-RO" sz="2000" dirty="0"/>
                  <a:t>cu</a:t>
                </a:r>
                <a:r>
                  <a:rPr lang="en-US" sz="2000" dirty="0"/>
                  <a:t> 3 predictor</a:t>
                </a:r>
                <a:r>
                  <a:rPr lang="ro-RO" sz="2000" dirty="0"/>
                  <a:t>i</a:t>
                </a:r>
                <a:r>
                  <a:rPr lang="en-US" sz="2000" dirty="0"/>
                  <a:t>: </a:t>
                </a:r>
              </a:p>
              <a:p>
                <a:pPr marL="1041400"/>
                <a:r>
                  <a:rPr lang="en-US" sz="2000" dirty="0"/>
                  <a:t>						M7: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b="-134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14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053943" y="1681843"/>
            <a:ext cx="3370217" cy="4129677"/>
            <a:chOff x="7053943" y="1681843"/>
            <a:chExt cx="3967843" cy="4718957"/>
          </a:xfrm>
        </p:grpSpPr>
        <p:sp>
          <p:nvSpPr>
            <p:cNvPr id="5" name="Right Brace 4"/>
            <p:cNvSpPr/>
            <p:nvPr/>
          </p:nvSpPr>
          <p:spPr>
            <a:xfrm>
              <a:off x="7053943" y="1681843"/>
              <a:ext cx="1028700" cy="4718957"/>
            </a:xfrm>
            <a:prstGeom prst="rightBrac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8876416" y="3761753"/>
                  <a:ext cx="2145370" cy="5527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charset="0"/>
                              </a:rPr>
                              <m:t>𝐽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charset="0"/>
                          </a:rPr>
                          <m:t>Model</m:t>
                        </m:r>
                        <m:r>
                          <m:rPr>
                            <m:sty m:val="p"/>
                          </m:rPr>
                          <a:rPr lang="ro-RO" sz="36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6416" y="3761753"/>
                  <a:ext cx="2145370" cy="552780"/>
                </a:xfrm>
                <a:prstGeom prst="rect">
                  <a:avLst/>
                </a:prstGeom>
                <a:blipFill>
                  <a:blip r:embed="rId3"/>
                  <a:stretch>
                    <a:fillRect r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453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Alegere pas cu pas a predictorilor și validare îmcrucișată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subseturilor</a:t>
            </a:r>
            <a:r>
              <a:rPr lang="en-US" dirty="0"/>
              <a:t> optime de </a:t>
            </a:r>
            <a:r>
              <a:rPr lang="en-US" dirty="0" err="1"/>
              <a:t>predictori</a:t>
            </a:r>
            <a:r>
              <a:rPr lang="en-US" dirty="0"/>
              <a:t> (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gradului</a:t>
            </a:r>
            <a:r>
              <a:rPr lang="en-US" dirty="0"/>
              <a:t> </a:t>
            </a:r>
            <a:r>
              <a:rPr lang="ro-RO" dirty="0"/>
              <a:t>pentru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polinomiale</a:t>
            </a:r>
            <a:r>
              <a:rPr lang="en-US" dirty="0"/>
              <a:t>) </a:t>
            </a:r>
            <a:r>
              <a:rPr lang="en-US" dirty="0" err="1"/>
              <a:t>prin</a:t>
            </a:r>
            <a:r>
              <a:rPr lang="en-US" dirty="0"/>
              <a:t>:</a:t>
            </a:r>
          </a:p>
          <a:p>
            <a:pPr marL="342900" indent="-342900">
              <a:spcAft>
                <a:spcPts val="1800"/>
              </a:spcAft>
              <a:buFont typeface="Arial" charset="0"/>
              <a:buChar char="•"/>
            </a:pPr>
            <a:r>
              <a:rPr lang="en-US" dirty="0" err="1"/>
              <a:t>selecție</a:t>
            </a:r>
            <a:r>
              <a:rPr lang="en-US" dirty="0"/>
              <a:t> </a:t>
            </a:r>
            <a:r>
              <a:rPr lang="ro-RO" dirty="0"/>
              <a:t>pas cu pas </a:t>
            </a:r>
            <a:r>
              <a:rPr lang="en-US" dirty="0"/>
              <a:t>- </a:t>
            </a:r>
            <a:r>
              <a:rPr lang="en-US" dirty="0" err="1"/>
              <a:t>construirea</a:t>
            </a:r>
            <a:r>
              <a:rPr lang="en-US" dirty="0"/>
              <a:t> </a:t>
            </a:r>
            <a:r>
              <a:rPr lang="en-US" dirty="0" err="1"/>
              <a:t>iterativă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subset </a:t>
            </a:r>
            <a:r>
              <a:rPr lang="en-US" dirty="0" err="1"/>
              <a:t>optim</a:t>
            </a:r>
            <a:r>
              <a:rPr lang="en-US" dirty="0"/>
              <a:t> de </a:t>
            </a:r>
            <a:r>
              <a:rPr lang="en-US" dirty="0" err="1"/>
              <a:t>predictori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optimizarea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metrici</a:t>
            </a:r>
            <a:r>
              <a:rPr lang="en-US" dirty="0"/>
              <a:t> </a:t>
            </a:r>
            <a:r>
              <a:rPr lang="ro-RO" dirty="0"/>
              <a:t>fixate </a:t>
            </a:r>
            <a:r>
              <a:rPr lang="en-US" dirty="0"/>
              <a:t>de </a:t>
            </a:r>
            <a:r>
              <a:rPr lang="en-US" dirty="0" err="1"/>
              <a:t>evaluare</a:t>
            </a:r>
            <a:r>
              <a:rPr lang="en-US" dirty="0"/>
              <a:t> a </a:t>
            </a:r>
            <a:r>
              <a:rPr lang="en-US" dirty="0" err="1"/>
              <a:t>modelului</a:t>
            </a:r>
            <a:r>
              <a:rPr lang="en-US" dirty="0"/>
              <a:t>,</a:t>
            </a:r>
          </a:p>
          <a:p>
            <a:pPr marL="342900" indent="-342900">
              <a:spcAft>
                <a:spcPts val="1800"/>
              </a:spcAft>
              <a:buFont typeface="Arial" charset="0"/>
              <a:buChar char="•"/>
            </a:pPr>
            <a:r>
              <a:rPr lang="en-US" dirty="0" err="1"/>
              <a:t>validare</a:t>
            </a:r>
            <a:r>
              <a:rPr lang="en-US" dirty="0"/>
              <a:t> -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model </a:t>
            </a:r>
            <a:r>
              <a:rPr lang="en-US" dirty="0" err="1"/>
              <a:t>optim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model pe </a:t>
            </a:r>
            <a:r>
              <a:rPr lang="en-US" dirty="0" err="1"/>
              <a:t>setul</a:t>
            </a:r>
            <a:r>
              <a:rPr lang="en-US" dirty="0"/>
              <a:t> de </a:t>
            </a:r>
            <a:r>
              <a:rPr lang="en-US" dirty="0" err="1"/>
              <a:t>validare</a:t>
            </a:r>
            <a:r>
              <a:rPr lang="en-US" dirty="0"/>
              <a:t>.</a:t>
            </a:r>
          </a:p>
          <a:p>
            <a:pPr>
              <a:spcAft>
                <a:spcPts val="1800"/>
              </a:spcAft>
            </a:pPr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aborda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descurajării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extreme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târziu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968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132" y="216531"/>
            <a:ext cx="11493416" cy="767276"/>
          </a:xfrm>
        </p:spPr>
        <p:txBody>
          <a:bodyPr/>
          <a:lstStyle/>
          <a:p>
            <a:r>
              <a:rPr lang="ro-RO" dirty="0"/>
              <a:t>Alegere pas cu pas a predictorilor</a:t>
            </a:r>
            <a:r>
              <a:rPr lang="en-US" dirty="0"/>
              <a:t>: </a:t>
            </a:r>
            <a:r>
              <a:rPr lang="ro-RO" dirty="0"/>
              <a:t>metoda selecției directe</a:t>
            </a:r>
            <a:br>
              <a:rPr lang="ro-RO" dirty="0"/>
            </a:br>
            <a:r>
              <a:rPr lang="en-US" i="1" dirty="0"/>
              <a:t>Forward </a:t>
            </a:r>
            <a:r>
              <a:rPr lang="ro-RO" i="1" dirty="0"/>
              <a:t>Seletion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4" y="1215455"/>
                <a:ext cx="10999133" cy="4687505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200" dirty="0"/>
                  <a:t>În </a:t>
                </a:r>
                <a:r>
                  <a:rPr lang="en-US" sz="2200" dirty="0" err="1"/>
                  <a:t>selecția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directă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găsim</a:t>
                </a:r>
                <a:r>
                  <a:rPr lang="en-US" sz="2200" dirty="0"/>
                  <a:t> un set „</a:t>
                </a:r>
                <a:r>
                  <a:rPr lang="en-US" sz="2200" dirty="0" err="1"/>
                  <a:t>optim</a:t>
                </a:r>
                <a:r>
                  <a:rPr lang="en-US" sz="2200" dirty="0"/>
                  <a:t>” de </a:t>
                </a:r>
                <a:r>
                  <a:rPr lang="en-US" sz="2200" dirty="0" err="1"/>
                  <a:t>predictori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prin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construirea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iterativă</a:t>
                </a:r>
                <a:r>
                  <a:rPr lang="en-US" sz="2200" dirty="0"/>
                  <a:t> a </a:t>
                </a:r>
                <a:r>
                  <a:rPr lang="en-US" sz="2200" dirty="0" err="1"/>
                  <a:t>setului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nostru</a:t>
                </a:r>
                <a:r>
                  <a:rPr lang="en-US" sz="22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200" b="1" dirty="0"/>
                  <a:t>1. </a:t>
                </a:r>
                <a:r>
                  <a:rPr lang="ro-RO" sz="2200" dirty="0"/>
                  <a:t>Pornim cu mulțimea vidă </a:t>
                </a:r>
                <a:r>
                  <a:rPr lang="en-US" sz="2200" dirty="0"/>
                  <a:t>P0, </a:t>
                </a:r>
                <a:r>
                  <a:rPr lang="en-US" sz="2200" dirty="0" err="1"/>
                  <a:t>constru</a:t>
                </a:r>
                <a:r>
                  <a:rPr lang="ro-RO" sz="2200" dirty="0"/>
                  <a:t>im modelul nul </a:t>
                </a:r>
                <a:r>
                  <a:rPr lang="en-US" sz="2200" dirty="0"/>
                  <a:t>M0.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200" b="1" dirty="0"/>
                  <a:t>2. </a:t>
                </a:r>
                <a:r>
                  <a:rPr lang="ro-RO" sz="2200" dirty="0"/>
                  <a:t>Pentru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</a:rPr>
                      <m:t>𝑘</m:t>
                    </m:r>
                    <m:r>
                      <a:rPr lang="en-US" sz="2200" b="0" i="1" smtClean="0">
                        <a:latin typeface="Cambria Math" charset="0"/>
                      </a:rPr>
                      <m:t>=1,…, </m:t>
                    </m:r>
                    <m:r>
                      <a:rPr lang="en-US" sz="2200" b="0" i="1" smtClean="0">
                        <a:latin typeface="Cambria Math" charset="0"/>
                      </a:rPr>
                      <m:t>𝐽</m:t>
                    </m:r>
                    <m:r>
                      <a:rPr lang="en-US" sz="2200" b="0" i="1" smtClean="0">
                        <a:latin typeface="Cambria Math" charset="0"/>
                      </a:rPr>
                      <m:t>:</m:t>
                    </m:r>
                  </m:oMath>
                </a14:m>
                <a:endParaRPr lang="en-US" sz="2200" b="0" dirty="0"/>
              </a:p>
              <a:p>
                <a:pPr>
                  <a:spcAft>
                    <a:spcPts val="600"/>
                  </a:spcAft>
                </a:pPr>
                <a:r>
                  <a:rPr lang="en-US" sz="2200" dirty="0"/>
                  <a:t>	</a:t>
                </a:r>
                <a:r>
                  <a:rPr lang="en-US" sz="2200" b="1" dirty="0"/>
                  <a:t> 2.1 </a:t>
                </a:r>
                <a:r>
                  <a:rPr lang="ro-RO" sz="2200" dirty="0"/>
                  <a:t>Fie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200" dirty="0"/>
                  <a:t>  </a:t>
                </a:r>
                <a:r>
                  <a:rPr lang="ro-RO" sz="2200" dirty="0"/>
                  <a:t>modelul construit pe cea mai bună selecție de</a:t>
                </a:r>
                <a14:m>
                  <m:oMath xmlns:m="http://schemas.openxmlformats.org/officeDocument/2006/math">
                    <m:r>
                      <a:rPr lang="ro-RO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charset="0"/>
                      </a:rPr>
                      <m:t>𝑘</m:t>
                    </m:r>
                    <m:r>
                      <a:rPr lang="en-US" sz="2200" b="0" i="1" smtClean="0">
                        <a:latin typeface="Cambria Math" charset="0"/>
                      </a:rPr>
                      <m:t>−1</m:t>
                    </m:r>
                    <m:r>
                      <a:rPr lang="en-US" sz="22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200" dirty="0"/>
                  <a:t>  predictor</a:t>
                </a:r>
                <a:r>
                  <a:rPr lang="ro-RO" sz="2200" dirty="0"/>
                  <a:t>i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2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200" dirty="0"/>
                  <a:t>	 </a:t>
                </a:r>
                <a:r>
                  <a:rPr lang="en-US" sz="2200" b="1" dirty="0"/>
                  <a:t>2.2</a:t>
                </a:r>
                <a:r>
                  <a:rPr lang="en-US" sz="2200" dirty="0"/>
                  <a:t> </a:t>
                </a:r>
                <a:r>
                  <a:rPr lang="ro-RO" sz="2200" dirty="0"/>
                  <a:t>Selectăm predictorul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 dirty="0"/>
                  <a:t>, </a:t>
                </a:r>
                <a:r>
                  <a:rPr lang="ro-RO" sz="2200" dirty="0"/>
                  <a:t>care să nu fie în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  <m:r>
                          <a:rPr lang="en-US" sz="2200" i="1">
                            <a:latin typeface="Cambria Math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200" dirty="0"/>
                  <a:t>, </a:t>
                </a:r>
                <a:r>
                  <a:rPr lang="ro-RO" sz="2200" dirty="0"/>
                  <a:t>așa încât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</m:sub>
                    </m:sSub>
                    <m:r>
                      <a:rPr lang="en-US" sz="22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∪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  <m:r>
                          <a:rPr lang="en-US" sz="2200" i="1">
                            <a:latin typeface="Cambria Math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200" dirty="0"/>
                  <a:t> </a:t>
                </a:r>
                <a:r>
                  <a:rPr lang="ro-RO" sz="2200" dirty="0"/>
                  <a:t>optimizează o metrică fixată</a:t>
                </a:r>
                <a:r>
                  <a:rPr lang="en-US" sz="2200" dirty="0"/>
                  <a:t> (</a:t>
                </a:r>
                <a:r>
                  <a:rPr lang="ro-RO" sz="2200" dirty="0"/>
                  <a:t>poate fi una din </a:t>
                </a:r>
                <a:r>
                  <a:rPr lang="en-US" sz="2200" dirty="0"/>
                  <a:t>p -value, F -stat; MSE</a:t>
                </a:r>
                <a:r>
                  <a:rPr lang="ro-RO" sz="2200" dirty="0"/>
                  <a:t> pe setul de validare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𝑅</m:t>
                        </m:r>
                      </m:e>
                      <m:sup>
                        <m:r>
                          <a:rPr lang="en-US" sz="22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</a:t>
                </a:r>
                <a:r>
                  <a:rPr lang="ro-RO" sz="2200" dirty="0"/>
                  <a:t>sau</a:t>
                </a:r>
                <a:r>
                  <a:rPr lang="en-US" sz="2200" dirty="0"/>
                  <a:t> AIC/BIC </a:t>
                </a:r>
                <a:r>
                  <a:rPr lang="ro-RO" sz="2200" dirty="0"/>
                  <a:t>pe setul de testare</a:t>
                </a:r>
                <a:r>
                  <a:rPr lang="en-US" sz="2200" dirty="0"/>
                  <a:t>).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200" dirty="0"/>
                  <a:t>	   </a:t>
                </a:r>
                <a:r>
                  <a:rPr lang="en-US" sz="2200" b="1" dirty="0"/>
                  <a:t>2.3 </a:t>
                </a:r>
                <a:r>
                  <a:rPr lang="ro-RO" sz="2200" dirty="0"/>
                  <a:t>Fie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ro-RO" sz="2200" dirty="0"/>
                  <a:t>modelul construit din submulțimea optimă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 dirty="0"/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200" b="1" dirty="0"/>
                  <a:t>3. </a:t>
                </a:r>
                <a:r>
                  <a:rPr lang="ro-RO" sz="2200" dirty="0"/>
                  <a:t>Alegem </a:t>
                </a:r>
                <a:r>
                  <a:rPr lang="en-US" sz="2200" dirty="0"/>
                  <a:t>model</a:t>
                </a:r>
                <a:r>
                  <a:rPr lang="ro-RO" sz="2200" dirty="0"/>
                  <a:t>ul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en-US" sz="2200" dirty="0"/>
                  <a:t> </a:t>
                </a:r>
                <a:r>
                  <a:rPr lang="ro-RO" sz="2200" dirty="0"/>
                  <a:t>din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</a:rPr>
                      <m:t>,…,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</a:rPr>
                          <m:t>𝑀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</a:rPr>
                          <m:t>𝐽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</a:rPr>
                      <m:t>}</m:t>
                    </m:r>
                    <m:r>
                      <a:rPr lang="en-US" sz="2200" i="1">
                        <a:latin typeface="Cambria Math" charset="0"/>
                      </a:rPr>
                      <m:t> </m:t>
                    </m:r>
                    <m:r>
                      <a:rPr lang="en-US" sz="22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200" dirty="0"/>
                  <a:t>care optimizează metrica aleasă</a:t>
                </a: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  <a:p>
                <a:pPr>
                  <a:spcAft>
                    <a:spcPts val="600"/>
                  </a:spcAft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4" y="1215455"/>
                <a:ext cx="10999133" cy="4687505"/>
              </a:xfrm>
              <a:blipFill>
                <a:blip r:embed="rId2"/>
                <a:stretch>
                  <a:fillRect l="-721" t="-780" r="-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17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Alegere pas cu pas a predictorilor: Complexitate de Calcul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ro-RO" sz="2400" dirty="0"/>
              <a:t>Câte modele vom evalua</a:t>
            </a:r>
            <a:r>
              <a:rPr lang="en-US" sz="2400" dirty="0"/>
              <a:t>?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Pas </a:t>
            </a:r>
            <a:r>
              <a:rPr lang="en-US" sz="2400" dirty="0"/>
              <a:t>1, </a:t>
            </a:r>
            <a:r>
              <a:rPr lang="en-US" sz="2400" b="1" i="1" dirty="0"/>
              <a:t>J</a:t>
            </a:r>
            <a:r>
              <a:rPr lang="en-US" sz="2400" b="1" dirty="0"/>
              <a:t> Model</a:t>
            </a:r>
            <a:r>
              <a:rPr lang="ro-RO" sz="2400" b="1" dirty="0"/>
              <a:t>e</a:t>
            </a:r>
            <a:endParaRPr lang="en-US" sz="2400" b="1" dirty="0"/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Pas 2</a:t>
            </a:r>
            <a:r>
              <a:rPr lang="en-US" sz="2400" dirty="0"/>
              <a:t>, </a:t>
            </a:r>
            <a:r>
              <a:rPr lang="en-US" sz="2400" i="1" dirty="0"/>
              <a:t>J-1</a:t>
            </a:r>
            <a:r>
              <a:rPr lang="en-US" sz="2400" dirty="0"/>
              <a:t> </a:t>
            </a:r>
            <a:r>
              <a:rPr lang="en-US" sz="2400" b="1" dirty="0"/>
              <a:t>Model</a:t>
            </a:r>
            <a:r>
              <a:rPr lang="ro-RO" sz="2400" b="1" dirty="0"/>
              <a:t>e</a:t>
            </a:r>
            <a:r>
              <a:rPr lang="en-US" sz="2400" dirty="0"/>
              <a:t> (</a:t>
            </a:r>
            <a:r>
              <a:rPr lang="ro-RO" sz="2400" dirty="0"/>
              <a:t>adăugam</a:t>
            </a:r>
            <a:r>
              <a:rPr lang="en-US" sz="2400" dirty="0"/>
              <a:t> 1 predictor </a:t>
            </a:r>
            <a:r>
              <a:rPr lang="ro-RO" sz="2400" dirty="0"/>
              <a:t>din</a:t>
            </a:r>
            <a:r>
              <a:rPr lang="en-US" sz="2400" dirty="0"/>
              <a:t> </a:t>
            </a:r>
            <a:r>
              <a:rPr lang="en-US" sz="2400" i="1" dirty="0"/>
              <a:t>J-1</a:t>
            </a:r>
            <a:r>
              <a:rPr lang="en-US" sz="2400" dirty="0"/>
              <a:t> </a:t>
            </a:r>
            <a:r>
              <a:rPr lang="en-US" sz="2400" dirty="0" err="1"/>
              <a:t>posib</a:t>
            </a:r>
            <a:r>
              <a:rPr lang="ro-RO" sz="2400" dirty="0"/>
              <a:t>i</a:t>
            </a:r>
            <a:r>
              <a:rPr lang="en-US" sz="2400" dirty="0"/>
              <a:t>le)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Pas 3</a:t>
            </a:r>
            <a:r>
              <a:rPr lang="en-US" sz="2400" dirty="0"/>
              <a:t>, </a:t>
            </a:r>
            <a:r>
              <a:rPr lang="en-US" sz="2400" i="1" dirty="0"/>
              <a:t>J-</a:t>
            </a:r>
            <a:r>
              <a:rPr lang="ro-RO" sz="2400" i="1" dirty="0"/>
              <a:t>2</a:t>
            </a:r>
            <a:r>
              <a:rPr lang="en-US" sz="2400" dirty="0"/>
              <a:t> </a:t>
            </a:r>
            <a:r>
              <a:rPr lang="en-US" sz="2400" b="1" dirty="0"/>
              <a:t>Model</a:t>
            </a:r>
            <a:r>
              <a:rPr lang="ro-RO" sz="2400" b="1" dirty="0"/>
              <a:t>e</a:t>
            </a:r>
            <a:r>
              <a:rPr lang="en-US" sz="2400" dirty="0"/>
              <a:t>(</a:t>
            </a:r>
            <a:r>
              <a:rPr lang="ro-RO" sz="2400" dirty="0"/>
              <a:t>adăugam</a:t>
            </a:r>
            <a:r>
              <a:rPr lang="en-US" sz="2400" dirty="0"/>
              <a:t> 1 predictor </a:t>
            </a:r>
            <a:r>
              <a:rPr lang="ro-RO" sz="2400" dirty="0"/>
              <a:t>din</a:t>
            </a:r>
            <a:r>
              <a:rPr lang="en-US" sz="2400" dirty="0"/>
              <a:t> </a:t>
            </a:r>
            <a:r>
              <a:rPr lang="en-US" sz="2400" i="1" dirty="0"/>
              <a:t>J-</a:t>
            </a:r>
            <a:r>
              <a:rPr lang="ro-RO" sz="2400" i="1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posib</a:t>
            </a:r>
            <a:r>
              <a:rPr lang="ro-RO" sz="2400" dirty="0"/>
              <a:t>i</a:t>
            </a:r>
            <a:r>
              <a:rPr lang="en-US" sz="2400" dirty="0"/>
              <a:t>le)</a:t>
            </a:r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mr-IN" sz="2400" dirty="0"/>
              <a:t>…</a:t>
            </a:r>
            <a:endParaRPr lang="ro-RO" sz="2400" dirty="0"/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endParaRPr lang="ro-RO" sz="2400" dirty="0"/>
          </a:p>
          <a:p>
            <a:pPr marL="457200" indent="-4572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Pentru un număr de coloane J mare (&gt; 100) devine oricum prohibitiv acest procedeu.  În mod curent se preferă modele care oferă o alternativă – vom vedea mai jos.</a:t>
            </a: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b="1" dirty="0"/>
          </a:p>
          <a:p>
            <a:pPr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24" y="4042113"/>
            <a:ext cx="4159687" cy="477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2551A4-3E80-4B8F-9F6A-33ADE987D1FA}"/>
              </a:ext>
            </a:extLst>
          </p:cNvPr>
          <p:cNvSpPr txBox="1"/>
          <p:nvPr/>
        </p:nvSpPr>
        <p:spPr>
          <a:xfrm>
            <a:off x="4373153" y="4039967"/>
            <a:ext cx="358736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o-RO" sz="2400" dirty="0"/>
              <a:t>pentru valori mari ale lui </a:t>
            </a:r>
            <a:r>
              <a:rPr lang="ro-RO" sz="2400" i="1" dirty="0"/>
              <a:t>J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46357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1520" y="4406903"/>
            <a:ext cx="9324764" cy="1362076"/>
          </a:xfrm>
        </p:spPr>
        <p:txBody>
          <a:bodyPr/>
          <a:lstStyle/>
          <a:p>
            <a:r>
              <a:rPr lang="en-US" dirty="0"/>
              <a:t>Cross Validation</a:t>
            </a:r>
            <a:r>
              <a:rPr lang="ro-RO" dirty="0"/>
              <a:t>/</a:t>
            </a:r>
            <a:br>
              <a:rPr lang="ro-RO" dirty="0"/>
            </a:br>
            <a:r>
              <a:rPr lang="ro-RO" dirty="0"/>
              <a:t>Validare Încrucișată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99530-1AB7-40C6-A834-7766497BD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7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r>
              <a:rPr lang="ro-RO" dirty="0"/>
              <a:t>/Validare Încrucișată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C661A-C7B9-4060-95C0-1CFC03E6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36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</a:t>
            </a:r>
            <a:r>
              <a:rPr lang="en-US" dirty="0" err="1"/>
              <a:t>Cross</a:t>
            </a:r>
            <a:r>
              <a:rPr lang="en-US" dirty="0"/>
              <a:t> Validation</a:t>
            </a:r>
            <a:r>
              <a:rPr lang="ro-RO" dirty="0"/>
              <a:t>/Validare Încrucișată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A8E3D-931A-4D74-963E-CA4761EC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90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r>
              <a:rPr lang="ro-RO" dirty="0"/>
              <a:t>/Validare Încrucișată</a:t>
            </a:r>
            <a:r>
              <a:rPr lang="en-US" dirty="0"/>
              <a:t> Validation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21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03235" y="5115339"/>
            <a:ext cx="344556" cy="238539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14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</a:t>
            </a:r>
            <a:r>
              <a:rPr lang="en-US" dirty="0" err="1"/>
              <a:t>ValidCross</a:t>
            </a:r>
            <a:r>
              <a:rPr lang="en-US" dirty="0"/>
              <a:t> Validation</a:t>
            </a:r>
            <a:r>
              <a:rPr lang="ro-RO" dirty="0"/>
              <a:t>/Validare Încrucișată</a:t>
            </a:r>
            <a:r>
              <a:rPr lang="en-US" dirty="0" err="1"/>
              <a:t>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38571-EACE-4F8D-AE76-DDE039319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03235" y="5115339"/>
            <a:ext cx="344556" cy="238539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12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</a:t>
            </a:r>
            <a:r>
              <a:rPr lang="ro-RO" dirty="0"/>
              <a:t>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6043-135B-494B-8F93-04C970699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58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r>
              <a:rPr lang="ro-RO" dirty="0"/>
              <a:t>/Validare Încrucișată</a:t>
            </a:r>
            <a:r>
              <a:rPr lang="en-US" dirty="0"/>
              <a:t>: Motiva</a:t>
            </a:r>
            <a:r>
              <a:rPr lang="ro-RO" dirty="0"/>
              <a:t>ție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b="1" dirty="0" err="1"/>
              <a:t>singur</a:t>
            </a:r>
            <a:r>
              <a:rPr lang="en-US" sz="2400" b="1" dirty="0"/>
              <a:t> set de </a:t>
            </a:r>
            <a:r>
              <a:rPr lang="en-US" sz="2400" b="1" dirty="0" err="1"/>
              <a:t>validare</a:t>
            </a:r>
            <a:r>
              <a:rPr lang="en-US" sz="2400" b="1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selecta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modele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problematică</a:t>
            </a:r>
            <a:r>
              <a:rPr lang="en-US" sz="2400" dirty="0"/>
              <a:t> - </a:t>
            </a:r>
            <a:r>
              <a:rPr lang="en-US" sz="2400" dirty="0" err="1"/>
              <a:t>există</a:t>
            </a:r>
            <a:r>
              <a:rPr lang="en-US" sz="2400" dirty="0"/>
              <a:t> </a:t>
            </a:r>
            <a:r>
              <a:rPr lang="en-US" sz="2400" dirty="0" err="1"/>
              <a:t>posibilitatea</a:t>
            </a:r>
            <a:r>
              <a:rPr lang="en-US" sz="2400" dirty="0"/>
              <a:t> de a se </a:t>
            </a:r>
            <a:r>
              <a:rPr lang="en-US" sz="2400" b="1" dirty="0"/>
              <a:t>supra</a:t>
            </a:r>
            <a:r>
              <a:rPr lang="ro-RO" sz="2400" b="1" dirty="0"/>
              <a:t>adapta</a:t>
            </a:r>
            <a:r>
              <a:rPr lang="en-US" sz="2400" b="1" dirty="0"/>
              <a:t> </a:t>
            </a:r>
            <a:r>
              <a:rPr lang="en-US" sz="2400" b="1" dirty="0" err="1"/>
              <a:t>setului</a:t>
            </a:r>
            <a:r>
              <a:rPr lang="en-US" sz="2400" b="1" dirty="0"/>
              <a:t> de </a:t>
            </a:r>
            <a:r>
              <a:rPr lang="en-US" sz="2400" b="1" dirty="0" err="1"/>
              <a:t>validare</a:t>
            </a:r>
            <a:r>
              <a:rPr lang="ro-RO" sz="2400" b="1" dirty="0"/>
              <a:t> </a:t>
            </a:r>
            <a:r>
              <a:rPr lang="ro-RO" sz="2400" dirty="0"/>
              <a:t>(</a:t>
            </a:r>
            <a:r>
              <a:rPr lang="ro-RO" sz="2400" b="1" i="1" dirty="0"/>
              <a:t>overfitting</a:t>
            </a:r>
            <a:r>
              <a:rPr lang="ro-RO" sz="2400" dirty="0"/>
              <a:t>)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O </a:t>
            </a:r>
            <a:r>
              <a:rPr lang="en-US" sz="2400" dirty="0" err="1"/>
              <a:t>soluție</a:t>
            </a:r>
            <a:r>
              <a:rPr lang="en-US" sz="2400" dirty="0"/>
              <a:t> la </a:t>
            </a:r>
            <a:r>
              <a:rPr lang="en-US" sz="2400" dirty="0" err="1"/>
              <a:t>problemele</a:t>
            </a:r>
            <a:r>
              <a:rPr lang="en-US" sz="2400" dirty="0"/>
              <a:t> </a:t>
            </a:r>
            <a:r>
              <a:rPr lang="en-US" sz="2400" dirty="0" err="1"/>
              <a:t>ridicate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dirty="0" err="1"/>
              <a:t>singur</a:t>
            </a:r>
            <a:r>
              <a:rPr lang="en-US" sz="2400" dirty="0"/>
              <a:t> set de </a:t>
            </a:r>
            <a:r>
              <a:rPr lang="en-US" sz="2400" dirty="0" err="1"/>
              <a:t>validare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evaluarea</a:t>
            </a:r>
            <a:r>
              <a:rPr lang="en-US" sz="2400" dirty="0"/>
              <a:t> </a:t>
            </a:r>
            <a:r>
              <a:rPr lang="en-US" sz="2400" dirty="0" err="1"/>
              <a:t>fiecărui</a:t>
            </a:r>
            <a:r>
              <a:rPr lang="en-US" sz="2400" dirty="0"/>
              <a:t> model pe </a:t>
            </a:r>
            <a:r>
              <a:rPr lang="en-US" sz="2400" b="1" dirty="0" err="1"/>
              <a:t>mai</a:t>
            </a:r>
            <a:r>
              <a:rPr lang="en-US" sz="2400" b="1" dirty="0"/>
              <a:t> </a:t>
            </a:r>
            <a:r>
              <a:rPr lang="en-US" sz="2400" b="1" dirty="0" err="1"/>
              <a:t>multe</a:t>
            </a:r>
            <a:r>
              <a:rPr lang="en-US" sz="2400" b="1" dirty="0"/>
              <a:t> </a:t>
            </a:r>
            <a:r>
              <a:rPr lang="en-US" sz="2400" b="1" dirty="0" err="1"/>
              <a:t>seturi</a:t>
            </a:r>
            <a:r>
              <a:rPr lang="en-US" sz="2400" b="1" dirty="0"/>
              <a:t> de </a:t>
            </a:r>
            <a:r>
              <a:rPr lang="en-US" sz="2400" b="1" dirty="0" err="1"/>
              <a:t>validare</a:t>
            </a:r>
            <a:r>
              <a:rPr lang="en-US" sz="2400" b="1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media </a:t>
            </a:r>
            <a:r>
              <a:rPr lang="en-US" sz="2400" dirty="0" err="1"/>
              <a:t>performanței</a:t>
            </a:r>
            <a:r>
              <a:rPr lang="en-US" sz="2400" dirty="0"/>
              <a:t> </a:t>
            </a:r>
            <a:r>
              <a:rPr lang="en-US" sz="2400" dirty="0" err="1"/>
              <a:t>validării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Se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împărți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chemeClr val="accent2"/>
                </a:solidFill>
              </a:rPr>
              <a:t>aleatoriu</a:t>
            </a:r>
            <a:r>
              <a:rPr lang="en-US" sz="2400" dirty="0"/>
              <a:t> </a:t>
            </a:r>
            <a:r>
              <a:rPr lang="en-US" sz="2400" dirty="0" err="1"/>
              <a:t>setul</a:t>
            </a:r>
            <a:r>
              <a:rPr lang="en-US" sz="2400" dirty="0"/>
              <a:t> de </a:t>
            </a:r>
            <a:r>
              <a:rPr lang="en-US" sz="2400" dirty="0" err="1"/>
              <a:t>antrenament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antrenament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validare</a:t>
            </a:r>
            <a:r>
              <a:rPr lang="en-US" sz="2400" dirty="0"/>
              <a:t> de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ori</a:t>
            </a:r>
            <a:r>
              <a:rPr lang="en-US" sz="2400" dirty="0"/>
              <a:t>, </a:t>
            </a:r>
            <a:r>
              <a:rPr lang="en-US" sz="2400" dirty="0" err="1"/>
              <a:t>dar</a:t>
            </a:r>
            <a:r>
              <a:rPr lang="en-US" sz="2400" dirty="0"/>
              <a:t> </a:t>
            </a:r>
            <a:r>
              <a:rPr lang="en-US" sz="2400" dirty="0" err="1"/>
              <a:t>crearea</a:t>
            </a:r>
            <a:r>
              <a:rPr lang="en-US" sz="2400" dirty="0"/>
              <a:t> </a:t>
            </a:r>
            <a:r>
              <a:rPr lang="en-US" sz="2400" dirty="0" err="1"/>
              <a:t>aleatorie</a:t>
            </a:r>
            <a:r>
              <a:rPr lang="en-US" sz="2400" dirty="0"/>
              <a:t> a </a:t>
            </a:r>
            <a:r>
              <a:rPr lang="en-US" sz="2400" dirty="0" err="1"/>
              <a:t>acestor</a:t>
            </a:r>
            <a:r>
              <a:rPr lang="en-US" sz="2400" dirty="0"/>
              <a:t> </a:t>
            </a:r>
            <a:r>
              <a:rPr lang="en-US" sz="2400" dirty="0" err="1"/>
              <a:t>seturi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crea</a:t>
            </a:r>
            <a:r>
              <a:rPr lang="en-US" sz="2400" dirty="0"/>
              <a:t> </a:t>
            </a:r>
            <a:r>
              <a:rPr lang="en-US" sz="2400" dirty="0" err="1"/>
              <a:t>scenariul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care </a:t>
            </a:r>
            <a:r>
              <a:rPr lang="en-US" sz="2400" dirty="0" err="1"/>
              <a:t>caracteristicile</a:t>
            </a:r>
            <a:r>
              <a:rPr lang="en-US" sz="2400" dirty="0"/>
              <a:t> </a:t>
            </a:r>
            <a:r>
              <a:rPr lang="en-US" sz="2400" dirty="0" err="1"/>
              <a:t>importante</a:t>
            </a:r>
            <a:r>
              <a:rPr lang="en-US" sz="2400" dirty="0"/>
              <a:t> ale </a:t>
            </a:r>
            <a:r>
              <a:rPr lang="en-US" sz="2400" dirty="0" err="1"/>
              <a:t>datelor</a:t>
            </a:r>
            <a:r>
              <a:rPr lang="en-US" sz="2400" dirty="0"/>
              <a:t> nu apar </a:t>
            </a:r>
            <a:r>
              <a:rPr lang="en-US" sz="2400" dirty="0" err="1"/>
              <a:t>niciodată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extragerile</a:t>
            </a:r>
            <a:r>
              <a:rPr lang="en-US" sz="2400" dirty="0"/>
              <a:t> </a:t>
            </a:r>
            <a:r>
              <a:rPr lang="en-US" sz="2400" dirty="0" err="1"/>
              <a:t>noastre</a:t>
            </a:r>
            <a:r>
              <a:rPr lang="en-US" sz="2400" dirty="0"/>
              <a:t> </a:t>
            </a:r>
            <a:r>
              <a:rPr lang="en-US" sz="2400" dirty="0" err="1"/>
              <a:t>aleatorii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7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  <a:r>
              <a:rPr lang="ro-RO" dirty="0"/>
              <a:t>/Validare Încrucișată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37" y="1497252"/>
            <a:ext cx="7770803" cy="439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0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</a:t>
            </a:r>
            <a:r>
              <a:rPr lang="ro-RO" dirty="0"/>
              <a:t>/Validare Încrucișată de </a:t>
            </a:r>
            <a:r>
              <a:rPr lang="en-US" dirty="0"/>
              <a:t>K</a:t>
            </a:r>
            <a:r>
              <a:rPr lang="ro-RO" dirty="0"/>
              <a:t> ori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3414" y="1177758"/>
                <a:ext cx="10444185" cy="5223042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/>
                  <a:t>Pentru a ne </a:t>
                </a:r>
                <a:r>
                  <a:rPr lang="en-US" sz="2000" dirty="0" err="1"/>
                  <a:t>asigura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fiecare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observație</a:t>
                </a:r>
                <a:r>
                  <a:rPr lang="en-US" sz="2000" dirty="0"/>
                  <a:t> din </a:t>
                </a:r>
                <a:r>
                  <a:rPr lang="en-US" sz="2000" dirty="0" err="1"/>
                  <a:t>setul</a:t>
                </a:r>
                <a:r>
                  <a:rPr lang="en-US" sz="2000" dirty="0"/>
                  <a:t> de date </a:t>
                </a:r>
                <a:r>
                  <a:rPr lang="en-US" sz="2000" dirty="0" err="1"/>
                  <a:t>este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inclusă</a:t>
                </a:r>
                <a:r>
                  <a:rPr lang="en-US" sz="2000" dirty="0"/>
                  <a:t> </a:t>
                </a:r>
                <a:r>
                  <a:rPr lang="en-US" sz="2000" dirty="0" err="1"/>
                  <a:t>în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puțin</a:t>
                </a:r>
                <a:r>
                  <a:rPr lang="en-US" sz="2000" dirty="0"/>
                  <a:t> un set de </a:t>
                </a:r>
                <a:r>
                  <a:rPr lang="en-US" sz="2000" dirty="0" err="1"/>
                  <a:t>antrenament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și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cel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puțin</a:t>
                </a:r>
                <a:r>
                  <a:rPr lang="en-US" sz="2000" dirty="0"/>
                  <a:t> un set de </a:t>
                </a:r>
                <a:r>
                  <a:rPr lang="en-US" sz="2000" dirty="0" err="1"/>
                  <a:t>validare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utilizăm</a:t>
                </a:r>
                <a:r>
                  <a:rPr lang="en-US" sz="2000" dirty="0"/>
                  <a:t> </a:t>
                </a:r>
                <a:r>
                  <a:rPr lang="en-US" sz="2000" b="1" dirty="0" err="1"/>
                  <a:t>validarea</a:t>
                </a:r>
                <a:r>
                  <a:rPr lang="en-US" sz="2000" b="1" dirty="0"/>
                  <a:t> </a:t>
                </a:r>
                <a:r>
                  <a:rPr lang="ro-RO" sz="2000" b="1" dirty="0"/>
                  <a:t>de </a:t>
                </a:r>
                <a:r>
                  <a:rPr lang="en-US" sz="2000" b="1" dirty="0"/>
                  <a:t>K</a:t>
                </a:r>
                <a:r>
                  <a:rPr lang="ro-RO" sz="2000" b="1" dirty="0"/>
                  <a:t> ori</a:t>
                </a:r>
                <a:r>
                  <a:rPr lang="en-US" sz="2000" dirty="0"/>
                  <a:t>: </a:t>
                </a:r>
              </a:p>
              <a:p>
                <a:pPr marL="1085820" lvl="1" indent="-342900">
                  <a:spcAft>
                    <a:spcPts val="1200"/>
                  </a:spcAft>
                  <a:buFont typeface="Arial" charset="0"/>
                  <a:buChar char="•"/>
                </a:pPr>
                <a:r>
                  <a:rPr lang="ro-RO" sz="2000" dirty="0"/>
                  <a:t>Se împart </a:t>
                </a:r>
                <a:r>
                  <a:rPr lang="en-US" sz="2000" dirty="0" err="1"/>
                  <a:t>dat</a:t>
                </a:r>
                <a:r>
                  <a:rPr lang="ro-RO" sz="2000" dirty="0"/>
                  <a:t>ele</a:t>
                </a:r>
                <a:r>
                  <a:rPr lang="en-US" sz="2000" dirty="0"/>
                  <a:t> </a:t>
                </a:r>
                <a:r>
                  <a:rPr lang="ro-RO" sz="2000" dirty="0"/>
                  <a:t>în </a:t>
                </a:r>
                <a:r>
                  <a:rPr lang="en-US" sz="2000" i="1" dirty="0"/>
                  <a:t>K</a:t>
                </a:r>
                <a:r>
                  <a:rPr lang="en-US" sz="2000" dirty="0"/>
                  <a:t> </a:t>
                </a:r>
                <a:r>
                  <a:rPr lang="ro-RO" sz="2000" dirty="0"/>
                  <a:t>submulțimi de înregistrări în mod uniform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000" dirty="0"/>
                  <a:t> (toate cam aceeiași proporție de date)</a:t>
                </a:r>
                <a:endParaRPr lang="en-US" sz="2000" dirty="0"/>
              </a:p>
              <a:p>
                <a:pPr marL="1085820" lvl="1" indent="-342900">
                  <a:spcBef>
                    <a:spcPts val="0"/>
                  </a:spcBef>
                  <a:buFont typeface="Arial" charset="0"/>
                  <a:buChar char="•"/>
                </a:pPr>
                <a:r>
                  <a:rPr lang="en-US" sz="2000" dirty="0" err="1"/>
                  <a:t>creăm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numărul</a:t>
                </a:r>
                <a:r>
                  <a:rPr lang="en-US" sz="2000" dirty="0"/>
                  <a:t> K de </a:t>
                </a:r>
                <a:r>
                  <a:rPr lang="ro-RO" sz="2000" dirty="0"/>
                  <a:t>perechi</a:t>
                </a:r>
                <a:r>
                  <a:rPr lang="en-US" sz="2000" dirty="0"/>
                  <a:t> </a:t>
                </a:r>
                <a:r>
                  <a:rPr lang="ro-RO" sz="2000" dirty="0"/>
                  <a:t>set de 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antrenament</a:t>
                </a:r>
                <a:r>
                  <a:rPr lang="en-US" sz="2000" dirty="0"/>
                  <a:t> / </a:t>
                </a:r>
                <a:r>
                  <a:rPr lang="en-US" sz="2000" dirty="0" err="1"/>
                  <a:t>validare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folosind</a:t>
                </a:r>
                <a:r>
                  <a:rPr lang="en-US" sz="2000" dirty="0"/>
                  <a:t> u</a:t>
                </a:r>
                <a:r>
                  <a:rPr lang="ro-RO" sz="2000" dirty="0"/>
                  <a:t>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dintre</a:t>
                </a:r>
                <a:r>
                  <a:rPr lang="en-US" sz="2000" dirty="0"/>
                  <a:t> </a:t>
                </a:r>
                <a:r>
                  <a:rPr lang="ro-RO" sz="2000" dirty="0"/>
                  <a:t>cele 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bucăți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pentru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validare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și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restul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pentru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antrenament</a:t>
                </a:r>
                <a:r>
                  <a:rPr lang="en-US" sz="2000" dirty="0"/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ro-RO" sz="2000" dirty="0"/>
                  <a:t>Modelul antrenat</a:t>
                </a:r>
                <a:r>
                  <a:rPr lang="en-US" sz="2000" dirty="0"/>
                  <a:t> pe fiecare set de </a:t>
                </a:r>
                <a:r>
                  <a:rPr lang="en-US" sz="2000" dirty="0" err="1"/>
                  <a:t>antrenament</a:t>
                </a:r>
                <a:r>
                  <a:rPr lang="ro-RO" sz="2000" dirty="0"/>
                  <a:t> în parte,</a:t>
                </a:r>
                <a:r>
                  <a:rPr lang="en-US" sz="2000" dirty="0"/>
                  <a:t> notat</a:t>
                </a:r>
                <a:r>
                  <a:rPr lang="ro-RO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 , </a:t>
                </a:r>
                <a:r>
                  <a:rPr lang="ro-RO" sz="2000" dirty="0"/>
                  <a:t> este apoi evaluat pe setul de validare corespunzător 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sz="2000" b="0" i="1" dirty="0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 (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sz="20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2000" b="1" i="1" dirty="0"/>
                  <a:t>Validarea încrucișată </a:t>
                </a:r>
                <a:r>
                  <a:rPr lang="en-US" sz="2000" dirty="0"/>
                  <a:t>este </a:t>
                </a:r>
                <a:r>
                  <a:rPr lang="en-US" sz="2000" dirty="0" err="1"/>
                  <a:t>performanța</a:t>
                </a:r>
                <a:r>
                  <a:rPr lang="en-US" sz="2000" dirty="0"/>
                  <a:t> </a:t>
                </a:r>
                <a:r>
                  <a:rPr lang="ro-RO" sz="2000" dirty="0"/>
                  <a:t>medie a </a:t>
                </a:r>
                <a:r>
                  <a:rPr lang="en-US" sz="2000" dirty="0" err="1"/>
                  <a:t>modelului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pentru</a:t>
                </a:r>
                <a:r>
                  <a:rPr lang="en-US" sz="2000" dirty="0"/>
                  <a:t> toate seturile de validare:</a:t>
                </a:r>
              </a:p>
              <a:p>
                <a:pPr>
                  <a:spcAft>
                    <a:spcPts val="1200"/>
                  </a:spcAft>
                </a:pPr>
                <a:endParaRPr lang="ro-RO" sz="2000" dirty="0"/>
              </a:p>
              <a:p>
                <a:pPr>
                  <a:spcAft>
                    <a:spcPts val="1200"/>
                  </a:spcAft>
                </a:pPr>
                <a:endParaRPr lang="en-US" sz="2000" dirty="0"/>
              </a:p>
              <a:p>
                <a:pPr>
                  <a:spcBef>
                    <a:spcPts val="624"/>
                  </a:spcBef>
                  <a:spcAft>
                    <a:spcPts val="2400"/>
                  </a:spcAft>
                </a:pPr>
                <a:r>
                  <a:rPr lang="ro-RO" sz="2000" dirty="0"/>
                  <a:t>unde</a:t>
                </a:r>
                <a:r>
                  <a:rPr lang="en-US" sz="2000" dirty="0"/>
                  <a:t> </a:t>
                </a:r>
                <a:r>
                  <a:rPr lang="en-US" sz="2000" i="1" dirty="0"/>
                  <a:t>L</a:t>
                </a:r>
                <a:r>
                  <a:rPr lang="en-US" sz="2000" dirty="0"/>
                  <a:t> </a:t>
                </a:r>
                <a:r>
                  <a:rPr lang="ro-RO" sz="2000" dirty="0"/>
                  <a:t>este funcția ce va fi optimizată</a:t>
                </a:r>
                <a:r>
                  <a:rPr lang="en-US" sz="2000" dirty="0"/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000" dirty="0"/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000" dirty="0"/>
                  <a:t> </a:t>
                </a:r>
              </a:p>
              <a:p>
                <a:pPr>
                  <a:spcAft>
                    <a:spcPts val="1200"/>
                  </a:spcAft>
                </a:pPr>
                <a:endParaRPr lang="en-US" sz="2000" dirty="0"/>
              </a:p>
              <a:p>
                <a:pPr>
                  <a:spcAft>
                    <a:spcPts val="1200"/>
                  </a:spcAft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3414" y="1177758"/>
                <a:ext cx="10444185" cy="5223042"/>
              </a:xfrm>
              <a:blipFill>
                <a:blip r:embed="rId2"/>
                <a:stretch>
                  <a:fillRect l="-642" t="-583" r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605708" y="4572484"/>
                <a:ext cx="4511556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𝐶𝑉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Model</m:t>
                          </m:r>
                        </m:e>
                      </m:d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𝐿</m:t>
                              </m:r>
                              <m:r>
                                <a:rPr lang="en-US" sz="2400" b="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400" i="1" dirty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−</m:t>
                                  </m:r>
                                  <m:r>
                                    <a:rPr lang="en-US" sz="2400" b="0" i="1" dirty="0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400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708" y="4572484"/>
                <a:ext cx="4511556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40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292" y="216531"/>
            <a:ext cx="11639508" cy="767276"/>
          </a:xfrm>
        </p:spPr>
        <p:txBody>
          <a:bodyPr/>
          <a:lstStyle/>
          <a:p>
            <a:r>
              <a:rPr lang="ro-RO" dirty="0"/>
              <a:t>Selectarea Predictorilor</a:t>
            </a:r>
            <a:r>
              <a:rPr lang="en-US" dirty="0"/>
              <a:t>: Cross Validation</a:t>
            </a:r>
            <a:r>
              <a:rPr lang="ro-RO" dirty="0"/>
              <a:t>/Validare Încrucișată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ro-RO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Întrebare</a:t>
                </a:r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: 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Care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este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raportul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corect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dintre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</a:t>
                </a:r>
                <a:r>
                  <a:rPr lang="ro-RO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mărimile mulțimilor de anternament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/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validare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/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testare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, cum </a:t>
                </a:r>
                <a:r>
                  <a:rPr lang="en-US" sz="2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aleg</a:t>
                </a:r>
                <a:r>
                  <a:rPr 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  <a:ea typeface="Karla" charset="0"/>
                    <a:cs typeface="Karla" charset="0"/>
                  </a:rPr>
                  <a:t> K?</a:t>
                </a:r>
                <a:endParaRPr lang="ro-RO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rla" charset="0"/>
                  <a:ea typeface="Karla" charset="0"/>
                  <a:cs typeface="Karla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ro-RO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</a:rPr>
                  <a:t>- Nu există o regulă. O bună pratică pentru date rezonabile (zeci de mii de înregistrări – 80% antrenament, 20% test sau 80% antrenament, 10% validare, 10% test )</a:t>
                </a:r>
              </a:p>
              <a:p>
                <a:pPr>
                  <a:spcAft>
                    <a:spcPts val="1200"/>
                  </a:spcAft>
                </a:pPr>
                <a:r>
                  <a:rPr lang="ro-RO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rla" charset="0"/>
                  </a:rPr>
                  <a:t>- Pentru date mari, 20% poate însemna foarte mult – la 100 mii/1 mil înregistrări de exemplu se folosește deja 98% 1% 1%.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 err="1"/>
                  <a:t>Putem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încadra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problema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selecției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gradelor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pentru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modelele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polinomiale</a:t>
                </a:r>
                <a:r>
                  <a:rPr lang="en-US" sz="2400" dirty="0"/>
                  <a:t> ca o </a:t>
                </a:r>
                <a:r>
                  <a:rPr lang="en-US" sz="2400" dirty="0" err="1"/>
                  <a:t>problemă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selecție</a:t>
                </a:r>
                <a:r>
                  <a:rPr lang="en-US" sz="2400" dirty="0"/>
                  <a:t> </a:t>
                </a:r>
                <a:r>
                  <a:rPr lang="ro-RO" sz="2400" dirty="0"/>
                  <a:t>a predictorilor</a:t>
                </a:r>
                <a:r>
                  <a:rPr lang="en-US" sz="2400" dirty="0"/>
                  <a:t>: 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	</a:t>
                </a:r>
                <a:r>
                  <a:rPr lang="ro-RO" sz="2400" dirty="0"/>
                  <a:t>care din predictorii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{</m:t>
                    </m:r>
                    <m:r>
                      <a:rPr lang="en-US" sz="2400" b="0" i="1" smtClean="0">
                        <a:latin typeface="Cambria Math" charset="0"/>
                      </a:rPr>
                      <m:t>𝑥</m:t>
                    </m:r>
                    <m:r>
                      <a:rPr lang="en-US" sz="2400" b="0" i="1" smtClean="0">
                        <a:latin typeface="Cambria Math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,…,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en-US" sz="2400" dirty="0"/>
                  <a:t>, </a:t>
                </a:r>
                <a:r>
                  <a:rPr lang="ro-RO" sz="2400" dirty="0"/>
                  <a:t>are trebui selectați pentru model</a:t>
                </a:r>
                <a:r>
                  <a:rPr lang="en-US" sz="2400" dirty="0"/>
                  <a:t>?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 </a:t>
                </a:r>
                <a:endParaRPr lang="en-US" sz="2400" b="1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b="-96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0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Din nou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FDCC2C-2C1F-4DB4-8B93-4BA5726EA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28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-194277" y="1343770"/>
            <a:ext cx="12649202" cy="4572001"/>
            <a:chOff x="-194277" y="1343770"/>
            <a:chExt cx="12649202" cy="45720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8D02AC-B252-AB42-924D-F78A40BBD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94277" y="1343770"/>
              <a:ext cx="6858000" cy="4572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5E6D5A1-DB34-984F-AB39-8815ED7C5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6923" y="1343770"/>
              <a:ext cx="6858002" cy="4572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2709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Din nou </a:t>
            </a:r>
            <a:r>
              <a:rPr lang="en-US" dirty="0" err="1"/>
              <a:t>kNN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6" y="1177758"/>
            <a:ext cx="11009292" cy="2111143"/>
          </a:xfrm>
        </p:spPr>
        <p:txBody>
          <a:bodyPr/>
          <a:lstStyle/>
          <a:p>
            <a:r>
              <a:rPr lang="ro-RO" sz="2000" dirty="0"/>
              <a:t>Recapitulăm</a:t>
            </a:r>
            <a:r>
              <a:rPr lang="en-US" sz="2000" dirty="0"/>
              <a:t> </a:t>
            </a:r>
            <a:r>
              <a:rPr lang="en-US" sz="2000" dirty="0" err="1"/>
              <a:t>primul</a:t>
            </a:r>
            <a:r>
              <a:rPr lang="en-US" sz="2000" dirty="0"/>
              <a:t> </a:t>
            </a:r>
            <a:r>
              <a:rPr lang="en-US" sz="2000" dirty="0" err="1"/>
              <a:t>nostru</a:t>
            </a:r>
            <a:r>
              <a:rPr lang="en-US" sz="2000" dirty="0"/>
              <a:t> </a:t>
            </a:r>
            <a:r>
              <a:rPr lang="ro-RO" sz="2000" dirty="0"/>
              <a:t>model </a:t>
            </a:r>
            <a:r>
              <a:rPr lang="en-US" sz="2000" dirty="0" err="1"/>
              <a:t>simplu</a:t>
            </a:r>
            <a:r>
              <a:rPr lang="en-US" sz="2000" dirty="0"/>
              <a:t>, </a:t>
            </a:r>
            <a:r>
              <a:rPr lang="en-US" sz="2000" dirty="0" err="1"/>
              <a:t>intuitiv</a:t>
            </a:r>
            <a:r>
              <a:rPr lang="en-US" sz="2000" dirty="0"/>
              <a:t>,</a:t>
            </a:r>
          </a:p>
          <a:p>
            <a:r>
              <a:rPr lang="en-US" sz="2000" dirty="0"/>
              <a:t>non-parametric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regresie</a:t>
            </a:r>
            <a:r>
              <a:rPr lang="en-US" sz="2000" dirty="0"/>
              <a:t> –</a:t>
            </a:r>
            <a:endParaRPr lang="ro-RO" sz="2000" dirty="0"/>
          </a:p>
          <a:p>
            <a:r>
              <a:rPr lang="en-US" sz="2000" dirty="0" err="1"/>
              <a:t>modelul</a:t>
            </a:r>
            <a:r>
              <a:rPr lang="en-US" sz="2000" dirty="0"/>
              <a:t> </a:t>
            </a:r>
            <a:r>
              <a:rPr lang="en-US" sz="2000" dirty="0" err="1"/>
              <a:t>kNN</a:t>
            </a:r>
            <a:r>
              <a:rPr lang="en-US" sz="2000" dirty="0"/>
              <a:t>. Am </a:t>
            </a:r>
            <a:r>
              <a:rPr lang="en-US" sz="2000" dirty="0" err="1"/>
              <a:t>văzut</a:t>
            </a:r>
            <a:r>
              <a:rPr lang="en-US" sz="2000" dirty="0"/>
              <a:t> </a:t>
            </a:r>
            <a:r>
              <a:rPr lang="en-US" sz="2000" dirty="0" err="1"/>
              <a:t>că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ro-RO" sz="2000" dirty="0"/>
              <a:t>foarte</a:t>
            </a:r>
            <a:endParaRPr lang="en-US" sz="2000" dirty="0"/>
          </a:p>
          <a:p>
            <a:r>
              <a:rPr lang="en-US" sz="2000" dirty="0"/>
              <a:t>important </a:t>
            </a:r>
            <a:r>
              <a:rPr lang="ro-RO" sz="2000" dirty="0"/>
              <a:t>să</a:t>
            </a:r>
            <a:r>
              <a:rPr lang="en-US" sz="2000" dirty="0"/>
              <a:t> select</a:t>
            </a:r>
            <a:r>
              <a:rPr lang="ro-RO" sz="2000" dirty="0"/>
              <a:t>ăm</a:t>
            </a:r>
            <a:r>
              <a:rPr lang="en-US" sz="2000" dirty="0"/>
              <a:t> un k </a:t>
            </a:r>
            <a:r>
              <a:rPr lang="en-US" sz="2000" dirty="0" err="1"/>
              <a:t>adecvat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endParaRPr lang="en-US" sz="2000" dirty="0"/>
          </a:p>
          <a:p>
            <a:r>
              <a:rPr lang="en-US" sz="2000" dirty="0"/>
              <a:t>date.</a:t>
            </a:r>
          </a:p>
          <a:p>
            <a:endParaRPr lang="en-US" sz="2000" dirty="0"/>
          </a:p>
          <a:p>
            <a:r>
              <a:rPr lang="ro-RO" sz="2000" dirty="0"/>
              <a:t>Când</a:t>
            </a:r>
            <a:r>
              <a:rPr lang="en-US" sz="2000" dirty="0"/>
              <a:t> </a:t>
            </a:r>
            <a:r>
              <a:rPr lang="ro-RO" sz="2000" i="1" dirty="0"/>
              <a:t>k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prea</a:t>
            </a:r>
            <a:r>
              <a:rPr lang="en-US" sz="2000" dirty="0"/>
              <a:t> mic, </a:t>
            </a:r>
            <a:r>
              <a:rPr lang="en-US" sz="2000" dirty="0" err="1"/>
              <a:t>modelul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sensibil</a:t>
            </a:r>
            <a:r>
              <a:rPr lang="en-US" sz="2000" dirty="0"/>
              <a:t> la </a:t>
            </a:r>
            <a:r>
              <a:rPr lang="en-US" sz="2000" dirty="0" err="1"/>
              <a:t>zgomot</a:t>
            </a:r>
            <a:r>
              <a:rPr lang="en-US" sz="2000" dirty="0"/>
              <a:t> (</a:t>
            </a:r>
            <a:r>
              <a:rPr lang="en-US" sz="2000" dirty="0" err="1"/>
              <a:t>deoarece</a:t>
            </a:r>
            <a:r>
              <a:rPr lang="en-US" sz="2000" dirty="0"/>
              <a:t> o </a:t>
            </a:r>
            <a:r>
              <a:rPr lang="en-US" sz="2000" dirty="0" err="1"/>
              <a:t>nouă</a:t>
            </a:r>
            <a:r>
              <a:rPr lang="en-US" sz="2000" dirty="0"/>
              <a:t> </a:t>
            </a:r>
            <a:r>
              <a:rPr lang="en-US" sz="2000" dirty="0" err="1"/>
              <a:t>predicție</a:t>
            </a:r>
            <a:r>
              <a:rPr lang="en-US" sz="2000" dirty="0"/>
              <a:t> se </a:t>
            </a:r>
            <a:r>
              <a:rPr lang="en-US" sz="2000" dirty="0" err="1"/>
              <a:t>bazează</a:t>
            </a:r>
            <a:r>
              <a:rPr lang="en-US" sz="2000" dirty="0"/>
              <a:t> pe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puțini</a:t>
            </a:r>
            <a:r>
              <a:rPr lang="en-US" sz="2000" dirty="0"/>
              <a:t> </a:t>
            </a:r>
            <a:r>
              <a:rPr lang="en-US" sz="2000" dirty="0" err="1"/>
              <a:t>vecini</a:t>
            </a:r>
            <a:r>
              <a:rPr lang="en-US" sz="2000" dirty="0"/>
              <a:t> </a:t>
            </a:r>
            <a:r>
              <a:rPr lang="en-US" sz="2000" dirty="0" err="1"/>
              <a:t>observați</a:t>
            </a:r>
            <a:r>
              <a:rPr lang="en-US" sz="2000" dirty="0"/>
              <a:t>), </a:t>
            </a:r>
            <a:r>
              <a:rPr lang="en-US" sz="2000" dirty="0" err="1"/>
              <a:t>iar</a:t>
            </a:r>
            <a:r>
              <a:rPr lang="en-US" sz="2000" dirty="0"/>
              <a:t> </a:t>
            </a:r>
            <a:r>
              <a:rPr lang="ro-RO" sz="2000" dirty="0"/>
              <a:t>când</a:t>
            </a:r>
            <a:r>
              <a:rPr lang="en-US" sz="2000" dirty="0"/>
              <a:t> k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prea</a:t>
            </a:r>
            <a:r>
              <a:rPr lang="en-US" sz="2000" dirty="0"/>
              <a:t> mare, </a:t>
            </a:r>
            <a:r>
              <a:rPr lang="en-US" sz="2000" dirty="0" err="1"/>
              <a:t>modelul</a:t>
            </a:r>
            <a:r>
              <a:rPr lang="en-US" sz="2000" dirty="0"/>
              <a:t> </a:t>
            </a:r>
            <a:r>
              <a:rPr lang="en-US" sz="2000" dirty="0" err="1"/>
              <a:t>tinde</a:t>
            </a:r>
            <a:r>
              <a:rPr lang="en-US" sz="2000" dirty="0"/>
              <a:t> </a:t>
            </a:r>
            <a:r>
              <a:rPr lang="en-US" sz="2000" dirty="0" err="1"/>
              <a:t>să</a:t>
            </a:r>
            <a:r>
              <a:rPr lang="en-US" sz="2000" dirty="0"/>
              <a:t> </a:t>
            </a:r>
            <a:r>
              <a:rPr lang="en-US" sz="2000" dirty="0" err="1"/>
              <a:t>facă</a:t>
            </a:r>
            <a:r>
              <a:rPr lang="en-US" sz="2000" dirty="0"/>
              <a:t> </a:t>
            </a:r>
            <a:r>
              <a:rPr lang="en-US" sz="2000" dirty="0" err="1"/>
              <a:t>predicții</a:t>
            </a:r>
            <a:r>
              <a:rPr lang="en-US" sz="2000" dirty="0"/>
              <a:t> </a:t>
            </a:r>
            <a:r>
              <a:rPr lang="en-US" sz="2000" dirty="0" err="1"/>
              <a:t>constante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ro-RO" sz="2000" dirty="0"/>
              <a:t>Un mod principial de a alege </a:t>
            </a:r>
            <a:r>
              <a:rPr lang="en-US" sz="2000" i="1" dirty="0"/>
              <a:t>k</a:t>
            </a:r>
            <a:r>
              <a:rPr lang="en-US" sz="2000" dirty="0"/>
              <a:t> </a:t>
            </a:r>
            <a:r>
              <a:rPr lang="ro-RO" sz="2000" dirty="0"/>
              <a:t>este prin </a:t>
            </a:r>
            <a:r>
              <a:rPr lang="ro-RO" sz="2000" b="1" dirty="0"/>
              <a:t>validare încrucișată</a:t>
            </a:r>
            <a:br>
              <a:rPr lang="ro-RO" sz="2000" b="1" dirty="0"/>
            </a:br>
            <a:r>
              <a:rPr lang="ro-RO" sz="2000" dirty="0"/>
              <a:t>.</a:t>
            </a:r>
            <a:endParaRPr lang="en-US" sz="2000" b="1" dirty="0"/>
          </a:p>
          <a:p>
            <a:pPr>
              <a:spcAft>
                <a:spcPts val="1200"/>
              </a:spcAft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29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602902" y="816429"/>
            <a:ext cx="5385898" cy="2472472"/>
            <a:chOff x="-194277" y="1343770"/>
            <a:chExt cx="12649202" cy="45720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8D02AC-B252-AB42-924D-F78A40BBD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94277" y="1343770"/>
              <a:ext cx="6858000" cy="4572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E6D5A1-DB34-984F-AB39-8815ED7C5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6923" y="1343770"/>
              <a:ext cx="6858002" cy="4572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75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Spargere</a:t>
            </a:r>
            <a:r>
              <a:rPr lang="en-US" dirty="0"/>
              <a:t> </a:t>
            </a:r>
            <a:r>
              <a:rPr lang="ro-RO" dirty="0"/>
              <a:t>CV </a:t>
            </a:r>
            <a:r>
              <a:rPr lang="en-US"/>
              <a:t>– K</a:t>
            </a:r>
            <a:r>
              <a:rPr lang="ro-RO"/>
              <a:t> </a:t>
            </a:r>
            <a:r>
              <a:rPr lang="ro-RO" dirty="0"/>
              <a:t>= </a:t>
            </a:r>
            <a:r>
              <a:rPr lang="en-US" dirty="0"/>
              <a:t>100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0EE68-C5A0-484D-832C-37DD90387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30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18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</a:t>
            </a:r>
            <a:r>
              <a:rPr lang="ro-RO" dirty="0"/>
              <a:t>ță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73C13-04D4-4DCE-9606-11DA4A0B1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8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A63FC01-4D8D-4BE4-A56A-622BE476C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</a:t>
            </a:r>
            <a:r>
              <a:rPr lang="ro-RO" dirty="0"/>
              <a:t>ce (sub-ajustare vs supra-ajustare)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AAEBD-2C0A-BBB1-2598-3CFAF9CF3B05}"/>
              </a:ext>
            </a:extLst>
          </p:cNvPr>
          <p:cNvSpPr txBox="1"/>
          <p:nvPr/>
        </p:nvSpPr>
        <p:spPr>
          <a:xfrm>
            <a:off x="186267" y="983807"/>
            <a:ext cx="562186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Bias (</a:t>
            </a:r>
            <a:r>
              <a:rPr lang="en-US" sz="2000" b="1" dirty="0" err="1"/>
              <a:t>eroare</a:t>
            </a:r>
            <a:r>
              <a:rPr lang="en-US" sz="2000" b="1" dirty="0"/>
              <a:t> de </a:t>
            </a:r>
            <a:r>
              <a:rPr lang="en-US" sz="2000" b="1" dirty="0" err="1"/>
              <a:t>părtinire</a:t>
            </a:r>
            <a:r>
              <a:rPr lang="en-US" sz="2000" b="1" dirty="0"/>
              <a:t> / sub-</a:t>
            </a:r>
            <a:r>
              <a:rPr lang="en-US" sz="2000" b="1" dirty="0" err="1"/>
              <a:t>ajustare</a:t>
            </a:r>
            <a:r>
              <a:rPr lang="en-US" sz="2000" b="1" dirty="0"/>
              <a:t>)</a:t>
            </a:r>
          </a:p>
          <a:p>
            <a:endParaRPr lang="en-US" sz="2000" b="1" dirty="0"/>
          </a:p>
          <a:p>
            <a:r>
              <a:rPr lang="en-US" sz="2000" dirty="0"/>
              <a:t>Bias mare = model </a:t>
            </a:r>
            <a:r>
              <a:rPr lang="en-US" sz="2000" dirty="0" err="1"/>
              <a:t>prea</a:t>
            </a:r>
            <a:r>
              <a:rPr lang="en-US" sz="2000" dirty="0"/>
              <a:t> </a:t>
            </a:r>
            <a:r>
              <a:rPr lang="en-US" sz="2000" dirty="0" err="1"/>
              <a:t>simplu</a:t>
            </a:r>
            <a:r>
              <a:rPr lang="en-US" sz="2000" dirty="0"/>
              <a:t>, care nu </a:t>
            </a:r>
            <a:r>
              <a:rPr lang="en-US" sz="2000" dirty="0" err="1"/>
              <a:t>surprinde</a:t>
            </a:r>
            <a:r>
              <a:rPr lang="en-US" sz="2000" dirty="0"/>
              <a:t> </a:t>
            </a:r>
            <a:r>
              <a:rPr lang="en-US" sz="2000" dirty="0" err="1"/>
              <a:t>relațiile</a:t>
            </a:r>
            <a:r>
              <a:rPr lang="en-US" sz="2000" dirty="0"/>
              <a:t> </a:t>
            </a:r>
            <a:r>
              <a:rPr lang="en-US" sz="2000" dirty="0" err="1"/>
              <a:t>reale</a:t>
            </a:r>
            <a:r>
              <a:rPr lang="en-US" sz="2000" dirty="0"/>
              <a:t> din date.</a:t>
            </a:r>
          </a:p>
          <a:p>
            <a:endParaRPr lang="en-US" sz="2000" b="1" dirty="0"/>
          </a:p>
          <a:p>
            <a:r>
              <a:rPr lang="en-US" sz="2000" b="1" dirty="0"/>
              <a:t>Cum se </a:t>
            </a:r>
            <a:r>
              <a:rPr lang="en-US" sz="2000" b="1" dirty="0" err="1"/>
              <a:t>manifestă</a:t>
            </a:r>
            <a:r>
              <a:rPr lang="en-US" sz="2000" b="1" dirty="0"/>
              <a:t>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Erori</a:t>
            </a:r>
            <a:r>
              <a:rPr lang="en-US" sz="2000" dirty="0"/>
              <a:t> </a:t>
            </a:r>
            <a:r>
              <a:rPr lang="en-US" sz="2000" dirty="0" err="1"/>
              <a:t>mari</a:t>
            </a:r>
            <a:r>
              <a:rPr lang="en-US" sz="2000" dirty="0"/>
              <a:t> pe </a:t>
            </a:r>
            <a:r>
              <a:rPr lang="en-US" sz="2000" dirty="0" err="1"/>
              <a:t>setul</a:t>
            </a:r>
            <a:r>
              <a:rPr lang="en-US" sz="2000" dirty="0"/>
              <a:t> de </a:t>
            </a:r>
            <a:r>
              <a:rPr lang="en-US" sz="2000" dirty="0" err="1"/>
              <a:t>antrenare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care “nu </a:t>
            </a:r>
            <a:r>
              <a:rPr lang="en-US" sz="2000" dirty="0" err="1"/>
              <a:t>învață</a:t>
            </a:r>
            <a:r>
              <a:rPr lang="en-US" sz="2000" dirty="0"/>
              <a:t>” </a:t>
            </a:r>
            <a:r>
              <a:rPr lang="en-US" sz="2000" dirty="0" err="1"/>
              <a:t>suficient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Prezice</a:t>
            </a:r>
            <a:r>
              <a:rPr lang="en-US" sz="2000" dirty="0"/>
              <a:t> </a:t>
            </a:r>
            <a:r>
              <a:rPr lang="en-US" sz="2000" dirty="0" err="1"/>
              <a:t>aproape</a:t>
            </a:r>
            <a:r>
              <a:rPr lang="en-US" sz="2000" dirty="0"/>
              <a:t> o </a:t>
            </a:r>
            <a:r>
              <a:rPr lang="en-US" sz="2000" dirty="0" err="1"/>
              <a:t>medie</a:t>
            </a:r>
            <a:r>
              <a:rPr lang="en-US" sz="2000" dirty="0"/>
              <a:t> </a:t>
            </a:r>
            <a:r>
              <a:rPr lang="en-US" sz="2000" dirty="0" err="1"/>
              <a:t>constantă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Rezidualele</a:t>
            </a:r>
            <a:r>
              <a:rPr lang="en-US" sz="2000" dirty="0"/>
              <a:t> au </a:t>
            </a:r>
            <a:r>
              <a:rPr lang="en-US" sz="2000" dirty="0" err="1"/>
              <a:t>structură</a:t>
            </a:r>
            <a:r>
              <a:rPr lang="en-US" sz="2000" dirty="0"/>
              <a:t> </a:t>
            </a:r>
            <a:r>
              <a:rPr lang="en-US" sz="2000" dirty="0" err="1"/>
              <a:t>clară</a:t>
            </a:r>
            <a:r>
              <a:rPr lang="en-US" sz="2000" dirty="0"/>
              <a:t>, </a:t>
            </a:r>
            <a:r>
              <a:rPr lang="en-US" sz="2000" dirty="0" err="1"/>
              <a:t>modelul</a:t>
            </a:r>
            <a:r>
              <a:rPr lang="en-US" sz="2000" dirty="0"/>
              <a:t> nu </a:t>
            </a:r>
            <a:r>
              <a:rPr lang="en-US" sz="2000" dirty="0" err="1"/>
              <a:t>surprinde</a:t>
            </a:r>
            <a:r>
              <a:rPr lang="en-US" sz="2000" dirty="0"/>
              <a:t> pattern-</a:t>
            </a:r>
            <a:r>
              <a:rPr lang="en-US" sz="2000" dirty="0" err="1"/>
              <a:t>uri</a:t>
            </a:r>
            <a:r>
              <a:rPr lang="en-US" sz="2000" dirty="0"/>
              <a:t>.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 err="1"/>
              <a:t>Exemple</a:t>
            </a:r>
            <a:r>
              <a:rPr lang="en-US" sz="2000" b="1" dirty="0"/>
              <a:t> de </a:t>
            </a:r>
            <a:r>
              <a:rPr lang="en-US" sz="2000" b="1" dirty="0" err="1"/>
              <a:t>modele</a:t>
            </a:r>
            <a:r>
              <a:rPr lang="en-US" sz="2000" b="1" dirty="0"/>
              <a:t> cu bias mare: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Regresie</a:t>
            </a:r>
            <a:r>
              <a:rPr lang="en-US" sz="2000" dirty="0"/>
              <a:t> </a:t>
            </a:r>
            <a:r>
              <a:rPr lang="en-US" sz="2000" dirty="0" err="1"/>
              <a:t>liniară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un </a:t>
            </a:r>
            <a:r>
              <a:rPr lang="en-US" sz="2000" dirty="0" err="1"/>
              <a:t>fenomen</a:t>
            </a:r>
            <a:r>
              <a:rPr lang="en-US" sz="2000" dirty="0"/>
              <a:t> </a:t>
            </a:r>
            <a:r>
              <a:rPr lang="en-US" sz="2000" dirty="0" err="1"/>
              <a:t>puternic</a:t>
            </a:r>
            <a:r>
              <a:rPr lang="en-US" sz="2000" dirty="0"/>
              <a:t> </a:t>
            </a:r>
            <a:r>
              <a:rPr lang="en-US" sz="2000" dirty="0" err="1"/>
              <a:t>neliniar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34CCA-8A09-1D57-DC51-1D22FB8920B5}"/>
              </a:ext>
            </a:extLst>
          </p:cNvPr>
          <p:cNvSpPr txBox="1"/>
          <p:nvPr/>
        </p:nvSpPr>
        <p:spPr>
          <a:xfrm>
            <a:off x="5971158" y="944050"/>
            <a:ext cx="5621866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Variance (</a:t>
            </a:r>
            <a:r>
              <a:rPr lang="en-US" sz="2000" b="1" dirty="0" err="1"/>
              <a:t>eroare</a:t>
            </a:r>
            <a:r>
              <a:rPr lang="en-US" sz="2000" b="1" dirty="0"/>
              <a:t> de </a:t>
            </a:r>
            <a:r>
              <a:rPr lang="en-US" sz="2000" b="1" dirty="0" err="1"/>
              <a:t>variație</a:t>
            </a:r>
            <a:r>
              <a:rPr lang="en-US" sz="2000" b="1" dirty="0"/>
              <a:t> / supra-</a:t>
            </a:r>
            <a:r>
              <a:rPr lang="en-US" sz="2000" b="1" dirty="0" err="1"/>
              <a:t>ajustare</a:t>
            </a:r>
            <a:r>
              <a:rPr lang="en-US" sz="2000" b="1" dirty="0"/>
              <a:t>)</a:t>
            </a:r>
          </a:p>
          <a:p>
            <a:endParaRPr lang="en-US" sz="2000" b="1" dirty="0"/>
          </a:p>
          <a:p>
            <a:r>
              <a:rPr lang="en-US" sz="2000" dirty="0"/>
              <a:t>Variance mare = model </a:t>
            </a:r>
            <a:r>
              <a:rPr lang="en-US" sz="2000" dirty="0" err="1"/>
              <a:t>prea</a:t>
            </a:r>
            <a:r>
              <a:rPr lang="en-US" sz="2000" dirty="0"/>
              <a:t> complex, care </a:t>
            </a:r>
            <a:r>
              <a:rPr lang="en-US" sz="2000" dirty="0" err="1"/>
              <a:t>învață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zgomotul</a:t>
            </a:r>
            <a:r>
              <a:rPr lang="en-US" sz="2000" dirty="0"/>
              <a:t> din date.</a:t>
            </a:r>
          </a:p>
          <a:p>
            <a:endParaRPr lang="en-US" sz="2000" dirty="0"/>
          </a:p>
          <a:p>
            <a:r>
              <a:rPr lang="en-US" sz="2000" b="1" dirty="0"/>
              <a:t>Cum se </a:t>
            </a:r>
            <a:r>
              <a:rPr lang="en-US" sz="2000" b="1" dirty="0" err="1"/>
              <a:t>manifestă</a:t>
            </a:r>
            <a:r>
              <a:rPr lang="en-US" sz="2000" b="1" dirty="0"/>
              <a:t>: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Performanță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bună</a:t>
            </a:r>
            <a:r>
              <a:rPr lang="en-US" sz="2000" dirty="0"/>
              <a:t> pe </a:t>
            </a:r>
            <a:r>
              <a:rPr lang="en-US" sz="2000" dirty="0" err="1"/>
              <a:t>setul</a:t>
            </a:r>
            <a:r>
              <a:rPr lang="en-US" sz="2000" dirty="0"/>
              <a:t> de </a:t>
            </a:r>
            <a:r>
              <a:rPr lang="en-US" sz="2000" dirty="0" err="1"/>
              <a:t>antrenare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Performanță</a:t>
            </a:r>
            <a:r>
              <a:rPr lang="en-US" sz="2000" dirty="0"/>
              <a:t> </a:t>
            </a:r>
            <a:r>
              <a:rPr lang="en-US" sz="2000" dirty="0" err="1"/>
              <a:t>slabă</a:t>
            </a:r>
            <a:r>
              <a:rPr lang="en-US" sz="2000" dirty="0"/>
              <a:t> pe </a:t>
            </a:r>
            <a:r>
              <a:rPr lang="en-US" sz="2000" dirty="0" err="1"/>
              <a:t>setul</a:t>
            </a:r>
            <a:r>
              <a:rPr lang="en-US" sz="2000" dirty="0"/>
              <a:t> de test / </a:t>
            </a:r>
            <a:r>
              <a:rPr lang="en-US" sz="2000" dirty="0" err="1"/>
              <a:t>validare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Predicții</a:t>
            </a:r>
            <a:r>
              <a:rPr lang="en-US" sz="2000" dirty="0"/>
              <a:t> </a:t>
            </a:r>
            <a:r>
              <a:rPr lang="en-US" sz="2000" dirty="0" err="1"/>
              <a:t>instabile</a:t>
            </a:r>
            <a:r>
              <a:rPr lang="en-US" sz="2000" dirty="0"/>
              <a:t>: </a:t>
            </a:r>
            <a:r>
              <a:rPr lang="en-US" sz="2000" dirty="0" err="1"/>
              <a:t>mici</a:t>
            </a:r>
            <a:r>
              <a:rPr lang="en-US" sz="2000" dirty="0"/>
              <a:t> </a:t>
            </a:r>
            <a:r>
              <a:rPr lang="en-US" sz="2000" dirty="0" err="1"/>
              <a:t>schimbări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date → </a:t>
            </a:r>
            <a:r>
              <a:rPr lang="en-US" sz="2000" dirty="0" err="1"/>
              <a:t>mari</a:t>
            </a:r>
            <a:r>
              <a:rPr lang="en-US" sz="2000" dirty="0"/>
              <a:t> </a:t>
            </a:r>
            <a:r>
              <a:rPr lang="en-US" sz="2000" dirty="0" err="1"/>
              <a:t>schimbări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predicții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Curba</a:t>
            </a:r>
            <a:r>
              <a:rPr lang="en-US" sz="2000" dirty="0"/>
              <a:t> de </a:t>
            </a:r>
            <a:r>
              <a:rPr lang="en-US" sz="2000" dirty="0" err="1"/>
              <a:t>învățare</a:t>
            </a:r>
            <a:r>
              <a:rPr lang="en-US" sz="2000" dirty="0"/>
              <a:t> cu </a:t>
            </a:r>
            <a:r>
              <a:rPr lang="en-US" sz="2000" dirty="0" err="1"/>
              <a:t>decalaj</a:t>
            </a:r>
            <a:r>
              <a:rPr lang="en-US" sz="2000" dirty="0"/>
              <a:t> mare </a:t>
            </a:r>
            <a:r>
              <a:rPr lang="en-US" sz="2000" dirty="0" err="1"/>
              <a:t>între</a:t>
            </a:r>
            <a:r>
              <a:rPr lang="en-US" sz="2000" dirty="0"/>
              <a:t> train </a:t>
            </a:r>
            <a:r>
              <a:rPr lang="en-US" sz="2000" dirty="0" err="1"/>
              <a:t>și</a:t>
            </a:r>
            <a:r>
              <a:rPr lang="en-US" sz="2000" dirty="0"/>
              <a:t> test.</a:t>
            </a:r>
          </a:p>
          <a:p>
            <a:endParaRPr lang="en-US" sz="2000" dirty="0"/>
          </a:p>
          <a:p>
            <a:r>
              <a:rPr lang="en-US" sz="2000" b="1" dirty="0" err="1"/>
              <a:t>Exemple</a:t>
            </a:r>
            <a:r>
              <a:rPr lang="en-US" sz="2000" b="1" dirty="0"/>
              <a:t> de </a:t>
            </a:r>
            <a:r>
              <a:rPr lang="en-US" sz="2000" b="1" dirty="0" err="1"/>
              <a:t>modele</a:t>
            </a:r>
            <a:r>
              <a:rPr lang="en-US" sz="2000" b="1" dirty="0"/>
              <a:t> cu </a:t>
            </a:r>
            <a:r>
              <a:rPr lang="en-US" sz="2000" b="1" dirty="0" err="1"/>
              <a:t>variație</a:t>
            </a:r>
            <a:r>
              <a:rPr lang="en-US" sz="2000" b="1" dirty="0"/>
              <a:t> mare: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Arbori</a:t>
            </a:r>
            <a:r>
              <a:rPr lang="en-US" sz="2000" dirty="0"/>
              <a:t> de </a:t>
            </a:r>
            <a:r>
              <a:rPr lang="en-US" sz="2000" dirty="0" err="1"/>
              <a:t>decizie</a:t>
            </a:r>
            <a:r>
              <a:rPr lang="en-US" sz="2000" dirty="0"/>
              <a:t> </a:t>
            </a:r>
            <a:r>
              <a:rPr lang="en-US" sz="2000" dirty="0" err="1"/>
              <a:t>foarte</a:t>
            </a:r>
            <a:r>
              <a:rPr lang="en-US" sz="2000" dirty="0"/>
              <a:t> </a:t>
            </a:r>
            <a:r>
              <a:rPr lang="en-US" sz="2000" dirty="0" err="1"/>
              <a:t>adânci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947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73" y="0"/>
            <a:ext cx="6479721" cy="662161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351AE-BAB7-F53E-C7A3-A768DB268BBD}"/>
              </a:ext>
            </a:extLst>
          </p:cNvPr>
          <p:cNvSpPr txBox="1"/>
          <p:nvPr/>
        </p:nvSpPr>
        <p:spPr>
          <a:xfrm rot="16200000">
            <a:off x="1633352" y="1838206"/>
            <a:ext cx="235712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Sub-</a:t>
            </a:r>
            <a:r>
              <a:rPr lang="en-US" b="1" dirty="0" err="1"/>
              <a:t>ajustare</a:t>
            </a:r>
            <a:r>
              <a:rPr lang="en-US" b="1" dirty="0"/>
              <a:t> mic</a:t>
            </a:r>
            <a:r>
              <a:rPr lang="ro-RO" b="1" dirty="0"/>
              <a:t>ă</a:t>
            </a:r>
          </a:p>
          <a:p>
            <a:r>
              <a:rPr lang="ro-RO" dirty="0"/>
              <a:t>(=&gt;acuratețe mare)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8085D-8153-3B27-9119-462E552EA112}"/>
              </a:ext>
            </a:extLst>
          </p:cNvPr>
          <p:cNvSpPr txBox="1"/>
          <p:nvPr/>
        </p:nvSpPr>
        <p:spPr>
          <a:xfrm rot="16200000">
            <a:off x="1805322" y="4759929"/>
            <a:ext cx="196863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Sub-</a:t>
            </a:r>
            <a:r>
              <a:rPr lang="en-US" b="1" dirty="0" err="1"/>
              <a:t>ajustare</a:t>
            </a:r>
            <a:r>
              <a:rPr lang="en-US" b="1" dirty="0"/>
              <a:t> </a:t>
            </a:r>
            <a:r>
              <a:rPr lang="ro-RO" b="1" dirty="0"/>
              <a:t>mare</a:t>
            </a:r>
          </a:p>
          <a:p>
            <a:r>
              <a:rPr lang="ro-RO" dirty="0"/>
              <a:t>(=&gt;acuratețe mică)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BB53B-119B-4DAA-BDED-900B095EE0E3}"/>
              </a:ext>
            </a:extLst>
          </p:cNvPr>
          <p:cNvSpPr txBox="1"/>
          <p:nvPr/>
        </p:nvSpPr>
        <p:spPr>
          <a:xfrm>
            <a:off x="3518946" y="10160"/>
            <a:ext cx="218738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Su</a:t>
            </a:r>
            <a:r>
              <a:rPr lang="ro-RO" b="1" dirty="0"/>
              <a:t>pra</a:t>
            </a:r>
            <a:r>
              <a:rPr lang="en-US" b="1" dirty="0"/>
              <a:t>-</a:t>
            </a:r>
            <a:r>
              <a:rPr lang="en-US" b="1" dirty="0" err="1"/>
              <a:t>ajustare</a:t>
            </a:r>
            <a:r>
              <a:rPr lang="en-US" b="1" dirty="0"/>
              <a:t> mic</a:t>
            </a:r>
            <a:r>
              <a:rPr lang="ro-RO" b="1" dirty="0"/>
              <a:t>ă</a:t>
            </a:r>
          </a:p>
          <a:p>
            <a:r>
              <a:rPr lang="ro-RO" dirty="0"/>
              <a:t>(=&gt;precizie mare)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863CC-1A71-D814-ABA9-A2938003F4A6}"/>
              </a:ext>
            </a:extLst>
          </p:cNvPr>
          <p:cNvSpPr txBox="1"/>
          <p:nvPr/>
        </p:nvSpPr>
        <p:spPr>
          <a:xfrm>
            <a:off x="6540055" y="10160"/>
            <a:ext cx="218738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Su</a:t>
            </a:r>
            <a:r>
              <a:rPr lang="ro-RO" b="1" dirty="0"/>
              <a:t>pra</a:t>
            </a:r>
            <a:r>
              <a:rPr lang="en-US" b="1" dirty="0"/>
              <a:t>-</a:t>
            </a:r>
            <a:r>
              <a:rPr lang="en-US" b="1" dirty="0" err="1"/>
              <a:t>ajustare</a:t>
            </a:r>
            <a:r>
              <a:rPr lang="en-US" b="1" dirty="0"/>
              <a:t> </a:t>
            </a:r>
            <a:r>
              <a:rPr lang="ro-RO" b="1" dirty="0"/>
              <a:t>mare</a:t>
            </a:r>
          </a:p>
          <a:p>
            <a:r>
              <a:rPr lang="ro-RO" dirty="0"/>
              <a:t>(=&gt;acuratețe mică)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932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2579-A9DA-D517-5E37-02A37C8F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Tratament Bias/sub-ajustare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8E205-A37E-66FE-C88E-EDE0BFF4A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🛠️  Cum </a:t>
            </a:r>
            <a:r>
              <a:rPr lang="en-US" sz="2400" b="1" dirty="0" err="1"/>
              <a:t>reduci</a:t>
            </a:r>
            <a:r>
              <a:rPr lang="en-US" sz="2400" b="1" dirty="0"/>
              <a:t> bias-ul (model </a:t>
            </a:r>
            <a:r>
              <a:rPr lang="en-US" sz="2400" b="1" dirty="0" err="1"/>
              <a:t>prea</a:t>
            </a:r>
            <a:r>
              <a:rPr lang="en-US" sz="2400" b="1" dirty="0"/>
              <a:t> </a:t>
            </a:r>
            <a:r>
              <a:rPr lang="en-US" sz="2400" b="1" dirty="0" err="1"/>
              <a:t>simplu</a:t>
            </a:r>
            <a:r>
              <a:rPr lang="en-US" sz="2400" b="1" dirty="0"/>
              <a:t>)</a:t>
            </a:r>
            <a:r>
              <a:rPr lang="ro-RO" sz="2400" b="1" dirty="0"/>
              <a:t>?</a:t>
            </a:r>
          </a:p>
          <a:p>
            <a:r>
              <a:rPr lang="en-US" sz="2400" dirty="0"/>
              <a:t>📌 </a:t>
            </a:r>
            <a:r>
              <a:rPr lang="en-US" sz="2400" i="1" dirty="0"/>
              <a:t>Scop:</a:t>
            </a:r>
            <a:r>
              <a:rPr lang="en-US" sz="2400" dirty="0"/>
              <a:t> </a:t>
            </a:r>
            <a:r>
              <a:rPr lang="en-US" sz="2400" dirty="0" err="1"/>
              <a:t>modelul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poată</a:t>
            </a:r>
            <a:r>
              <a:rPr lang="en-US" sz="2400" dirty="0"/>
              <a:t> </a:t>
            </a:r>
            <a:r>
              <a:rPr lang="en-US" sz="2400" dirty="0" err="1"/>
              <a:t>învăța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bine </a:t>
            </a:r>
            <a:r>
              <a:rPr lang="en-US" sz="2400" dirty="0" err="1"/>
              <a:t>structura</a:t>
            </a:r>
            <a:r>
              <a:rPr lang="en-US" sz="2400" dirty="0"/>
              <a:t> </a:t>
            </a:r>
            <a:r>
              <a:rPr lang="en-US" sz="2400" dirty="0" err="1"/>
              <a:t>datelor</a:t>
            </a:r>
            <a:r>
              <a:rPr lang="en-US" sz="2400" dirty="0"/>
              <a:t>.</a:t>
            </a:r>
          </a:p>
          <a:p>
            <a:endParaRPr lang="en-US" sz="2400" b="1" dirty="0"/>
          </a:p>
          <a:p>
            <a:r>
              <a:rPr lang="en-US" sz="2400" dirty="0" err="1"/>
              <a:t>Crești</a:t>
            </a:r>
            <a:r>
              <a:rPr lang="en-US" sz="2400" dirty="0"/>
              <a:t> </a:t>
            </a:r>
            <a:r>
              <a:rPr lang="en-US" sz="2400" dirty="0" err="1"/>
              <a:t>complexitatea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Folosești</a:t>
            </a:r>
            <a:r>
              <a:rPr lang="en-US" sz="2400" dirty="0"/>
              <a:t> un model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flexibil</a:t>
            </a:r>
            <a:r>
              <a:rPr lang="en-US" sz="2400" dirty="0"/>
              <a:t> (ex. </a:t>
            </a:r>
            <a:r>
              <a:rPr lang="en-US" sz="2400" dirty="0" err="1"/>
              <a:t>treci</a:t>
            </a:r>
            <a:r>
              <a:rPr lang="en-US" sz="2400" dirty="0"/>
              <a:t> de la </a:t>
            </a:r>
            <a:r>
              <a:rPr lang="en-US" sz="2400" dirty="0" err="1"/>
              <a:t>regresie</a:t>
            </a:r>
            <a:r>
              <a:rPr lang="en-US" sz="2400" dirty="0"/>
              <a:t> </a:t>
            </a:r>
            <a:r>
              <a:rPr lang="en-US" sz="2400" dirty="0" err="1"/>
              <a:t>liniară</a:t>
            </a:r>
            <a:r>
              <a:rPr lang="en-US" sz="2400" dirty="0"/>
              <a:t> la </a:t>
            </a:r>
            <a:r>
              <a:rPr lang="en-US" sz="2400" dirty="0" err="1"/>
              <a:t>polinomială</a:t>
            </a:r>
            <a:r>
              <a:rPr lang="en-U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Adaugi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</a:t>
            </a:r>
            <a:r>
              <a:rPr lang="ro-RO" sz="2400" dirty="0"/>
              <a:t>ți predictori</a:t>
            </a:r>
            <a:r>
              <a:rPr lang="en-US" sz="2400" dirty="0"/>
              <a:t> </a:t>
            </a:r>
            <a:r>
              <a:rPr lang="en-US" sz="2400" dirty="0" err="1"/>
              <a:t>relevan</a:t>
            </a:r>
            <a:r>
              <a:rPr lang="ro-RO" sz="2400" dirty="0"/>
              <a:t>ți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Folosești</a:t>
            </a:r>
            <a:r>
              <a:rPr lang="en-US" sz="2400" dirty="0"/>
              <a:t> </a:t>
            </a:r>
            <a:r>
              <a:rPr lang="en-US" sz="2400" dirty="0" err="1"/>
              <a:t>modele</a:t>
            </a:r>
            <a:r>
              <a:rPr lang="en-US" sz="2400" dirty="0"/>
              <a:t> non-</a:t>
            </a:r>
            <a:r>
              <a:rPr lang="en-US" sz="2400" dirty="0" err="1"/>
              <a:t>lineare</a:t>
            </a:r>
            <a:r>
              <a:rPr lang="en-US" sz="2400" dirty="0"/>
              <a:t> (</a:t>
            </a:r>
            <a:r>
              <a:rPr lang="en-US" sz="2400" dirty="0" err="1"/>
              <a:t>XGBoost</a:t>
            </a:r>
            <a:r>
              <a:rPr lang="en-US" sz="2400" dirty="0"/>
              <a:t>, Random Forest, SVM RBF).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Scazi</a:t>
            </a:r>
            <a:r>
              <a:rPr lang="en-US" sz="2400" dirty="0"/>
              <a:t> </a:t>
            </a:r>
            <a:r>
              <a:rPr lang="ro-RO" sz="2400" dirty="0"/>
              <a:t>coeficientul de </a:t>
            </a:r>
            <a:r>
              <a:rPr lang="en-US" sz="2400" dirty="0" err="1"/>
              <a:t>regularizare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CBAE-A46B-CF71-5ED4-B877D1AE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57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A5CB78F-B18F-E4EF-A71C-FB1E189D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F4522-C964-D8FF-3323-DD5A825C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7CCDB-6D39-0547-B7B3-C80E39D6513A}" type="slidenum">
              <a:rPr lang="en-US" smtClean="0"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49895-C18E-2EC7-DCEB-5A488330AE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5900"/>
            <a:ext cx="11493500" cy="76835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algn="l"/>
            <a:r>
              <a:rPr lang="ro-RO" dirty="0">
                <a:solidFill>
                  <a:srgbClr val="464646"/>
                </a:solidFill>
              </a:rPr>
              <a:t>   Tratament Variance/supra-ajustare/supra-adaptare</a:t>
            </a: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2281F-D0E3-6945-D994-4DB42090394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2104" y="1177925"/>
            <a:ext cx="9798050" cy="384175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Karla"/>
              </a:rPr>
              <a:t>🛠️  Cum </a:t>
            </a:r>
            <a:r>
              <a:rPr lang="en-US" sz="2400" b="1" dirty="0" err="1">
                <a:solidFill>
                  <a:srgbClr val="464646"/>
                </a:solidFill>
                <a:latin typeface="Karla"/>
              </a:rPr>
              <a:t>reduci</a:t>
            </a:r>
            <a:r>
              <a:rPr lang="en-US" sz="2400" b="1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b="1" dirty="0" err="1">
                <a:solidFill>
                  <a:srgbClr val="464646"/>
                </a:solidFill>
                <a:latin typeface="Karla"/>
              </a:rPr>
              <a:t>variația</a:t>
            </a:r>
            <a:r>
              <a:rPr lang="en-US" sz="2400" b="1" dirty="0">
                <a:solidFill>
                  <a:srgbClr val="464646"/>
                </a:solidFill>
                <a:latin typeface="Karla"/>
              </a:rPr>
              <a:t> (model </a:t>
            </a:r>
            <a:r>
              <a:rPr lang="en-US" sz="2400" b="1" dirty="0" err="1">
                <a:solidFill>
                  <a:srgbClr val="464646"/>
                </a:solidFill>
                <a:latin typeface="Karla"/>
              </a:rPr>
              <a:t>prea</a:t>
            </a:r>
            <a:r>
              <a:rPr lang="en-US" sz="2400" b="1" dirty="0">
                <a:solidFill>
                  <a:srgbClr val="464646"/>
                </a:solidFill>
                <a:latin typeface="Karla"/>
              </a:rPr>
              <a:t> complex)</a:t>
            </a:r>
            <a:r>
              <a:rPr lang="ro-RO" sz="2400" b="1" dirty="0">
                <a:solidFill>
                  <a:srgbClr val="464646"/>
                </a:solidFill>
                <a:latin typeface="Karla"/>
              </a:rPr>
              <a:t>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464646"/>
                </a:solidFill>
                <a:latin typeface="Karla"/>
              </a:rPr>
              <a:t>📌 </a:t>
            </a:r>
            <a:r>
              <a:rPr lang="en-US" sz="2400" i="1" dirty="0">
                <a:solidFill>
                  <a:srgbClr val="464646"/>
                </a:solidFill>
                <a:latin typeface="Karla"/>
              </a:rPr>
              <a:t>Scop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: </a:t>
            </a:r>
            <a:r>
              <a:rPr lang="it-IT" sz="2400" dirty="0">
                <a:solidFill>
                  <a:srgbClr val="464646"/>
                </a:solidFill>
                <a:latin typeface="Karla"/>
              </a:rPr>
              <a:t>modelul să nu memoreze zgomotul, ci să generalizeze.</a:t>
            </a:r>
            <a:endParaRPr lang="ro-RO" sz="2400" dirty="0">
              <a:solidFill>
                <a:srgbClr val="464646"/>
              </a:solidFill>
              <a:latin typeface="Karla"/>
            </a:endParaRPr>
          </a:p>
          <a:p>
            <a:pPr marL="0" indent="0">
              <a:buNone/>
            </a:pPr>
            <a:endParaRPr lang="en-US" sz="2400" dirty="0">
              <a:solidFill>
                <a:srgbClr val="464646"/>
              </a:solidFill>
              <a:latin typeface="Karla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Karla"/>
              </a:rPr>
              <a:t>Simplifici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sau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stabilizezi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modelul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:</a:t>
            </a:r>
          </a:p>
          <a:p>
            <a:r>
              <a:rPr lang="en-US" sz="2400" dirty="0" err="1">
                <a:solidFill>
                  <a:srgbClr val="464646"/>
                </a:solidFill>
                <a:latin typeface="Karla"/>
              </a:rPr>
              <a:t>Reduci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numărul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de features (feature selection).</a:t>
            </a:r>
          </a:p>
          <a:p>
            <a:r>
              <a:rPr lang="en-US" sz="2400" dirty="0" err="1">
                <a:solidFill>
                  <a:srgbClr val="464646"/>
                </a:solidFill>
                <a:latin typeface="Karla"/>
              </a:rPr>
              <a:t>Crești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numărul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de date</a:t>
            </a:r>
            <a:r>
              <a:rPr lang="ro-RO" sz="2400" dirty="0">
                <a:solidFill>
                  <a:srgbClr val="464646"/>
                </a:solidFill>
                <a:latin typeface="Karla"/>
              </a:rPr>
              <a:t> pentru antrenament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(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augmentare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sau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colectare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).</a:t>
            </a:r>
          </a:p>
          <a:p>
            <a:r>
              <a:rPr lang="en-US" sz="2400" dirty="0" err="1">
                <a:solidFill>
                  <a:srgbClr val="464646"/>
                </a:solidFill>
                <a:latin typeface="Karla"/>
              </a:rPr>
              <a:t>Adaugi</a:t>
            </a:r>
            <a:r>
              <a:rPr lang="en-US" sz="2400" dirty="0">
                <a:solidFill>
                  <a:srgbClr val="464646"/>
                </a:solidFill>
                <a:latin typeface="Karla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Karla"/>
              </a:rPr>
              <a:t>regularizare</a:t>
            </a:r>
            <a:r>
              <a:rPr lang="ro-RO" sz="2400" dirty="0">
                <a:solidFill>
                  <a:srgbClr val="464646"/>
                </a:solidFill>
                <a:latin typeface="Karla"/>
              </a:rPr>
              <a:t>.</a:t>
            </a:r>
            <a:endParaRPr lang="en-US" sz="2400" b="1" dirty="0">
              <a:solidFill>
                <a:srgbClr val="464646"/>
              </a:solidFill>
              <a:latin typeface="Karla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CF2783-2549-D458-AA8C-A44773E8158D}"/>
              </a:ext>
            </a:extLst>
          </p:cNvPr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452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</a:t>
            </a:r>
            <a:r>
              <a:rPr lang="ro-RO" dirty="0"/>
              <a:t>ță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36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4AFD66-7904-A19E-FEA7-7509B169A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71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</a:t>
            </a:r>
            <a:r>
              <a:rPr lang="ro-RO" dirty="0"/>
              <a:t>ță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2B7F3-00ED-670E-3DE3-07364F58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24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8F4FC7-F1E1-EE82-4FFF-2CD8C106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43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Modele liniare</a:t>
            </a:r>
            <a:r>
              <a:rPr lang="en-US" dirty="0"/>
              <a:t>: 20 </a:t>
            </a:r>
            <a:r>
              <a:rPr lang="ro-RO" dirty="0"/>
              <a:t>de înregistrări,</a:t>
            </a:r>
            <a:r>
              <a:rPr lang="en-US" dirty="0"/>
              <a:t> 2000 simul</a:t>
            </a:r>
            <a:r>
              <a:rPr lang="ro-RO" dirty="0"/>
              <a:t>ări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7C7B0-DA21-47F1-BB61-8F9F791C4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16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486400" cy="3657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7F0D87-92DF-64C8-C485-1193367A0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32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25F0A-C427-459E-BAA6-1E22F09AC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021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486400" cy="3657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1C6CAE-F1FF-A88B-E580-0075C5606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15" y="846832"/>
            <a:ext cx="10327008" cy="2111143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2089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Pol</a:t>
            </a:r>
            <a:r>
              <a:rPr lang="ro-RO" sz="2800" dirty="0"/>
              <a:t>inom grad</a:t>
            </a:r>
            <a:r>
              <a:rPr lang="en-US" sz="2800" dirty="0"/>
              <a:t> 10 : 20 </a:t>
            </a:r>
            <a:r>
              <a:rPr lang="ro-RO" sz="2800" dirty="0"/>
              <a:t>de înregistrări, </a:t>
            </a:r>
            <a:r>
              <a:rPr lang="en-US" sz="2800" dirty="0"/>
              <a:t>2000 simul</a:t>
            </a:r>
            <a:r>
              <a:rPr lang="ro-RO" sz="2800" dirty="0"/>
              <a:t>ări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143000"/>
            <a:ext cx="6858000" cy="45720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8098D1-2F09-6DD6-F424-BD380F1A6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438" y="907960"/>
            <a:ext cx="10326687" cy="2111375"/>
          </a:xfrm>
        </p:spPr>
        <p:txBody>
          <a:bodyPr/>
          <a:lstStyle/>
          <a:p>
            <a:r>
              <a:rPr lang="ro-RO" dirty="0"/>
              <a:t>Simulare = subeșantionare aleatoare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56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US" sz="2400" dirty="0"/>
              <a:t>St</a:t>
            </a:r>
            <a:r>
              <a:rPr lang="ro-RO" sz="2400" dirty="0"/>
              <a:t>â</a:t>
            </a:r>
            <a:r>
              <a:rPr lang="en-US" sz="2400" dirty="0" err="1"/>
              <a:t>nga</a:t>
            </a:r>
            <a:r>
              <a:rPr lang="en-US" sz="2400" dirty="0"/>
              <a:t>: 2000 </a:t>
            </a:r>
            <a:r>
              <a:rPr lang="ro-RO" sz="2400" dirty="0"/>
              <a:t>drepte de regresie</a:t>
            </a:r>
            <a:r>
              <a:rPr lang="en-US" sz="2400" dirty="0"/>
              <a:t>, </a:t>
            </a:r>
            <a:r>
              <a:rPr lang="ro-RO" sz="2400" dirty="0"/>
              <a:t>fiecare dintr-un subeșantion diferit de</a:t>
            </a:r>
            <a:r>
              <a:rPr lang="en-US" sz="2400" dirty="0"/>
              <a:t> 20 </a:t>
            </a:r>
            <a:r>
              <a:rPr lang="ro-RO" sz="2400" dirty="0"/>
              <a:t>observații</a:t>
            </a:r>
            <a:r>
              <a:rPr lang="en-US" sz="2400" dirty="0"/>
              <a:t> </a:t>
            </a:r>
          </a:p>
          <a:p>
            <a:r>
              <a:rPr lang="en-US" sz="2400" dirty="0" err="1"/>
              <a:t>Dreapta</a:t>
            </a:r>
            <a:r>
              <a:rPr lang="en-US" sz="2400" dirty="0"/>
              <a:t>: </a:t>
            </a:r>
            <a:r>
              <a:rPr lang="ro-RO" sz="2400" dirty="0"/>
              <a:t>modele polinomiale de grad 10, pe aceleași subeșantioane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59000"/>
            <a:ext cx="6858000" cy="4572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835" y="2159000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96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/>
              <a:t>Stânga</a:t>
            </a:r>
            <a:r>
              <a:rPr lang="en-US" sz="2400" dirty="0"/>
              <a:t>: </a:t>
            </a:r>
            <a:r>
              <a:rPr lang="ro-RO" sz="2400" dirty="0"/>
              <a:t>box-plot Coeficienți regresie liniară</a:t>
            </a:r>
            <a:endParaRPr lang="en-US" sz="2400" dirty="0"/>
          </a:p>
          <a:p>
            <a:r>
              <a:rPr lang="ro-RO" sz="2400" dirty="0"/>
              <a:t>Dreapta</a:t>
            </a:r>
            <a:r>
              <a:rPr lang="en-US" sz="2400" dirty="0"/>
              <a:t>: </a:t>
            </a:r>
            <a:r>
              <a:rPr lang="ro-RO" sz="2400" dirty="0"/>
              <a:t>box-plot Coeficienți regresie polinomială de ordin</a:t>
            </a:r>
            <a:r>
              <a:rPr lang="en-US" sz="2400" dirty="0"/>
              <a:t> 10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888937"/>
            <a:ext cx="6858000" cy="457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92" y="1828800"/>
            <a:ext cx="6858000" cy="4572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663847" y="2041742"/>
            <a:ext cx="663879" cy="651354"/>
          </a:xfrm>
          <a:prstGeom prst="ellipse">
            <a:avLst/>
          </a:prstGeom>
          <a:noFill/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24643" y="5617028"/>
            <a:ext cx="5078186" cy="489857"/>
          </a:xfrm>
          <a:prstGeom prst="rect">
            <a:avLst/>
          </a:prstGeom>
          <a:solidFill>
            <a:srgbClr val="F8FAF8"/>
          </a:solidFill>
          <a:ln>
            <a:noFill/>
          </a:ln>
          <a:effectLst>
            <a:outerShdw blurRad="50800" dist="50800" dir="5400000" algn="ctr" rotWithShape="0">
              <a:srgbClr val="F9F9F9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76540" y="5700430"/>
                <a:ext cx="3765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540" y="5700430"/>
                <a:ext cx="376513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9836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028242" y="5682928"/>
                <a:ext cx="36183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242" y="5682928"/>
                <a:ext cx="361830" cy="553998"/>
              </a:xfrm>
              <a:prstGeom prst="rect">
                <a:avLst/>
              </a:prstGeom>
              <a:blipFill rotWithShape="0">
                <a:blip r:embed="rId5"/>
                <a:stretch>
                  <a:fillRect l="-11864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105080" y="5684688"/>
            <a:ext cx="5078186" cy="120307"/>
          </a:xfrm>
          <a:prstGeom prst="rect">
            <a:avLst/>
          </a:prstGeom>
          <a:solidFill>
            <a:srgbClr val="F8FAF8"/>
          </a:solidFill>
          <a:ln>
            <a:noFill/>
          </a:ln>
          <a:effectLst>
            <a:outerShdw blurRad="50800" dist="50800" dir="5400000" algn="ctr" rotWithShape="0">
              <a:srgbClr val="F9F9F9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15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221" y="1129966"/>
            <a:ext cx="7338758" cy="4609098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A63FC01-4D8D-4BE4-A56A-622BE476C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 Varian</a:t>
            </a:r>
            <a:r>
              <a:rPr lang="ro-RO" dirty="0"/>
              <a:t>ță - concluzie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062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Regulariza</a:t>
            </a:r>
            <a:r>
              <a:rPr lang="ro-RO" dirty="0"/>
              <a:t>RE</a:t>
            </a:r>
            <a:r>
              <a:rPr lang="en-US" dirty="0"/>
              <a:t>: LASSO </a:t>
            </a:r>
            <a:r>
              <a:rPr lang="ro-RO" dirty="0"/>
              <a:t>și</a:t>
            </a:r>
            <a:r>
              <a:rPr lang="en-US" dirty="0"/>
              <a:t> Ridge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FD94A-2C8A-4374-8DEB-BFC0EA19B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239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Regulariza</a:t>
            </a:r>
            <a:r>
              <a:rPr lang="ro-RO" dirty="0"/>
              <a:t>re</a:t>
            </a:r>
            <a:r>
              <a:rPr lang="en-US" dirty="0"/>
              <a:t>: O imagine de </a:t>
            </a:r>
            <a:r>
              <a:rPr lang="en-US" dirty="0" err="1"/>
              <a:t>ansamblu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 err="1"/>
                  <a:t>Ideea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regularizare</a:t>
                </a:r>
                <a:r>
                  <a:rPr lang="en-US" sz="2400" dirty="0"/>
                  <a:t> se </a:t>
                </a:r>
                <a:r>
                  <a:rPr lang="en-US" sz="2400" dirty="0" err="1"/>
                  <a:t>învârte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în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jurul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modificării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funcției</a:t>
                </a:r>
                <a:r>
                  <a:rPr lang="en-US" sz="2400" dirty="0"/>
                  <a:t> de </a:t>
                </a:r>
                <a:r>
                  <a:rPr lang="en-US" sz="2400" dirty="0" err="1"/>
                  <a:t>pierdere</a:t>
                </a:r>
                <a:r>
                  <a:rPr lang="en-US" sz="2400" dirty="0"/>
                  <a:t> L</a:t>
                </a:r>
                <a:r>
                  <a:rPr lang="ro-RO" sz="2400" dirty="0"/>
                  <a:t> (loss function; de ex MSE)</a:t>
                </a:r>
                <a:r>
                  <a:rPr lang="en-US" sz="2400" dirty="0"/>
                  <a:t>; </a:t>
                </a:r>
                <a:r>
                  <a:rPr lang="en-US" sz="2400" dirty="0" err="1"/>
                  <a:t>în</a:t>
                </a:r>
                <a:r>
                  <a:rPr lang="en-US" sz="2400" dirty="0"/>
                  <a:t> special, </a:t>
                </a:r>
                <a:r>
                  <a:rPr lang="en-US" sz="2400" dirty="0" err="1"/>
                  <a:t>adăugăm</a:t>
                </a:r>
                <a:r>
                  <a:rPr lang="en-US" sz="2400" dirty="0"/>
                  <a:t> un termen de </a:t>
                </a:r>
                <a:r>
                  <a:rPr lang="en-US" sz="2400" dirty="0" err="1"/>
                  <a:t>regularizare</a:t>
                </a:r>
                <a:r>
                  <a:rPr lang="en-US" sz="2400" dirty="0"/>
                  <a:t> care </a:t>
                </a:r>
                <a:r>
                  <a:rPr lang="en-US" sz="2400" dirty="0" err="1"/>
                  <a:t>penalizează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unele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proprietăți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specificate</a:t>
                </a:r>
                <a:r>
                  <a:rPr lang="en-US" sz="2400" dirty="0"/>
                  <a:t> ale </a:t>
                </a:r>
                <a:r>
                  <a:rPr lang="en-US" sz="2400" dirty="0" err="1"/>
                  <a:t>parametrilor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modelului</a:t>
                </a:r>
                <a:r>
                  <a:rPr lang="ro-RO" sz="2400" dirty="0"/>
                  <a:t>Ș</a:t>
                </a: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ro-RO" sz="2400" dirty="0"/>
                  <a:t>unde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en-US" sz="2400" dirty="0"/>
                  <a:t> este un scalar care dă greutatea (sau importanța) termenului de </a:t>
                </a:r>
                <a:r>
                  <a:rPr lang="en-US" sz="2400" dirty="0" err="1"/>
                  <a:t>regularizare</a:t>
                </a:r>
                <a:r>
                  <a:rPr lang="ro-RO" sz="2400" dirty="0"/>
                  <a:t> </a:t>
                </a:r>
                <a:r>
                  <a:rPr lang="ro-RO" sz="2400" i="1" dirty="0"/>
                  <a:t>R</a:t>
                </a:r>
                <a:r>
                  <a:rPr lang="en-US" sz="24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ro-RO" sz="2400" dirty="0"/>
                  <a:t>Antrenarea</a:t>
                </a:r>
                <a:r>
                  <a:rPr lang="it-IT" sz="2400" dirty="0"/>
                  <a:t> modelului utilizând funcția de pierdere modificată</a:t>
                </a:r>
                <a:r>
                  <a:rPr lang="en-US" sz="2400" dirty="0"/>
                  <a:t> </a:t>
                </a:r>
                <a:r>
                  <a:rPr lang="en-US" sz="2400" i="1" dirty="0" err="1"/>
                  <a:t>L</a:t>
                </a:r>
                <a:r>
                  <a:rPr lang="en-US" sz="2400" i="1" baseline="-25000" dirty="0" err="1"/>
                  <a:t>reg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ar</a:t>
                </a:r>
                <a:r>
                  <a:rPr lang="en-US" sz="2400" dirty="0"/>
                  <a:t> </a:t>
                </a:r>
                <a:r>
                  <a:rPr lang="ro-RO" sz="2400" dirty="0"/>
                  <a:t>duce la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parametrii</a:t>
                </a:r>
                <a:r>
                  <a:rPr lang="ro-RO" sz="2400" dirty="0"/>
                  <a:t> ai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modelului</a:t>
                </a:r>
                <a:r>
                  <a:rPr lang="en-US" sz="2400" dirty="0"/>
                  <a:t> cu </a:t>
                </a:r>
                <a:r>
                  <a:rPr lang="en-US" sz="2400" dirty="0" err="1"/>
                  <a:t>proprietăți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dorite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specificate</a:t>
                </a:r>
                <a:r>
                  <a:rPr lang="en-US" sz="2400" dirty="0"/>
                  <a:t> de R).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5" t="-2305" b="-109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59" y="2812538"/>
            <a:ext cx="4148119" cy="4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0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Regresie </a:t>
            </a:r>
            <a:r>
              <a:rPr lang="en-US" dirty="0"/>
              <a:t>LASSO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err="1"/>
              <a:t>Deoarece</a:t>
            </a:r>
            <a:r>
              <a:rPr lang="en-US" sz="2400" dirty="0"/>
              <a:t> </a:t>
            </a:r>
            <a:r>
              <a:rPr lang="en-US" sz="2400" dirty="0" err="1"/>
              <a:t>dorim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descurajăm</a:t>
            </a:r>
            <a:r>
              <a:rPr lang="en-US" sz="2400" dirty="0"/>
              <a:t> </a:t>
            </a:r>
            <a:r>
              <a:rPr lang="en-US" sz="2400" dirty="0" err="1"/>
              <a:t>valorile</a:t>
            </a:r>
            <a:r>
              <a:rPr lang="en-US" sz="2400" dirty="0"/>
              <a:t> extreme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parametr</a:t>
            </a:r>
            <a:r>
              <a:rPr lang="ro-RO" sz="2400" dirty="0"/>
              <a:t>ii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,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alegem</a:t>
            </a:r>
            <a:r>
              <a:rPr lang="en-US" sz="2400" dirty="0"/>
              <a:t> un termen de </a:t>
            </a:r>
            <a:r>
              <a:rPr lang="en-US" sz="2400" dirty="0" err="1"/>
              <a:t>regularizare</a:t>
            </a:r>
            <a:r>
              <a:rPr lang="en-US" sz="2400" dirty="0"/>
              <a:t> care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penalizeze</a:t>
            </a:r>
            <a:r>
              <a:rPr lang="en-US" sz="2400" dirty="0"/>
              <a:t> </a:t>
            </a:r>
            <a:r>
              <a:rPr lang="ro-RO" sz="2400" dirty="0"/>
              <a:t>magnitudinea</a:t>
            </a:r>
            <a:r>
              <a:rPr lang="en-US" sz="2400" dirty="0"/>
              <a:t> </a:t>
            </a:r>
            <a:r>
              <a:rPr lang="en-US" sz="2400" dirty="0" err="1"/>
              <a:t>parametrilor</a:t>
            </a:r>
            <a:r>
              <a:rPr lang="en-US" sz="2400" dirty="0"/>
              <a:t>.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funcția</a:t>
            </a:r>
            <a:r>
              <a:rPr lang="en-US" sz="2400" dirty="0"/>
              <a:t> </a:t>
            </a:r>
            <a:r>
              <a:rPr lang="en-US" sz="2400" dirty="0" err="1"/>
              <a:t>noastră</a:t>
            </a:r>
            <a:r>
              <a:rPr lang="en-US" sz="2400" dirty="0"/>
              <a:t> de </a:t>
            </a:r>
            <a:r>
              <a:rPr lang="en-US" sz="2400" dirty="0" err="1"/>
              <a:t>pierdere</a:t>
            </a:r>
            <a:r>
              <a:rPr lang="en-US" sz="2400" dirty="0"/>
              <a:t> </a:t>
            </a:r>
            <a:r>
              <a:rPr lang="en-US" sz="2400" dirty="0" err="1"/>
              <a:t>vom</a:t>
            </a:r>
            <a:r>
              <a:rPr lang="en-US" sz="2400" dirty="0"/>
              <a:t> </a:t>
            </a:r>
            <a:r>
              <a:rPr lang="en-US" sz="2400" dirty="0" err="1"/>
              <a:t>folosi</a:t>
            </a:r>
            <a:r>
              <a:rPr lang="en-US" sz="2400" dirty="0"/>
              <a:t> din </a:t>
            </a:r>
            <a:r>
              <a:rPr lang="en-US" sz="2400" dirty="0" err="1"/>
              <a:t>nou</a:t>
            </a:r>
            <a:r>
              <a:rPr lang="en-US" sz="2400" dirty="0"/>
              <a:t> MSE:</a:t>
            </a:r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ro-RO" sz="2400" dirty="0"/>
          </a:p>
          <a:p>
            <a:pPr>
              <a:spcAft>
                <a:spcPts val="1200"/>
              </a:spcAft>
            </a:pPr>
            <a:r>
              <a:rPr lang="ro-RO" sz="2400" dirty="0"/>
              <a:t>Aici</a:t>
            </a:r>
            <a:r>
              <a:rPr lang="en-US" sz="2400" dirty="0"/>
              <a:t>             </a:t>
            </a:r>
            <a:r>
              <a:rPr lang="ro-RO" sz="2400" dirty="0"/>
              <a:t> este norma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1 </a:t>
            </a:r>
            <a:r>
              <a:rPr lang="ro-RO" sz="2400" dirty="0"/>
              <a:t>a vectorului</a:t>
            </a:r>
            <a:r>
              <a:rPr lang="en-US" sz="2400" dirty="0"/>
              <a:t>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303" y="2485340"/>
            <a:ext cx="6716629" cy="10665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81" y="4523164"/>
            <a:ext cx="711700" cy="7247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542" y="4987216"/>
            <a:ext cx="2412152" cy="115908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6458F7E-B988-8E9E-5723-C80B67FD1C22}"/>
              </a:ext>
            </a:extLst>
          </p:cNvPr>
          <p:cNvSpPr/>
          <p:nvPr/>
        </p:nvSpPr>
        <p:spPr>
          <a:xfrm>
            <a:off x="7759337" y="2299063"/>
            <a:ext cx="1663337" cy="1533615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648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Regresie </a:t>
            </a:r>
            <a:r>
              <a:rPr lang="en-US" dirty="0"/>
              <a:t>LASSO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415" y="983005"/>
            <a:ext cx="10327008" cy="211114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urmare</a:t>
            </a:r>
            <a:r>
              <a:rPr lang="en-US" sz="2400" dirty="0"/>
              <a:t>, </a:t>
            </a:r>
            <a:r>
              <a:rPr lang="ro-RO" sz="2400" dirty="0"/>
              <a:t>vom spune în mod uzual că </a:t>
            </a:r>
            <a:r>
              <a:rPr lang="en-US" sz="2400" i="1" dirty="0"/>
              <a:t>L</a:t>
            </a:r>
            <a:r>
              <a:rPr lang="en-US" sz="2400" baseline="-25000" dirty="0"/>
              <a:t>LASSO</a:t>
            </a:r>
            <a:r>
              <a:rPr lang="en-US" sz="2400" dirty="0"/>
              <a:t> </a:t>
            </a:r>
            <a:r>
              <a:rPr lang="ro-RO" sz="2400" dirty="0"/>
              <a:t>este funcția de pierderi (loss-function) pentru regularizare</a:t>
            </a:r>
            <a:r>
              <a:rPr lang="en-US" sz="2400" dirty="0"/>
              <a:t>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1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 err="1"/>
              <a:t>Găsirea</a:t>
            </a:r>
            <a:r>
              <a:rPr lang="en-US" sz="2400" dirty="0"/>
              <a:t> </a:t>
            </a:r>
            <a:r>
              <a:rPr lang="en-US" sz="2400" dirty="0" err="1"/>
              <a:t>parametrilor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ro-RO" sz="2400" dirty="0"/>
              <a:t>, </a:t>
            </a:r>
            <a:r>
              <a:rPr lang="en-US" sz="2400" b="1" i="1" dirty="0" err="1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 err="1">
                <a:latin typeface="Karla" charset="0"/>
                <a:ea typeface="Karla" charset="0"/>
                <a:cs typeface="Karla" charset="0"/>
              </a:rPr>
              <a:t>LASSO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, care minimizează funcția de pierdere pentru regularizarea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1 </a:t>
            </a:r>
            <a:r>
              <a:rPr lang="ro-RO" sz="2400" dirty="0"/>
              <a:t>se numește regresie </a:t>
            </a:r>
            <a:r>
              <a:rPr lang="en-US" sz="2400" b="1" i="1" dirty="0"/>
              <a:t>LASS</a:t>
            </a:r>
            <a:r>
              <a:rPr lang="ro-RO" sz="2400" b="1" i="1" dirty="0"/>
              <a:t>O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78" y="2734513"/>
            <a:ext cx="11021121" cy="372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7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Regresie </a:t>
            </a:r>
            <a:r>
              <a:rPr lang="en-US" dirty="0"/>
              <a:t>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Alternativ</a:t>
            </a:r>
            <a:r>
              <a:rPr lang="en-US" sz="2400" dirty="0"/>
              <a:t>, </a:t>
            </a:r>
            <a:r>
              <a:rPr lang="en-US" sz="2400" dirty="0" err="1"/>
              <a:t>putem</a:t>
            </a:r>
            <a:r>
              <a:rPr lang="en-US" sz="2400" dirty="0"/>
              <a:t> </a:t>
            </a:r>
            <a:r>
              <a:rPr lang="en-US" sz="2400" dirty="0" err="1"/>
              <a:t>alege</a:t>
            </a:r>
            <a:r>
              <a:rPr lang="en-US" sz="2400" dirty="0"/>
              <a:t> un termen de </a:t>
            </a:r>
            <a:r>
              <a:rPr lang="en-US" sz="2400" dirty="0" err="1"/>
              <a:t>regularizare</a:t>
            </a:r>
            <a:r>
              <a:rPr lang="en-US" sz="2400" dirty="0"/>
              <a:t> care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penalizeze</a:t>
            </a:r>
            <a:r>
              <a:rPr lang="en-US" sz="2400" dirty="0"/>
              <a:t> </a:t>
            </a:r>
            <a:r>
              <a:rPr lang="en-US" sz="2400" dirty="0" err="1"/>
              <a:t>pătratele</a:t>
            </a:r>
            <a:r>
              <a:rPr lang="en-US" sz="2400" dirty="0"/>
              <a:t> </a:t>
            </a:r>
            <a:r>
              <a:rPr lang="ro-RO" sz="2400" dirty="0"/>
              <a:t>magitudinilor</a:t>
            </a:r>
            <a:r>
              <a:rPr lang="en-US" sz="2400" dirty="0"/>
              <a:t> </a:t>
            </a:r>
            <a:r>
              <a:rPr lang="en-US" sz="2400" dirty="0" err="1"/>
              <a:t>parametrilor</a:t>
            </a:r>
            <a:r>
              <a:rPr lang="en-US" sz="2400" dirty="0"/>
              <a:t>. </a:t>
            </a:r>
            <a:r>
              <a:rPr lang="ro-RO" sz="2400" dirty="0"/>
              <a:t>Astfel </a:t>
            </a:r>
            <a:r>
              <a:rPr lang="en-US" sz="2400" dirty="0" err="1"/>
              <a:t>funcția</a:t>
            </a:r>
            <a:r>
              <a:rPr lang="en-US" sz="2400" dirty="0"/>
              <a:t> </a:t>
            </a:r>
            <a:r>
              <a:rPr lang="en-US" sz="2400" dirty="0" err="1"/>
              <a:t>noastră</a:t>
            </a:r>
            <a:r>
              <a:rPr lang="en-US" sz="2400" dirty="0"/>
              <a:t> de </a:t>
            </a:r>
            <a:r>
              <a:rPr lang="en-US" sz="2400" dirty="0" err="1"/>
              <a:t>pierdere</a:t>
            </a:r>
            <a:r>
              <a:rPr lang="en-US" sz="2400" dirty="0"/>
              <a:t> </a:t>
            </a:r>
            <a:r>
              <a:rPr lang="en-US" sz="2400" dirty="0" err="1"/>
              <a:t>regularizată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ro-RO" sz="2400" dirty="0"/>
          </a:p>
          <a:p>
            <a:r>
              <a:rPr lang="ro-RO" sz="2400" dirty="0"/>
              <a:t>Aici                       este norma</a:t>
            </a:r>
            <a:r>
              <a:rPr lang="en-US" sz="2400" dirty="0"/>
              <a:t>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2 </a:t>
            </a:r>
            <a:r>
              <a:rPr lang="ro-RO" sz="2400" dirty="0"/>
              <a:t>a vectorului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</a:p>
          <a:p>
            <a:endParaRPr lang="en-US" sz="2400" b="1" i="1" dirty="0">
              <a:latin typeface="Symbol" charset="2"/>
              <a:ea typeface="Symbol" charset="2"/>
              <a:cs typeface="Symbol" charset="2"/>
            </a:endParaRPr>
          </a:p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5" y="2242626"/>
            <a:ext cx="6731669" cy="11425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345" y="4016146"/>
            <a:ext cx="813758" cy="7168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952" y="4626818"/>
            <a:ext cx="2181058" cy="113129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B1FCB92-4C20-E24A-94A4-5DD337EA5417}"/>
              </a:ext>
            </a:extLst>
          </p:cNvPr>
          <p:cNvSpPr/>
          <p:nvPr/>
        </p:nvSpPr>
        <p:spPr>
          <a:xfrm>
            <a:off x="7971210" y="2124090"/>
            <a:ext cx="1663337" cy="1533615"/>
          </a:xfrm>
          <a:prstGeom prst="ellipse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444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914" y="892367"/>
            <a:ext cx="10327008" cy="211114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urmare</a:t>
            </a:r>
            <a:r>
              <a:rPr lang="en-US" sz="2400" dirty="0"/>
              <a:t>, </a:t>
            </a:r>
            <a:r>
              <a:rPr lang="ro-RO" sz="2400" dirty="0"/>
              <a:t>vom spune în mod uzual că </a:t>
            </a:r>
            <a:r>
              <a:rPr lang="en-US" sz="2400" i="1" dirty="0" err="1"/>
              <a:t>L</a:t>
            </a:r>
            <a:r>
              <a:rPr lang="en-US" sz="2400" baseline="-25000" dirty="0" err="1"/>
              <a:t>ridge</a:t>
            </a:r>
            <a:r>
              <a:rPr lang="en-US" sz="2400" dirty="0"/>
              <a:t> </a:t>
            </a:r>
            <a:r>
              <a:rPr lang="ro-RO" sz="2400" dirty="0"/>
              <a:t>este funcția de pierderi (loss-function) pentru regularizare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2</a:t>
            </a:r>
            <a:r>
              <a:rPr 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 err="1"/>
              <a:t>Găsirea</a:t>
            </a:r>
            <a:r>
              <a:rPr lang="en-US" sz="2400" dirty="0"/>
              <a:t> </a:t>
            </a:r>
            <a:r>
              <a:rPr lang="en-US" sz="2400" dirty="0" err="1"/>
              <a:t>parametrilor</a:t>
            </a:r>
            <a:r>
              <a:rPr lang="en-US" sz="2400" dirty="0"/>
              <a:t> </a:t>
            </a:r>
            <a:r>
              <a:rPr lang="en-US" sz="2400" dirty="0" err="1"/>
              <a:t>modelului</a:t>
            </a:r>
            <a:r>
              <a:rPr lang="en-US" sz="2400" dirty="0"/>
              <a:t>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ridge</a:t>
            </a:r>
            <a:r>
              <a:rPr lang="en-US" sz="24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>
                <a:latin typeface="Karla" charset="0"/>
                <a:ea typeface="Karla" charset="0"/>
                <a:cs typeface="Karla" charset="0"/>
              </a:rPr>
              <a:t>care minimizează funcția de pierdere pentru regularizarea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2 </a:t>
            </a:r>
            <a:r>
              <a:rPr lang="ro-RO" sz="2400" dirty="0"/>
              <a:t>se numește regresie</a:t>
            </a:r>
            <a:r>
              <a:rPr lang="en-US" sz="2400" dirty="0"/>
              <a:t> </a:t>
            </a:r>
            <a:r>
              <a:rPr lang="en-US" sz="2400" b="1" i="1" dirty="0"/>
              <a:t>ridge.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78" y="2648658"/>
            <a:ext cx="10327008" cy="395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7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Alegerea lui</a:t>
            </a:r>
            <a:r>
              <a:rPr lang="en-US" dirty="0"/>
              <a:t> </a:t>
            </a:r>
            <a:r>
              <a:rPr lang="en-US" dirty="0">
                <a:latin typeface="Symbol" charset="2"/>
                <a:ea typeface="Symbol" charset="2"/>
                <a:cs typeface="Symbol" charset="2"/>
              </a:rPr>
              <a:t>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575" y="1177758"/>
            <a:ext cx="10327008" cy="393272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ro-RO" sz="2400" dirty="0"/>
              <a:t>Atât la regresia </a:t>
            </a:r>
            <a:r>
              <a:rPr lang="en-US" sz="2400" dirty="0"/>
              <a:t>ridge </a:t>
            </a:r>
            <a:r>
              <a:rPr lang="ro-RO" sz="2400" dirty="0"/>
              <a:t>cât și la cea</a:t>
            </a:r>
            <a:r>
              <a:rPr lang="en-US" sz="2400" dirty="0"/>
              <a:t> LASSO</a:t>
            </a:r>
            <a:r>
              <a:rPr lang="ro-RO" sz="2400" dirty="0"/>
              <a:t>, </a:t>
            </a:r>
            <a:r>
              <a:rPr lang="pt-BR" sz="2400" dirty="0"/>
              <a:t>vedem că cu </a:t>
            </a:r>
            <a:r>
              <a:rPr lang="ro-RO" sz="2400" dirty="0"/>
              <a:t>c</a:t>
            </a:r>
            <a:r>
              <a:rPr lang="pt-BR" sz="2400" dirty="0"/>
              <a:t>ât </a:t>
            </a:r>
            <a:r>
              <a:rPr lang="ro-RO" sz="2400" dirty="0"/>
              <a:t>este </a:t>
            </a:r>
            <a:r>
              <a:rPr lang="pt-BR" sz="2400" dirty="0"/>
              <a:t>mai mare alegerea parametrului de regularizare</a:t>
            </a:r>
            <a:r>
              <a:rPr lang="ro-RO" sz="2400" dirty="0"/>
              <a:t>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l, </a:t>
            </a:r>
            <a:r>
              <a:rPr lang="it-IT" sz="2400" dirty="0"/>
              <a:t>cu atât penalizăm mai mult valorile mari în</a:t>
            </a:r>
            <a:r>
              <a:rPr lang="ro-RO" sz="2400" dirty="0"/>
              <a:t>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Dacă</a:t>
            </a:r>
            <a:r>
              <a:rPr lang="en-US" sz="2400" dirty="0"/>
              <a:t>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ro-RO" sz="2400" dirty="0"/>
              <a:t>e aproape de </a:t>
            </a:r>
            <a:r>
              <a:rPr lang="en-US" sz="2400" dirty="0"/>
              <a:t>zero, </a:t>
            </a:r>
            <a:r>
              <a:rPr lang="ro-RO" sz="2400" dirty="0"/>
              <a:t>regăsim </a:t>
            </a:r>
            <a:r>
              <a:rPr lang="en-US" sz="2400" dirty="0"/>
              <a:t>MSE, </a:t>
            </a:r>
            <a:r>
              <a:rPr lang="ro-RO" sz="2400" dirty="0"/>
              <a:t>adică regresiile</a:t>
            </a:r>
            <a:r>
              <a:rPr lang="en-US" sz="2400" dirty="0"/>
              <a:t> ridge </a:t>
            </a:r>
            <a:r>
              <a:rPr lang="ro-RO" sz="2400" dirty="0"/>
              <a:t>și</a:t>
            </a:r>
            <a:r>
              <a:rPr lang="en-US" sz="2400" dirty="0"/>
              <a:t> LASSO regression </a:t>
            </a:r>
            <a:r>
              <a:rPr lang="ro-RO" sz="2400" dirty="0"/>
              <a:t>se apropie de regresia obișnuită</a:t>
            </a:r>
            <a:r>
              <a:rPr lang="en-US" sz="2400" dirty="0"/>
              <a:t>.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ro-RO" sz="2400" dirty="0"/>
              <a:t>Dacă</a:t>
            </a:r>
            <a:r>
              <a:rPr lang="en-US" sz="2400" dirty="0"/>
              <a:t>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ro-RO" sz="2400" dirty="0"/>
              <a:t>este suficient de mare</a:t>
            </a:r>
            <a:r>
              <a:rPr lang="en-US" sz="2400" dirty="0"/>
              <a:t>, </a:t>
            </a:r>
            <a:r>
              <a:rPr lang="ro-RO" sz="2400" dirty="0"/>
              <a:t>termenul</a:t>
            </a:r>
            <a:r>
              <a:rPr lang="en-US" sz="2400" dirty="0"/>
              <a:t> MSE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funcția</a:t>
            </a:r>
            <a:r>
              <a:rPr lang="en-US" sz="2400" dirty="0"/>
              <a:t> de </a:t>
            </a:r>
            <a:r>
              <a:rPr lang="en-US" sz="2400" dirty="0" err="1"/>
              <a:t>pierdere</a:t>
            </a:r>
            <a:r>
              <a:rPr lang="en-US" sz="2400" dirty="0"/>
              <a:t> </a:t>
            </a:r>
            <a:r>
              <a:rPr lang="en-US" sz="2400" dirty="0" err="1"/>
              <a:t>regularizată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fi </a:t>
            </a:r>
            <a:r>
              <a:rPr lang="en-US" sz="2400" dirty="0" err="1"/>
              <a:t>nesemnificativ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termenul</a:t>
            </a:r>
            <a:r>
              <a:rPr lang="en-US" sz="2400" dirty="0"/>
              <a:t> de </a:t>
            </a:r>
            <a:r>
              <a:rPr lang="en-US" sz="2400" dirty="0" err="1"/>
              <a:t>regularizare</a:t>
            </a:r>
            <a:r>
              <a:rPr lang="en-US" sz="2400" dirty="0"/>
              <a:t>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ridge</a:t>
            </a:r>
            <a:r>
              <a:rPr lang="en-US" sz="2400" dirty="0"/>
              <a:t> </a:t>
            </a:r>
            <a:r>
              <a:rPr lang="ro-RO" sz="2400" dirty="0"/>
              <a:t>sau</a:t>
            </a:r>
            <a:r>
              <a:rPr lang="en-US" sz="2400" dirty="0"/>
              <a:t> </a:t>
            </a:r>
            <a:r>
              <a:rPr lang="en-US" sz="2400" b="1" i="1" dirty="0" err="1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 err="1">
                <a:latin typeface="Karla" charset="0"/>
                <a:ea typeface="Karla" charset="0"/>
                <a:cs typeface="Karla" charset="0"/>
              </a:rPr>
              <a:t>LASSO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ro-RO" sz="2400" dirty="0"/>
              <a:t>va fi forțat să se apropie de </a:t>
            </a:r>
            <a:r>
              <a:rPr lang="en-US" sz="2400" dirty="0"/>
              <a:t>zero.</a:t>
            </a:r>
          </a:p>
          <a:p>
            <a:pPr>
              <a:spcAft>
                <a:spcPts val="1200"/>
              </a:spcAft>
            </a:pPr>
            <a:r>
              <a:rPr lang="ro-RO" sz="2400" dirty="0"/>
              <a:t>Pentru a evita alegeri ad-hoc pentru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</a:t>
            </a:r>
            <a:r>
              <a:rPr lang="en-US" sz="2400" dirty="0"/>
              <a:t> </a:t>
            </a:r>
            <a:r>
              <a:rPr lang="ro-RO" sz="2400" dirty="0"/>
              <a:t>putem folosi validare încrucișată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48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6501510" y="3245892"/>
            <a:ext cx="4747059" cy="1567301"/>
            <a:chOff x="1752276" y="1849318"/>
            <a:chExt cx="4747059" cy="1567301"/>
          </a:xfrm>
        </p:grpSpPr>
        <p:sp>
          <p:nvSpPr>
            <p:cNvPr id="24" name="Oval 23"/>
            <p:cNvSpPr/>
            <p:nvPr/>
          </p:nvSpPr>
          <p:spPr>
            <a:xfrm rot="18916619">
              <a:off x="3218979" y="2448760"/>
              <a:ext cx="1755020" cy="57760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 rot="18916619">
              <a:off x="2192409" y="1974795"/>
              <a:ext cx="3897644" cy="1286856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 rot="18916619">
              <a:off x="1752276" y="1849318"/>
              <a:ext cx="4747059" cy="1567301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74244" y="4164506"/>
            <a:ext cx="1747459" cy="1791051"/>
            <a:chOff x="2164154" y="3756858"/>
            <a:chExt cx="1747459" cy="1791051"/>
          </a:xfrm>
        </p:grpSpPr>
        <p:sp>
          <p:nvSpPr>
            <p:cNvPr id="14" name="Rectangle 13"/>
            <p:cNvSpPr/>
            <p:nvPr/>
          </p:nvSpPr>
          <p:spPr>
            <a:xfrm rot="2719992">
              <a:off x="2165747" y="4275300"/>
              <a:ext cx="1271016" cy="1274202"/>
            </a:xfrm>
            <a:prstGeom prst="rect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03515" y="454816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65749" y="37568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Geometria regularizării </a:t>
            </a:r>
            <a:r>
              <a:rPr lang="en-US" dirty="0"/>
              <a:t>(LASSO)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800651" y="995626"/>
                <a:ext cx="10327008" cy="2111143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𝐿𝐴𝑆𝑆𝑂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𝜷</m:t>
                          </m:r>
                        </m:e>
                      </m:d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𝜷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​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is-I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𝐽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800651" y="995626"/>
                <a:ext cx="10327008" cy="211114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54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767537" y="3109260"/>
            <a:ext cx="3249927" cy="3288314"/>
            <a:chOff x="1655805" y="2662545"/>
            <a:chExt cx="3249927" cy="3288314"/>
          </a:xfrm>
        </p:grpSpPr>
        <p:grpSp>
          <p:nvGrpSpPr>
            <p:cNvPr id="10" name="Group 9"/>
            <p:cNvGrpSpPr/>
            <p:nvPr/>
          </p:nvGrpSpPr>
          <p:grpSpPr>
            <a:xfrm>
              <a:off x="1655805" y="2674847"/>
              <a:ext cx="3101546" cy="3276012"/>
              <a:chOff x="1655805" y="2674847"/>
              <a:chExt cx="3101546" cy="3276012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1655805" y="4880919"/>
                <a:ext cx="3101546" cy="12357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H="1" flipV="1">
                <a:off x="2782398" y="2674847"/>
                <a:ext cx="18859" cy="3276012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092713" y="2395658"/>
                <a:ext cx="7371080" cy="725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−</m:t>
                        </m:r>
                      </m:e>
                    </m:nary>
                    <m:sSubSup>
                      <m:sSubSupPr>
                        <m:ctrl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𝜷</m:t>
                            </m:r>
                          </m:e>
                        </m:acc>
                      </m:e>
                      <m:sub/>
                      <m:sup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𝐿𝐴𝑆𝑆</m:t>
                        </m:r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𝑂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</m:sup>
                    </m:sSubSup>
                    <m:r>
                      <a:rPr lang="en-US" sz="28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𝒙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=D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713" y="2395658"/>
                <a:ext cx="7371080" cy="725904"/>
              </a:xfrm>
              <a:prstGeom prst="rect">
                <a:avLst/>
              </a:prstGeom>
              <a:blipFill>
                <a:blip r:embed="rId5"/>
                <a:stretch>
                  <a:fillRect b="-10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/>
          <p:cNvGrpSpPr/>
          <p:nvPr/>
        </p:nvGrpSpPr>
        <p:grpSpPr>
          <a:xfrm>
            <a:off x="8404272" y="4049503"/>
            <a:ext cx="747962" cy="426693"/>
            <a:chOff x="3606026" y="2722340"/>
            <a:chExt cx="747962" cy="4266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606026" y="2764697"/>
                  <a:ext cx="747962" cy="38433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𝑀𝑆𝐸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6026" y="2764697"/>
                  <a:ext cx="747962" cy="38433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t="-7937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4076794" y="2722340"/>
              <a:ext cx="45561" cy="457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767537" y="2127451"/>
                <a:ext cx="2626938" cy="1172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is-I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𝐽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𝐿𝐴𝑆𝑆𝑂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𝐶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37" y="2127451"/>
                <a:ext cx="2626938" cy="117262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6602478" y="1284407"/>
                <a:ext cx="3940053" cy="4814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𝐿𝐴𝑆𝑆𝑂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argmin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𝐿𝐴𝑆𝑆𝑂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478" y="1284407"/>
                <a:ext cx="3940053" cy="4814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6397212" y="3312174"/>
            <a:ext cx="3249927" cy="3288314"/>
            <a:chOff x="1655805" y="2662545"/>
            <a:chExt cx="3249927" cy="3288314"/>
          </a:xfrm>
        </p:grpSpPr>
        <p:grpSp>
          <p:nvGrpSpPr>
            <p:cNvPr id="42" name="Group 41"/>
            <p:cNvGrpSpPr/>
            <p:nvPr/>
          </p:nvGrpSpPr>
          <p:grpSpPr>
            <a:xfrm>
              <a:off x="1655805" y="2674847"/>
              <a:ext cx="3101546" cy="3276012"/>
              <a:chOff x="1655805" y="2674847"/>
              <a:chExt cx="3101546" cy="3276012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V="1">
                <a:off x="1655805" y="4880919"/>
                <a:ext cx="3101546" cy="12357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 flipV="1">
                <a:off x="2782398" y="2674847"/>
                <a:ext cx="18859" cy="3276012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Oval 46"/>
          <p:cNvSpPr/>
          <p:nvPr/>
        </p:nvSpPr>
        <p:spPr>
          <a:xfrm rot="18916619">
            <a:off x="7590616" y="3704259"/>
            <a:ext cx="2532887" cy="833609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9466120" y="4080502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MSE=D</a:t>
            </a:r>
          </a:p>
        </p:txBody>
      </p:sp>
    </p:spTree>
    <p:extLst>
      <p:ext uri="{BB962C8B-B14F-4D97-AF65-F5344CB8AC3E}">
        <p14:creationId xmlns:p14="http://schemas.microsoft.com/office/powerpoint/2010/main" val="36035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1000" fill="hold"/>
                                        <p:tgtEl>
                                          <p:spTgt spid="4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1000" fill="hold"/>
                                        <p:tgtEl>
                                          <p:spTgt spid="47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/>
      <p:bldP spid="38" grpId="0"/>
      <p:bldP spid="39" grpId="0"/>
      <p:bldP spid="47" grpId="0" animBg="1"/>
      <p:bldP spid="47" grpId="1" animBg="1"/>
      <p:bldP spid="47" grpId="2" animBg="1"/>
      <p:bldP spid="4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Geometria regularizării</a:t>
            </a:r>
            <a:r>
              <a:rPr lang="en-US" dirty="0"/>
              <a:t>(Ridge)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𝑅𝑖𝑑𝑔𝑒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𝜷</m:t>
                          </m:r>
                        </m:e>
                      </m:d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s-I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𝜷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𝒙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​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is-I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𝐽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55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767537" y="3109260"/>
            <a:ext cx="3249927" cy="3288314"/>
            <a:chOff x="1655805" y="2662545"/>
            <a:chExt cx="3249927" cy="3288314"/>
          </a:xfrm>
        </p:grpSpPr>
        <p:grpSp>
          <p:nvGrpSpPr>
            <p:cNvPr id="10" name="Group 9"/>
            <p:cNvGrpSpPr/>
            <p:nvPr/>
          </p:nvGrpSpPr>
          <p:grpSpPr>
            <a:xfrm>
              <a:off x="1655805" y="2674847"/>
              <a:ext cx="3101546" cy="3276012"/>
              <a:chOff x="1655805" y="2674847"/>
              <a:chExt cx="3101546" cy="3276012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1655805" y="4880919"/>
                <a:ext cx="3101546" cy="12357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H="1" flipV="1">
                <a:off x="2782398" y="2674847"/>
                <a:ext cx="18859" cy="3276012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497315" y="2395658"/>
                <a:ext cx="7371080" cy="7527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𝑛</m:t>
                        </m:r>
                      </m:sup>
                      <m:e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−</m:t>
                        </m:r>
                      </m:e>
                    </m:nary>
                    <m:sSubSup>
                      <m:sSubSupPr>
                        <m:ctrl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𝜷</m:t>
                            </m:r>
                          </m:e>
                        </m:acc>
                      </m:e>
                      <m:sub/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𝑅𝑖𝑑𝑔𝑒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</m:sup>
                    </m:sSubSup>
                    <m:r>
                      <a:rPr lang="en-US" sz="28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charset="0"/>
                      </a:rPr>
                      <m:t>𝒙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8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=D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7315" y="2395658"/>
                <a:ext cx="7371080" cy="752707"/>
              </a:xfrm>
              <a:prstGeom prst="rect">
                <a:avLst/>
              </a:prstGeom>
              <a:blipFill rotWithShape="0">
                <a:blip r:embed="rId5"/>
                <a:stretch>
                  <a:fillRect b="-1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767537" y="2127451"/>
                <a:ext cx="2670988" cy="1172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is-I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charset="0"/>
                            </a:rPr>
                            <m:t>𝐽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charset="0"/>
                                        </a:rPr>
                                        <m:t>𝑅𝑖𝑑𝑔𝑒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charset="0"/>
                            </a:rPr>
                            <m:t>𝐶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37" y="2127451"/>
                <a:ext cx="2670988" cy="117262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7513772" y="1180700"/>
                <a:ext cx="3872214" cy="520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𝑅𝑖𝑑𝑔𝑒</m:t>
                              </m:r>
                            </m:sup>
                          </m:sSup>
                          <m:r>
                            <a:rPr lang="en-US" sz="2400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charset="0"/>
                            </a:rPr>
                            <m:t>argmin</m:t>
                          </m:r>
                        </m:fName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𝑅𝑖𝑑𝑔𝑒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charset="0"/>
                                </a:rPr>
                                <m:t>𝜷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772" y="1180700"/>
                <a:ext cx="3872214" cy="52007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/>
          <p:cNvGrpSpPr/>
          <p:nvPr/>
        </p:nvGrpSpPr>
        <p:grpSpPr>
          <a:xfrm>
            <a:off x="6397212" y="3312174"/>
            <a:ext cx="3249927" cy="3288314"/>
            <a:chOff x="1655805" y="2662545"/>
            <a:chExt cx="3249927" cy="3288314"/>
          </a:xfrm>
        </p:grpSpPr>
        <p:grpSp>
          <p:nvGrpSpPr>
            <p:cNvPr id="42" name="Group 41"/>
            <p:cNvGrpSpPr/>
            <p:nvPr/>
          </p:nvGrpSpPr>
          <p:grpSpPr>
            <a:xfrm>
              <a:off x="1655805" y="2674847"/>
              <a:ext cx="3101546" cy="3276012"/>
              <a:chOff x="1655805" y="2674847"/>
              <a:chExt cx="3101546" cy="3276012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V="1">
                <a:off x="1655805" y="4880919"/>
                <a:ext cx="3101546" cy="12357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 flipV="1">
                <a:off x="2782398" y="2674847"/>
                <a:ext cx="18859" cy="3276012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1135178" y="4568817"/>
            <a:ext cx="1876786" cy="1517634"/>
            <a:chOff x="1135178" y="4568817"/>
            <a:chExt cx="1876786" cy="1517634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1135178" y="4568817"/>
              <a:ext cx="1517904" cy="1517634"/>
            </a:xfrm>
            <a:prstGeom prst="ellipse">
              <a:avLst/>
            </a:prstGeom>
            <a:noFill/>
            <a:ln w="25400">
              <a:solidFill>
                <a:schemeClr val="tx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03866" y="497086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 rot="641389">
            <a:off x="6908401" y="3396792"/>
            <a:ext cx="4747059" cy="1567301"/>
            <a:chOff x="6547071" y="3213882"/>
            <a:chExt cx="4747059" cy="1567301"/>
          </a:xfrm>
        </p:grpSpPr>
        <p:grpSp>
          <p:nvGrpSpPr>
            <p:cNvPr id="49" name="Group 48"/>
            <p:cNvGrpSpPr/>
            <p:nvPr/>
          </p:nvGrpSpPr>
          <p:grpSpPr>
            <a:xfrm>
              <a:off x="6547071" y="3213882"/>
              <a:ext cx="4747059" cy="1567301"/>
              <a:chOff x="6547071" y="3213882"/>
              <a:chExt cx="4747059" cy="1567301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8404272" y="4049503"/>
                <a:ext cx="747962" cy="426692"/>
                <a:chOff x="3606026" y="2722340"/>
                <a:chExt cx="747962" cy="42669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" name="TextBox 57"/>
                    <p:cNvSpPr txBox="1"/>
                    <p:nvPr/>
                  </p:nvSpPr>
                  <p:spPr>
                    <a:xfrm rot="20789895">
                      <a:off x="3606026" y="2764696"/>
                      <a:ext cx="747962" cy="384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𝑀𝑆𝐸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8" name="TextBox 5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0789895">
                      <a:off x="3606026" y="2764696"/>
                      <a:ext cx="747962" cy="384336"/>
                    </a:xfrm>
                    <a:prstGeom prst="rect">
                      <a:avLst/>
                    </a:prstGeom>
                    <a:blipFill rotWithShape="0">
                      <a:blip r:embed="rId10"/>
                      <a:stretch>
                        <a:fillRect t="-4286" b="-1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9" name="Oval 58"/>
                <p:cNvSpPr>
                  <a:spLocks noChangeAspect="1"/>
                </p:cNvSpPr>
                <p:nvPr/>
              </p:nvSpPr>
              <p:spPr>
                <a:xfrm>
                  <a:off x="4076794" y="2722340"/>
                  <a:ext cx="45561" cy="45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" name="Group 51"/>
              <p:cNvGrpSpPr/>
              <p:nvPr/>
            </p:nvGrpSpPr>
            <p:grpSpPr>
              <a:xfrm>
                <a:off x="6547071" y="3213882"/>
                <a:ext cx="4747059" cy="1567301"/>
                <a:chOff x="6501510" y="3217318"/>
                <a:chExt cx="4747059" cy="1567301"/>
              </a:xfrm>
            </p:grpSpPr>
            <p:grpSp>
              <p:nvGrpSpPr>
                <p:cNvPr id="53" name="Group 52"/>
                <p:cNvGrpSpPr/>
                <p:nvPr/>
              </p:nvGrpSpPr>
              <p:grpSpPr>
                <a:xfrm>
                  <a:off x="6501510" y="3217318"/>
                  <a:ext cx="4747059" cy="1567301"/>
                  <a:chOff x="1752276" y="1849318"/>
                  <a:chExt cx="4747059" cy="1567301"/>
                </a:xfrm>
              </p:grpSpPr>
              <p:sp>
                <p:nvSpPr>
                  <p:cNvPr id="55" name="Oval 54"/>
                  <p:cNvSpPr/>
                  <p:nvPr/>
                </p:nvSpPr>
                <p:spPr>
                  <a:xfrm rot="18916619">
                    <a:off x="3218979" y="2448760"/>
                    <a:ext cx="1755020" cy="57760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" name="Oval 55"/>
                  <p:cNvSpPr/>
                  <p:nvPr/>
                </p:nvSpPr>
                <p:spPr>
                  <a:xfrm rot="18916619">
                    <a:off x="2192409" y="1974795"/>
                    <a:ext cx="3897644" cy="128685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" name="Oval 56"/>
                  <p:cNvSpPr/>
                  <p:nvPr/>
                </p:nvSpPr>
                <p:spPr>
                  <a:xfrm rot="18916619">
                    <a:off x="1752276" y="1849318"/>
                    <a:ext cx="4747059" cy="156730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4" name="Oval 53"/>
                <p:cNvSpPr/>
                <p:nvPr/>
              </p:nvSpPr>
              <p:spPr>
                <a:xfrm rot="18916619">
                  <a:off x="7590616" y="3704259"/>
                  <a:ext cx="2532887" cy="833609"/>
                </a:xfrm>
                <a:prstGeom prst="ellipse">
                  <a:avLst/>
                </a:prstGeom>
                <a:noFill/>
                <a:ln w="28575">
                  <a:solidFill>
                    <a:schemeClr val="accent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0" name="TextBox 49"/>
            <p:cNvSpPr txBox="1"/>
            <p:nvPr/>
          </p:nvSpPr>
          <p:spPr>
            <a:xfrm rot="20958611">
              <a:off x="9742491" y="4121063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MSE=D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407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– </a:t>
            </a:r>
            <a:r>
              <a:rPr lang="ro-RO" dirty="0"/>
              <a:t>Complexitate </a:t>
            </a:r>
            <a:r>
              <a:rPr lang="en-US" dirty="0" err="1"/>
              <a:t>Computa</a:t>
            </a:r>
            <a:r>
              <a:rPr lang="ro-RO" dirty="0"/>
              <a:t>ț</a:t>
            </a:r>
            <a:r>
              <a:rPr lang="en-US" dirty="0" err="1"/>
              <a:t>ional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ro-RO" sz="2400" dirty="0"/>
              <a:t>Soluția algebrică pentru regresia Ridge</a:t>
            </a:r>
            <a:r>
              <a:rPr lang="en-US" sz="2400" dirty="0"/>
              <a:t>:</a:t>
            </a:r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r>
              <a:rPr lang="ro-RO" sz="2400" dirty="0"/>
              <a:t>Soluția pentru regresia </a:t>
            </a:r>
            <a:r>
              <a:rPr lang="en-US" sz="2400" dirty="0"/>
              <a:t>Ridge/Lasso </a:t>
            </a:r>
            <a:r>
              <a:rPr lang="ro-RO" sz="2400" dirty="0"/>
              <a:t>presupune 3 pași</a:t>
            </a:r>
            <a:endParaRPr lang="en-US" sz="2400" dirty="0"/>
          </a:p>
          <a:p>
            <a:pPr marL="342900" indent="-342900">
              <a:spcAft>
                <a:spcPts val="600"/>
              </a:spcAft>
              <a:buFont typeface="Arial" charset="0"/>
              <a:buChar char="•"/>
            </a:pPr>
            <a:r>
              <a:rPr lang="en-US" sz="2400" dirty="0"/>
              <a:t>Select</a:t>
            </a:r>
            <a:r>
              <a:rPr lang="ro-RO" sz="2400" dirty="0"/>
              <a:t>area lui</a:t>
            </a:r>
            <a:r>
              <a:rPr lang="en-US" sz="2400" dirty="0"/>
              <a:t>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</a:p>
          <a:p>
            <a:pPr marL="342900" indent="-342900">
              <a:spcAft>
                <a:spcPts val="600"/>
              </a:spcAft>
              <a:buFont typeface="Arial" charset="0"/>
              <a:buChar char="•"/>
            </a:pPr>
            <a:r>
              <a:rPr lang="ro-RO" sz="2400" dirty="0"/>
              <a:t>Găsirea minimului pentru funcția de pierdere ridge</a:t>
            </a:r>
            <a:r>
              <a:rPr lang="en-US" sz="2400" dirty="0"/>
              <a:t>/Lasso regression (</a:t>
            </a:r>
            <a:r>
              <a:rPr lang="ro-RO" sz="2400" dirty="0"/>
              <a:t>algebră liniară)</a:t>
            </a:r>
            <a:r>
              <a:rPr lang="en-US" sz="2400" dirty="0"/>
              <a:t> </a:t>
            </a:r>
            <a:r>
              <a:rPr lang="ro-RO" sz="2400" dirty="0"/>
              <a:t>și reținerea valorii</a:t>
            </a:r>
            <a:r>
              <a:rPr lang="en-US" sz="2400" dirty="0"/>
              <a:t>  </a:t>
            </a:r>
            <a:r>
              <a:rPr lang="en-US" sz="2400" i="1" dirty="0"/>
              <a:t>R</a:t>
            </a:r>
            <a:r>
              <a:rPr lang="en-US" sz="2400" baseline="30000" dirty="0"/>
              <a:t>2</a:t>
            </a:r>
            <a:r>
              <a:rPr lang="en-US" sz="2400" dirty="0"/>
              <a:t>  </a:t>
            </a:r>
            <a:r>
              <a:rPr lang="ro-RO" sz="2400" b="1" dirty="0"/>
              <a:t>pe setul de date de test</a:t>
            </a:r>
            <a:r>
              <a:rPr lang="en-US" sz="2400" dirty="0"/>
              <a:t>. </a:t>
            </a:r>
          </a:p>
          <a:p>
            <a:pPr marL="342900" indent="-342900">
              <a:spcAft>
                <a:spcPts val="600"/>
              </a:spcAft>
              <a:buFont typeface="Arial" charset="0"/>
              <a:buChar char="•"/>
            </a:pPr>
            <a:r>
              <a:rPr lang="ro-RO" sz="2400" dirty="0"/>
              <a:t>Găsirea acelui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</a:t>
            </a:r>
            <a:r>
              <a:rPr lang="en-US" sz="2400" dirty="0"/>
              <a:t> </a:t>
            </a:r>
            <a:r>
              <a:rPr lang="ro-RO" sz="2400" dirty="0"/>
              <a:t>care ne dă cea mai mare valoare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en-US" sz="2400" baseline="30000" dirty="0"/>
              <a:t>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569" y="2012678"/>
            <a:ext cx="4186989" cy="44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5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06303"/>
            <a:ext cx="6858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regularization with </a:t>
            </a:r>
            <a:r>
              <a:rPr lang="en-US" b="1" dirty="0"/>
              <a:t>validation</a:t>
            </a:r>
            <a:r>
              <a:rPr lang="en-US" dirty="0"/>
              <a:t> only: step by step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865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Regularizare </a:t>
            </a:r>
            <a:r>
              <a:rPr lang="en-US" dirty="0"/>
              <a:t>Ridge </a:t>
            </a:r>
            <a:r>
              <a:rPr lang="ro-RO" dirty="0"/>
              <a:t>cu</a:t>
            </a:r>
            <a:r>
              <a:rPr lang="en-US" dirty="0"/>
              <a:t> </a:t>
            </a:r>
            <a:r>
              <a:rPr lang="en-US" b="1" dirty="0"/>
              <a:t>CV</a:t>
            </a:r>
            <a:r>
              <a:rPr lang="ro-RO" b="1" dirty="0"/>
              <a:t>(Valid. Încr.)</a:t>
            </a:r>
            <a:r>
              <a:rPr lang="en-US" dirty="0"/>
              <a:t>: </a:t>
            </a:r>
            <a:r>
              <a:rPr lang="ro-RO" dirty="0"/>
              <a:t>pas cu pas </a:t>
            </a:r>
            <a:r>
              <a:rPr lang="en-US" dirty="0"/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D45240-C987-4BB0-8853-A0AA1F7C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06303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899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Alegerea predictorilor prin regularizare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Deoarece</a:t>
            </a:r>
            <a:r>
              <a:rPr lang="en-US" sz="2400" dirty="0"/>
              <a:t> </a:t>
            </a:r>
            <a:r>
              <a:rPr lang="en-US" sz="2400" dirty="0" err="1"/>
              <a:t>regresia</a:t>
            </a:r>
            <a:r>
              <a:rPr lang="en-US" sz="2400" dirty="0"/>
              <a:t> LASSO are </a:t>
            </a:r>
            <a:r>
              <a:rPr lang="en-US" sz="2400" dirty="0" err="1"/>
              <a:t>tendința</a:t>
            </a:r>
            <a:r>
              <a:rPr lang="en-US" sz="2400" dirty="0"/>
              <a:t> de a produce </a:t>
            </a:r>
            <a:r>
              <a:rPr lang="en-US" sz="2400" dirty="0" err="1"/>
              <a:t>estimări</a:t>
            </a:r>
            <a:r>
              <a:rPr lang="en-US" sz="2400" dirty="0"/>
              <a:t> zero </a:t>
            </a:r>
            <a:r>
              <a:rPr lang="en-US" sz="2400" dirty="0" err="1"/>
              <a:t>pentru</a:t>
            </a:r>
            <a:r>
              <a:rPr lang="en-US" sz="2400" dirty="0"/>
              <a:t> un </a:t>
            </a:r>
            <a:r>
              <a:rPr lang="en-US" sz="2400" dirty="0" err="1"/>
              <a:t>număr</a:t>
            </a:r>
            <a:r>
              <a:rPr lang="en-US" sz="2400" dirty="0"/>
              <a:t> de </a:t>
            </a:r>
            <a:r>
              <a:rPr lang="en-US" sz="2400" dirty="0" err="1"/>
              <a:t>parametri</a:t>
            </a:r>
            <a:r>
              <a:rPr lang="en-US" sz="2400" dirty="0"/>
              <a:t> ai </a:t>
            </a:r>
            <a:r>
              <a:rPr lang="en-US" sz="2400" dirty="0" err="1"/>
              <a:t>modelului</a:t>
            </a:r>
            <a:r>
              <a:rPr lang="en-US" sz="2400" dirty="0"/>
              <a:t> - </a:t>
            </a:r>
            <a:r>
              <a:rPr lang="en-US" sz="2400" dirty="0" err="1"/>
              <a:t>spunem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dirty="0" err="1"/>
              <a:t>soluțiile</a:t>
            </a:r>
            <a:r>
              <a:rPr lang="en-US" sz="2400" dirty="0"/>
              <a:t> LASSO sunt rare - </a:t>
            </a:r>
            <a:r>
              <a:rPr lang="en-US" sz="2400" dirty="0" err="1"/>
              <a:t>considerăm</a:t>
            </a:r>
            <a:r>
              <a:rPr lang="en-US" sz="2400" dirty="0"/>
              <a:t> </a:t>
            </a:r>
            <a:r>
              <a:rPr lang="en-US" sz="2400" dirty="0" err="1"/>
              <a:t>că</a:t>
            </a:r>
            <a:r>
              <a:rPr lang="en-US" sz="2400" dirty="0"/>
              <a:t> </a:t>
            </a:r>
            <a:r>
              <a:rPr lang="en-US" sz="2400" b="1" dirty="0"/>
              <a:t>LASSO </a:t>
            </a:r>
            <a:r>
              <a:rPr lang="en-US" sz="2400" b="1" dirty="0" err="1"/>
              <a:t>este</a:t>
            </a:r>
            <a:r>
              <a:rPr lang="en-US" sz="2400" b="1" dirty="0"/>
              <a:t> o </a:t>
            </a:r>
            <a:r>
              <a:rPr lang="en-US" sz="2400" b="1" dirty="0" err="1"/>
              <a:t>metodă</a:t>
            </a:r>
            <a:r>
              <a:rPr lang="en-US" sz="2400" b="1" dirty="0"/>
              <a:t> </a:t>
            </a:r>
            <a:r>
              <a:rPr lang="en-US" sz="2400" b="1" dirty="0" err="1"/>
              <a:t>pentru</a:t>
            </a:r>
            <a:r>
              <a:rPr lang="en-US" sz="2400" b="1" dirty="0"/>
              <a:t> </a:t>
            </a:r>
            <a:r>
              <a:rPr lang="en-US" sz="2400" b="1" dirty="0" err="1"/>
              <a:t>selecția</a:t>
            </a:r>
            <a:r>
              <a:rPr lang="en-US" sz="2400" b="1" dirty="0"/>
              <a:t> </a:t>
            </a:r>
            <a:r>
              <a:rPr lang="ro-RO" sz="2400" b="1" dirty="0"/>
              <a:t>predictorilor</a:t>
            </a:r>
            <a:r>
              <a:rPr lang="en-US" sz="2400" dirty="0"/>
              <a:t>.</a:t>
            </a:r>
            <a:endParaRPr lang="ro-RO" sz="2400" dirty="0"/>
          </a:p>
          <a:p>
            <a:endParaRPr lang="en-US" sz="2400" dirty="0"/>
          </a:p>
          <a:p>
            <a:r>
              <a:rPr lang="en-US" sz="2400" dirty="0" err="1"/>
              <a:t>Mulți</a:t>
            </a:r>
            <a:r>
              <a:rPr lang="en-US" sz="2400" dirty="0"/>
              <a:t> </a:t>
            </a:r>
            <a:r>
              <a:rPr lang="en-US" sz="2400" dirty="0" err="1"/>
              <a:t>preferă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utilizeze</a:t>
            </a:r>
            <a:r>
              <a:rPr lang="en-US" sz="2400" dirty="0"/>
              <a:t> LASSO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selecția</a:t>
            </a:r>
            <a:r>
              <a:rPr lang="en-US" sz="2400" dirty="0"/>
              <a:t> </a:t>
            </a:r>
            <a:r>
              <a:rPr lang="en-US" sz="2400" dirty="0" err="1"/>
              <a:t>variabilă</a:t>
            </a:r>
            <a:r>
              <a:rPr lang="en-US" sz="2400" dirty="0"/>
              <a:t> (precum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suprimarea</a:t>
            </a:r>
            <a:r>
              <a:rPr lang="en-US" sz="2400" dirty="0"/>
              <a:t> </a:t>
            </a:r>
            <a:r>
              <a:rPr lang="en-US" sz="2400" dirty="0" err="1"/>
              <a:t>valorilor</a:t>
            </a:r>
            <a:r>
              <a:rPr lang="en-US" sz="2400" dirty="0"/>
              <a:t> extreme ale </a:t>
            </a:r>
            <a:r>
              <a:rPr lang="en-US" sz="2400" dirty="0" err="1"/>
              <a:t>parametrilor</a:t>
            </a:r>
            <a:r>
              <a:rPr lang="en-US" sz="2400" dirty="0"/>
              <a:t>) </a:t>
            </a:r>
            <a:r>
              <a:rPr lang="en-US" sz="2400" dirty="0" err="1"/>
              <a:t>în</a:t>
            </a:r>
            <a:r>
              <a:rPr lang="en-US" sz="2400" dirty="0"/>
              <a:t> loc de </a:t>
            </a:r>
            <a:r>
              <a:rPr lang="en-US" sz="2400" dirty="0" err="1"/>
              <a:t>selecție</a:t>
            </a:r>
            <a:r>
              <a:rPr lang="en-US" sz="2400" dirty="0"/>
              <a:t> </a:t>
            </a:r>
            <a:r>
              <a:rPr lang="en-US" sz="2400" dirty="0" err="1"/>
              <a:t>treptată</a:t>
            </a:r>
            <a:r>
              <a:rPr lang="en-US" sz="2400" dirty="0"/>
              <a:t>, </a:t>
            </a:r>
            <a:r>
              <a:rPr lang="en-US" sz="2400" dirty="0" err="1"/>
              <a:t>deoarece</a:t>
            </a:r>
            <a:r>
              <a:rPr lang="en-US" sz="2400" dirty="0"/>
              <a:t> LASSO </a:t>
            </a:r>
            <a:r>
              <a:rPr lang="en-US" sz="2400" dirty="0" err="1"/>
              <a:t>evită</a:t>
            </a:r>
            <a:r>
              <a:rPr lang="en-US" sz="2400" dirty="0"/>
              <a:t> </a:t>
            </a:r>
            <a:r>
              <a:rPr lang="en-US" sz="2400" dirty="0" err="1"/>
              <a:t>problemele</a:t>
            </a:r>
            <a:r>
              <a:rPr lang="en-US" sz="2400" dirty="0"/>
              <a:t> </a:t>
            </a:r>
            <a:r>
              <a:rPr lang="en-US" sz="2400" dirty="0" err="1"/>
              <a:t>statistice</a:t>
            </a:r>
            <a:r>
              <a:rPr lang="en-US" sz="2400" dirty="0"/>
              <a:t> care apar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selecția</a:t>
            </a:r>
            <a:r>
              <a:rPr lang="en-US" sz="2400" dirty="0"/>
              <a:t> </a:t>
            </a:r>
            <a:r>
              <a:rPr lang="en-US" sz="2400" dirty="0" err="1"/>
              <a:t>treptată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ro-RO" sz="2400" b="1" dirty="0"/>
              <a:t>Întrebare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</a:p>
          <a:p>
            <a:r>
              <a:rPr lang="en-US" sz="2400" dirty="0"/>
              <a:t>Care sunt </a:t>
            </a:r>
            <a:r>
              <a:rPr lang="en-US" sz="2400" dirty="0" err="1"/>
              <a:t>avantajele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dezavantajele</a:t>
            </a:r>
            <a:r>
              <a:rPr lang="en-US" sz="2400" dirty="0"/>
              <a:t> </a:t>
            </a:r>
            <a:r>
              <a:rPr lang="en-US" sz="2400" dirty="0" err="1"/>
              <a:t>celor</a:t>
            </a:r>
            <a:r>
              <a:rPr lang="en-US" sz="2400" dirty="0"/>
              <a:t> </a:t>
            </a:r>
            <a:r>
              <a:rPr lang="en-US" sz="2400" dirty="0" err="1"/>
              <a:t>două</a:t>
            </a:r>
            <a:r>
              <a:rPr lang="en-US" sz="2400" dirty="0"/>
              <a:t> </a:t>
            </a:r>
            <a:r>
              <a:rPr lang="en-US" sz="2400" dirty="0" err="1"/>
              <a:t>abordări</a:t>
            </a:r>
            <a:r>
              <a:rPr lang="en-US" sz="24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653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79BC5E-F958-4E64-AB41-4BE95E01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2A6D5-7443-42C0-86E5-74D5DF885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7999" y="3105835"/>
            <a:ext cx="78431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4171A"/>
                </a:solidFill>
                <a:latin typeface="Helvetica Neue" charset="0"/>
                <a:hlinkClick r:id="rId2"/>
              </a:rPr>
              <a:t>https://</a:t>
            </a:r>
            <a:r>
              <a:rPr lang="en-US" dirty="0" err="1">
                <a:solidFill>
                  <a:srgbClr val="14171A"/>
                </a:solidFill>
                <a:latin typeface="Helvetica Neue" charset="0"/>
                <a:hlinkClick r:id="rId2"/>
              </a:rPr>
              <a:t>twitter.com</a:t>
            </a:r>
            <a:r>
              <a:rPr lang="en-US" dirty="0">
                <a:solidFill>
                  <a:srgbClr val="14171A"/>
                </a:solidFill>
                <a:latin typeface="Helvetica Neue" charset="0"/>
                <a:hlinkClick r:id="rId2"/>
              </a:rPr>
              <a:t>/wdaali999/status/1161973951565881345</a:t>
            </a:r>
            <a:endParaRPr lang="en-US" dirty="0"/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1663700"/>
            <a:ext cx="63119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754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79BC5E-F958-4E64-AB41-4BE95E01C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8766" y="4406903"/>
            <a:ext cx="9227518" cy="1362076"/>
          </a:xfrm>
        </p:spPr>
        <p:txBody>
          <a:bodyPr anchor="t">
            <a:normAutofit/>
          </a:bodyPr>
          <a:lstStyle/>
          <a:p>
            <a:r>
              <a:rPr lang="ro-RO" dirty="0"/>
              <a:t>APPENDIX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24165B7-5550-97D3-F568-F8605E0A0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C616E8F-BF65-1643-9F00-FF84D0665BC6}" type="slidenum">
              <a:rPr lang="en-US" smtClean="0"/>
              <a:pPr>
                <a:spcAft>
                  <a:spcPts val="600"/>
                </a:spcAft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536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Geometry of Regularization (LASSO)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0EB366-49E0-5109-0B21-FDAB1DB6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62</a:t>
            </a:fld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4627700" y="4206309"/>
            <a:ext cx="1747459" cy="1791051"/>
            <a:chOff x="2164154" y="3756858"/>
            <a:chExt cx="1747459" cy="1791051"/>
          </a:xfrm>
        </p:grpSpPr>
        <p:sp>
          <p:nvSpPr>
            <p:cNvPr id="14" name="Rectangle 13"/>
            <p:cNvSpPr/>
            <p:nvPr/>
          </p:nvSpPr>
          <p:spPr>
            <a:xfrm rot="2719992">
              <a:off x="2165747" y="4275300"/>
              <a:ext cx="1271016" cy="1274202"/>
            </a:xfrm>
            <a:prstGeom prst="rect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03515" y="454816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65749" y="37568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67537" y="3109260"/>
            <a:ext cx="3249927" cy="3288314"/>
            <a:chOff x="767537" y="3109260"/>
            <a:chExt cx="3249927" cy="3288314"/>
          </a:xfrm>
        </p:grpSpPr>
        <p:grpSp>
          <p:nvGrpSpPr>
            <p:cNvPr id="9" name="Group 8"/>
            <p:cNvGrpSpPr/>
            <p:nvPr/>
          </p:nvGrpSpPr>
          <p:grpSpPr>
            <a:xfrm>
              <a:off x="767537" y="3121562"/>
              <a:ext cx="3249927" cy="3276012"/>
              <a:chOff x="767537" y="3121562"/>
              <a:chExt cx="3249927" cy="327601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767537" y="3121562"/>
                <a:ext cx="3101546" cy="3276012"/>
                <a:chOff x="1655805" y="2674847"/>
                <a:chExt cx="3101546" cy="3276012"/>
              </a:xfrm>
            </p:grpSpPr>
            <p:cxnSp>
              <p:nvCxnSpPr>
                <p:cNvPr id="6" name="Straight Arrow Connector 5"/>
                <p:cNvCxnSpPr/>
                <p:nvPr/>
              </p:nvCxnSpPr>
              <p:spPr>
                <a:xfrm flipV="1">
                  <a:off x="1655805" y="4880919"/>
                  <a:ext cx="3101546" cy="12357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/>
                <p:nvPr/>
              </p:nvCxnSpPr>
              <p:spPr>
                <a:xfrm flipH="1" flipV="1">
                  <a:off x="2782398" y="2674847"/>
                  <a:ext cx="18859" cy="3276012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/>
          <p:cNvGrpSpPr/>
          <p:nvPr/>
        </p:nvGrpSpPr>
        <p:grpSpPr>
          <a:xfrm>
            <a:off x="6397212" y="3312174"/>
            <a:ext cx="3249927" cy="3288314"/>
            <a:chOff x="1655805" y="2662545"/>
            <a:chExt cx="3249927" cy="3288314"/>
          </a:xfrm>
        </p:grpSpPr>
        <p:grpSp>
          <p:nvGrpSpPr>
            <p:cNvPr id="42" name="Group 41"/>
            <p:cNvGrpSpPr/>
            <p:nvPr/>
          </p:nvGrpSpPr>
          <p:grpSpPr>
            <a:xfrm>
              <a:off x="1655805" y="2674847"/>
              <a:ext cx="3101546" cy="3276012"/>
              <a:chOff x="1655805" y="2674847"/>
              <a:chExt cx="3101546" cy="3276012"/>
            </a:xfrm>
          </p:grpSpPr>
          <p:cxnSp>
            <p:nvCxnSpPr>
              <p:cNvPr id="45" name="Straight Arrow Connector 44"/>
              <p:cNvCxnSpPr/>
              <p:nvPr/>
            </p:nvCxnSpPr>
            <p:spPr>
              <a:xfrm flipV="1">
                <a:off x="1655805" y="4880919"/>
                <a:ext cx="3101546" cy="12357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/>
              <p:nvPr/>
            </p:nvCxnSpPr>
            <p:spPr>
              <a:xfrm flipH="1" flipV="1">
                <a:off x="2782398" y="2674847"/>
                <a:ext cx="18859" cy="3276012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74" y="4978399"/>
                  <a:ext cx="464358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074" y="2662545"/>
                  <a:ext cx="46968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6696003" y="3382055"/>
            <a:ext cx="4747059" cy="1567301"/>
            <a:chOff x="6547071" y="3213882"/>
            <a:chExt cx="4747059" cy="1567301"/>
          </a:xfrm>
        </p:grpSpPr>
        <p:grpSp>
          <p:nvGrpSpPr>
            <p:cNvPr id="13" name="Group 12"/>
            <p:cNvGrpSpPr/>
            <p:nvPr/>
          </p:nvGrpSpPr>
          <p:grpSpPr>
            <a:xfrm>
              <a:off x="6547071" y="3213882"/>
              <a:ext cx="4747059" cy="1567301"/>
              <a:chOff x="6547071" y="3213882"/>
              <a:chExt cx="4747059" cy="1567301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8404272" y="4049503"/>
                <a:ext cx="747962" cy="426693"/>
                <a:chOff x="3606026" y="2722340"/>
                <a:chExt cx="747962" cy="4266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/>
                    <p:cNvSpPr txBox="1"/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𝑀𝑆𝐸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t="-7937" b="-1269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8" name="Oval 27"/>
                <p:cNvSpPr>
                  <a:spLocks noChangeAspect="1"/>
                </p:cNvSpPr>
                <p:nvPr/>
              </p:nvSpPr>
              <p:spPr>
                <a:xfrm>
                  <a:off x="4076794" y="2722340"/>
                  <a:ext cx="45561" cy="45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6547071" y="3213882"/>
                <a:ext cx="4747059" cy="1567301"/>
                <a:chOff x="6501510" y="3217318"/>
                <a:chExt cx="4747059" cy="1567301"/>
              </a:xfrm>
            </p:grpSpPr>
            <p:grpSp>
              <p:nvGrpSpPr>
                <p:cNvPr id="34" name="Group 33"/>
                <p:cNvGrpSpPr/>
                <p:nvPr/>
              </p:nvGrpSpPr>
              <p:grpSpPr>
                <a:xfrm>
                  <a:off x="6501510" y="3217318"/>
                  <a:ext cx="4747059" cy="1567301"/>
                  <a:chOff x="1752276" y="1849318"/>
                  <a:chExt cx="4747059" cy="1567301"/>
                </a:xfrm>
              </p:grpSpPr>
              <p:sp>
                <p:nvSpPr>
                  <p:cNvPr id="24" name="Oval 23"/>
                  <p:cNvSpPr/>
                  <p:nvPr/>
                </p:nvSpPr>
                <p:spPr>
                  <a:xfrm rot="18916619">
                    <a:off x="3218979" y="2448760"/>
                    <a:ext cx="1755020" cy="57760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/>
                  <p:cNvSpPr/>
                  <p:nvPr/>
                </p:nvSpPr>
                <p:spPr>
                  <a:xfrm rot="18916619">
                    <a:off x="2192409" y="1974795"/>
                    <a:ext cx="3897644" cy="128685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 rot="18916619">
                    <a:off x="1752276" y="1849318"/>
                    <a:ext cx="4747059" cy="156730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7" name="Oval 46"/>
                <p:cNvSpPr/>
                <p:nvPr/>
              </p:nvSpPr>
              <p:spPr>
                <a:xfrm rot="18916619">
                  <a:off x="7590616" y="3704259"/>
                  <a:ext cx="2532887" cy="833609"/>
                </a:xfrm>
                <a:prstGeom prst="ellipse">
                  <a:avLst/>
                </a:prstGeom>
                <a:noFill/>
                <a:ln w="28575">
                  <a:solidFill>
                    <a:schemeClr val="accent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48" name="TextBox 47"/>
            <p:cNvSpPr txBox="1"/>
            <p:nvPr/>
          </p:nvSpPr>
          <p:spPr>
            <a:xfrm>
              <a:off x="9742491" y="4121063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MSE=D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4107049" y="3115411"/>
            <a:ext cx="3249927" cy="3288314"/>
            <a:chOff x="767537" y="3109260"/>
            <a:chExt cx="3249927" cy="3288314"/>
          </a:xfrm>
        </p:grpSpPr>
        <p:grpSp>
          <p:nvGrpSpPr>
            <p:cNvPr id="49" name="Group 48"/>
            <p:cNvGrpSpPr/>
            <p:nvPr/>
          </p:nvGrpSpPr>
          <p:grpSpPr>
            <a:xfrm>
              <a:off x="767537" y="3121562"/>
              <a:ext cx="3249927" cy="3276012"/>
              <a:chOff x="767537" y="3121562"/>
              <a:chExt cx="3249927" cy="3276012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767537" y="3121562"/>
                <a:ext cx="3101546" cy="3276012"/>
                <a:chOff x="1655805" y="2674847"/>
                <a:chExt cx="3101546" cy="3276012"/>
              </a:xfrm>
            </p:grpSpPr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1655805" y="4880919"/>
                  <a:ext cx="3101546" cy="12357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H="1" flipV="1">
                  <a:off x="2782398" y="2674847"/>
                  <a:ext cx="18859" cy="3276012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>
            <a:off x="3771425" y="2620764"/>
            <a:ext cx="4747059" cy="1567301"/>
            <a:chOff x="6547071" y="3213882"/>
            <a:chExt cx="4747059" cy="1567301"/>
          </a:xfrm>
        </p:grpSpPr>
        <p:grpSp>
          <p:nvGrpSpPr>
            <p:cNvPr id="57" name="Group 56"/>
            <p:cNvGrpSpPr/>
            <p:nvPr/>
          </p:nvGrpSpPr>
          <p:grpSpPr>
            <a:xfrm>
              <a:off x="6547071" y="3213882"/>
              <a:ext cx="4747059" cy="1567301"/>
              <a:chOff x="6547071" y="3213882"/>
              <a:chExt cx="4747059" cy="1567301"/>
            </a:xfrm>
          </p:grpSpPr>
          <p:grpSp>
            <p:nvGrpSpPr>
              <p:cNvPr id="59" name="Group 58"/>
              <p:cNvGrpSpPr/>
              <p:nvPr/>
            </p:nvGrpSpPr>
            <p:grpSpPr>
              <a:xfrm>
                <a:off x="8404272" y="4049503"/>
                <a:ext cx="747962" cy="426693"/>
                <a:chOff x="3606026" y="2722340"/>
                <a:chExt cx="747962" cy="4266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/>
                    <p:cNvSpPr txBox="1"/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𝑀𝑆𝐸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t="-7937" b="-1269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7" name="Oval 66"/>
                <p:cNvSpPr>
                  <a:spLocks noChangeAspect="1"/>
                </p:cNvSpPr>
                <p:nvPr/>
              </p:nvSpPr>
              <p:spPr>
                <a:xfrm>
                  <a:off x="4076794" y="2722340"/>
                  <a:ext cx="45561" cy="45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/>
              <p:cNvGrpSpPr/>
              <p:nvPr/>
            </p:nvGrpSpPr>
            <p:grpSpPr>
              <a:xfrm>
                <a:off x="6547071" y="3213882"/>
                <a:ext cx="4747059" cy="1567301"/>
                <a:chOff x="6501510" y="3217318"/>
                <a:chExt cx="4747059" cy="1567301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6501510" y="3217318"/>
                  <a:ext cx="4747059" cy="1567301"/>
                  <a:chOff x="1752276" y="1849318"/>
                  <a:chExt cx="4747059" cy="1567301"/>
                </a:xfrm>
              </p:grpSpPr>
              <p:sp>
                <p:nvSpPr>
                  <p:cNvPr id="63" name="Oval 62"/>
                  <p:cNvSpPr/>
                  <p:nvPr/>
                </p:nvSpPr>
                <p:spPr>
                  <a:xfrm rot="18916619">
                    <a:off x="3218979" y="2448760"/>
                    <a:ext cx="1755020" cy="57760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Oval 63"/>
                  <p:cNvSpPr/>
                  <p:nvPr/>
                </p:nvSpPr>
                <p:spPr>
                  <a:xfrm rot="18916619">
                    <a:off x="2192409" y="1974795"/>
                    <a:ext cx="3897644" cy="128685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Oval 64"/>
                  <p:cNvSpPr/>
                  <p:nvPr/>
                </p:nvSpPr>
                <p:spPr>
                  <a:xfrm rot="18916619">
                    <a:off x="1752276" y="1849318"/>
                    <a:ext cx="4747059" cy="156730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2" name="Oval 61"/>
                <p:cNvSpPr/>
                <p:nvPr/>
              </p:nvSpPr>
              <p:spPr>
                <a:xfrm rot="18916619">
                  <a:off x="7590616" y="3704259"/>
                  <a:ext cx="2532887" cy="833609"/>
                </a:xfrm>
                <a:prstGeom prst="ellipse">
                  <a:avLst/>
                </a:prstGeom>
                <a:noFill/>
                <a:ln w="28575">
                  <a:solidFill>
                    <a:schemeClr val="accent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8" name="TextBox 57"/>
            <p:cNvSpPr txBox="1"/>
            <p:nvPr/>
          </p:nvSpPr>
          <p:spPr>
            <a:xfrm>
              <a:off x="9742491" y="4121063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MSE=D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264505" y="4179560"/>
            <a:ext cx="1747459" cy="1791051"/>
            <a:chOff x="2164154" y="3756858"/>
            <a:chExt cx="1747459" cy="1791051"/>
          </a:xfrm>
        </p:grpSpPr>
        <p:sp>
          <p:nvSpPr>
            <p:cNvPr id="81" name="Rectangle 80"/>
            <p:cNvSpPr/>
            <p:nvPr/>
          </p:nvSpPr>
          <p:spPr>
            <a:xfrm rot="2719992">
              <a:off x="2165747" y="4275300"/>
              <a:ext cx="1271016" cy="1274202"/>
            </a:xfrm>
            <a:prstGeom prst="rect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603515" y="454816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465749" y="37568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228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Geometry of Regularization (Ridge)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D86B94-3357-BFD0-96E2-CA562F17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63</a:t>
            </a:fld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4107049" y="3115411"/>
            <a:ext cx="3249927" cy="3288314"/>
            <a:chOff x="767537" y="3109260"/>
            <a:chExt cx="3249927" cy="3288314"/>
          </a:xfrm>
        </p:grpSpPr>
        <p:grpSp>
          <p:nvGrpSpPr>
            <p:cNvPr id="49" name="Group 48"/>
            <p:cNvGrpSpPr/>
            <p:nvPr/>
          </p:nvGrpSpPr>
          <p:grpSpPr>
            <a:xfrm>
              <a:off x="767537" y="3121562"/>
              <a:ext cx="3249927" cy="3276012"/>
              <a:chOff x="767537" y="3121562"/>
              <a:chExt cx="3249927" cy="3276012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767537" y="3121562"/>
                <a:ext cx="3101546" cy="3276012"/>
                <a:chOff x="1655805" y="2674847"/>
                <a:chExt cx="3101546" cy="3276012"/>
              </a:xfrm>
            </p:grpSpPr>
            <p:cxnSp>
              <p:nvCxnSpPr>
                <p:cNvPr id="53" name="Straight Arrow Connector 52"/>
                <p:cNvCxnSpPr/>
                <p:nvPr/>
              </p:nvCxnSpPr>
              <p:spPr>
                <a:xfrm flipV="1">
                  <a:off x="1655805" y="4880919"/>
                  <a:ext cx="3101546" cy="12357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/>
                <p:cNvCxnSpPr/>
                <p:nvPr/>
              </p:nvCxnSpPr>
              <p:spPr>
                <a:xfrm flipH="1" flipV="1">
                  <a:off x="2782398" y="2674847"/>
                  <a:ext cx="18859" cy="3276012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/>
                  <p:cNvSpPr txBox="1"/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2" name="TextBox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/>
          <p:cNvGrpSpPr/>
          <p:nvPr/>
        </p:nvGrpSpPr>
        <p:grpSpPr>
          <a:xfrm rot="641389">
            <a:off x="4751268" y="2601396"/>
            <a:ext cx="4747059" cy="1567301"/>
            <a:chOff x="6547071" y="3213882"/>
            <a:chExt cx="4747059" cy="1567301"/>
          </a:xfrm>
        </p:grpSpPr>
        <p:grpSp>
          <p:nvGrpSpPr>
            <p:cNvPr id="57" name="Group 56"/>
            <p:cNvGrpSpPr/>
            <p:nvPr/>
          </p:nvGrpSpPr>
          <p:grpSpPr>
            <a:xfrm>
              <a:off x="6547071" y="3213882"/>
              <a:ext cx="4747059" cy="1567301"/>
              <a:chOff x="6547071" y="3213882"/>
              <a:chExt cx="4747059" cy="1567301"/>
            </a:xfrm>
          </p:grpSpPr>
          <p:grpSp>
            <p:nvGrpSpPr>
              <p:cNvPr id="59" name="Group 58"/>
              <p:cNvGrpSpPr/>
              <p:nvPr/>
            </p:nvGrpSpPr>
            <p:grpSpPr>
              <a:xfrm>
                <a:off x="8404272" y="4049503"/>
                <a:ext cx="747962" cy="426692"/>
                <a:chOff x="3606026" y="2722340"/>
                <a:chExt cx="747962" cy="42669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/>
                    <p:cNvSpPr txBox="1"/>
                    <p:nvPr/>
                  </p:nvSpPr>
                  <p:spPr>
                    <a:xfrm rot="20958611">
                      <a:off x="3606026" y="2764696"/>
                      <a:ext cx="747962" cy="384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𝑀𝑆𝐸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20958611">
                      <a:off x="3606026" y="2764696"/>
                      <a:ext cx="747962" cy="384336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 t="-7937" b="-1269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7" name="Oval 66"/>
                <p:cNvSpPr>
                  <a:spLocks noChangeAspect="1"/>
                </p:cNvSpPr>
                <p:nvPr/>
              </p:nvSpPr>
              <p:spPr>
                <a:xfrm>
                  <a:off x="4076794" y="2722340"/>
                  <a:ext cx="45561" cy="45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/>
              <p:cNvGrpSpPr/>
              <p:nvPr/>
            </p:nvGrpSpPr>
            <p:grpSpPr>
              <a:xfrm>
                <a:off x="6547071" y="3213882"/>
                <a:ext cx="4747059" cy="1567301"/>
                <a:chOff x="6501510" y="3217318"/>
                <a:chExt cx="4747059" cy="1567301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6501510" y="3217318"/>
                  <a:ext cx="4747059" cy="1567301"/>
                  <a:chOff x="1752276" y="1849318"/>
                  <a:chExt cx="4747059" cy="1567301"/>
                </a:xfrm>
              </p:grpSpPr>
              <p:sp>
                <p:nvSpPr>
                  <p:cNvPr id="63" name="Oval 62"/>
                  <p:cNvSpPr/>
                  <p:nvPr/>
                </p:nvSpPr>
                <p:spPr>
                  <a:xfrm rot="18916619">
                    <a:off x="3218979" y="2448760"/>
                    <a:ext cx="1755020" cy="57760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Oval 63"/>
                  <p:cNvSpPr/>
                  <p:nvPr/>
                </p:nvSpPr>
                <p:spPr>
                  <a:xfrm rot="18916619">
                    <a:off x="2192409" y="1974795"/>
                    <a:ext cx="3897644" cy="128685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Oval 64"/>
                  <p:cNvSpPr/>
                  <p:nvPr/>
                </p:nvSpPr>
                <p:spPr>
                  <a:xfrm rot="18916619">
                    <a:off x="1752276" y="1849318"/>
                    <a:ext cx="4747059" cy="156730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62" name="Oval 61"/>
                <p:cNvSpPr/>
                <p:nvPr/>
              </p:nvSpPr>
              <p:spPr>
                <a:xfrm rot="18916619">
                  <a:off x="7590616" y="3704259"/>
                  <a:ext cx="2532887" cy="833609"/>
                </a:xfrm>
                <a:prstGeom prst="ellipse">
                  <a:avLst/>
                </a:prstGeom>
                <a:noFill/>
                <a:ln w="28575">
                  <a:solidFill>
                    <a:schemeClr val="accent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8" name="TextBox 57"/>
            <p:cNvSpPr txBox="1"/>
            <p:nvPr/>
          </p:nvSpPr>
          <p:spPr>
            <a:xfrm rot="20958611">
              <a:off x="9742491" y="4121063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MSE=D</a:t>
              </a:r>
            </a:p>
          </p:txBody>
        </p:sp>
      </p:grpSp>
      <p:sp>
        <p:nvSpPr>
          <p:cNvPr id="55" name="Oval 54"/>
          <p:cNvSpPr>
            <a:spLocks noChangeAspect="1"/>
          </p:cNvSpPr>
          <p:nvPr/>
        </p:nvSpPr>
        <p:spPr>
          <a:xfrm>
            <a:off x="4493549" y="4515956"/>
            <a:ext cx="1651406" cy="1651112"/>
          </a:xfrm>
          <a:prstGeom prst="ellipse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6062237" y="5025894"/>
            <a:ext cx="335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7051087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Geometry of Regularization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9DA8A5-55F9-77BF-EA90-4B1E5F9C5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64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880431" y="2255032"/>
            <a:ext cx="5391278" cy="3802329"/>
            <a:chOff x="4107049" y="2601396"/>
            <a:chExt cx="5391278" cy="3802329"/>
          </a:xfrm>
        </p:grpSpPr>
        <p:grpSp>
          <p:nvGrpSpPr>
            <p:cNvPr id="40" name="Group 39"/>
            <p:cNvGrpSpPr/>
            <p:nvPr/>
          </p:nvGrpSpPr>
          <p:grpSpPr>
            <a:xfrm>
              <a:off x="4107049" y="3115411"/>
              <a:ext cx="3249927" cy="3288314"/>
              <a:chOff x="767537" y="3109260"/>
              <a:chExt cx="3249927" cy="3288314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767537" y="3121562"/>
                <a:ext cx="3249927" cy="3276012"/>
                <a:chOff x="767537" y="3121562"/>
                <a:chExt cx="3249927" cy="3276012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767537" y="3121562"/>
                  <a:ext cx="3101546" cy="3276012"/>
                  <a:chOff x="1655805" y="2674847"/>
                  <a:chExt cx="3101546" cy="3276012"/>
                </a:xfrm>
              </p:grpSpPr>
              <p:cxnSp>
                <p:nvCxnSpPr>
                  <p:cNvPr id="53" name="Straight Arrow Connector 52"/>
                  <p:cNvCxnSpPr/>
                  <p:nvPr/>
                </p:nvCxnSpPr>
                <p:spPr>
                  <a:xfrm flipV="1">
                    <a:off x="1655805" y="4880919"/>
                    <a:ext cx="3101546" cy="12357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triangle" w="lg" len="lg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Arrow Connector 53"/>
                  <p:cNvCxnSpPr/>
                  <p:nvPr/>
                </p:nvCxnSpPr>
                <p:spPr>
                  <a:xfrm flipH="1" flipV="1">
                    <a:off x="2782398" y="2674847"/>
                    <a:ext cx="18859" cy="3276012"/>
                  </a:xfrm>
                  <a:prstGeom prst="straightConnector1">
                    <a:avLst/>
                  </a:prstGeom>
                  <a:ln>
                    <a:solidFill>
                      <a:schemeClr val="tx1">
                        <a:lumMod val="75000"/>
                        <a:lumOff val="25000"/>
                      </a:schemeClr>
                    </a:solidFill>
                    <a:tailEnd type="triangle" w="lg" len="lg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/>
                    <p:cNvSpPr txBox="1"/>
                    <p:nvPr/>
                  </p:nvSpPr>
                  <p:spPr>
                    <a:xfrm>
                      <a:off x="3553106" y="5425114"/>
                      <a:ext cx="46435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2" name="TextBox 5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53106" y="5425114"/>
                      <a:ext cx="464358" cy="369332"/>
                    </a:xfrm>
                    <a:prstGeom prst="rect">
                      <a:avLst/>
                    </a:prstGeom>
                    <a:blipFill rotWithShape="0">
                      <a:blip r:embed="rId2"/>
                      <a:stretch>
                        <a:fillRect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1424806" y="3109260"/>
                    <a:ext cx="46968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4806" y="3109260"/>
                    <a:ext cx="469680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/>
            <p:cNvGrpSpPr/>
            <p:nvPr/>
          </p:nvGrpSpPr>
          <p:grpSpPr>
            <a:xfrm rot="641389">
              <a:off x="4751268" y="2601396"/>
              <a:ext cx="4747059" cy="1567301"/>
              <a:chOff x="6547071" y="3213882"/>
              <a:chExt cx="4747059" cy="1567301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6547071" y="3213882"/>
                <a:ext cx="4747059" cy="1567301"/>
                <a:chOff x="6547071" y="3213882"/>
                <a:chExt cx="4747059" cy="1567301"/>
              </a:xfrm>
            </p:grpSpPr>
            <p:grpSp>
              <p:nvGrpSpPr>
                <p:cNvPr id="59" name="Group 58"/>
                <p:cNvGrpSpPr/>
                <p:nvPr/>
              </p:nvGrpSpPr>
              <p:grpSpPr>
                <a:xfrm>
                  <a:off x="8404272" y="4049503"/>
                  <a:ext cx="747962" cy="426692"/>
                  <a:chOff x="3606026" y="2722340"/>
                  <a:chExt cx="747962" cy="42669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6" name="TextBox 65"/>
                      <p:cNvSpPr txBox="1"/>
                      <p:nvPr/>
                    </p:nvSpPr>
                    <p:spPr>
                      <a:xfrm rot="20958611">
                        <a:off x="3606026" y="2764696"/>
                        <a:ext cx="747962" cy="3843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𝑀𝑆𝐸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66" name="TextBox 6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20958611">
                        <a:off x="3606026" y="2764696"/>
                        <a:ext cx="747962" cy="384336"/>
                      </a:xfrm>
                      <a:prstGeom prst="rect">
                        <a:avLst/>
                      </a:prstGeom>
                      <a:blipFill rotWithShape="0">
                        <a:blip r:embed="rId4"/>
                        <a:stretch>
                          <a:fillRect t="-7937" b="-1269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7" name="Oval 66"/>
                  <p:cNvSpPr>
                    <a:spLocks noChangeAspect="1"/>
                  </p:cNvSpPr>
                  <p:nvPr/>
                </p:nvSpPr>
                <p:spPr>
                  <a:xfrm>
                    <a:off x="4076794" y="2722340"/>
                    <a:ext cx="45561" cy="4572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" name="Group 59"/>
                <p:cNvGrpSpPr/>
                <p:nvPr/>
              </p:nvGrpSpPr>
              <p:grpSpPr>
                <a:xfrm>
                  <a:off x="6547071" y="3213882"/>
                  <a:ext cx="4747059" cy="1567301"/>
                  <a:chOff x="6501510" y="3217318"/>
                  <a:chExt cx="4747059" cy="1567301"/>
                </a:xfrm>
              </p:grpSpPr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6501510" y="3217318"/>
                    <a:ext cx="4747059" cy="1567301"/>
                    <a:chOff x="1752276" y="1849318"/>
                    <a:chExt cx="4747059" cy="1567301"/>
                  </a:xfrm>
                </p:grpSpPr>
                <p:sp>
                  <p:nvSpPr>
                    <p:cNvPr id="63" name="Oval 62"/>
                    <p:cNvSpPr/>
                    <p:nvPr/>
                  </p:nvSpPr>
                  <p:spPr>
                    <a:xfrm rot="18916619">
                      <a:off x="3218979" y="2448760"/>
                      <a:ext cx="1755020" cy="577602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4" name="Oval 63"/>
                    <p:cNvSpPr/>
                    <p:nvPr/>
                  </p:nvSpPr>
                  <p:spPr>
                    <a:xfrm rot="18916619">
                      <a:off x="2192409" y="1974795"/>
                      <a:ext cx="3897644" cy="1286856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5" name="Oval 64"/>
                    <p:cNvSpPr/>
                    <p:nvPr/>
                  </p:nvSpPr>
                  <p:spPr>
                    <a:xfrm rot="18916619">
                      <a:off x="1752276" y="1849318"/>
                      <a:ext cx="4747059" cy="1567301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accent2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2" name="Oval 61"/>
                  <p:cNvSpPr/>
                  <p:nvPr/>
                </p:nvSpPr>
                <p:spPr>
                  <a:xfrm rot="18916619">
                    <a:off x="7590616" y="3704259"/>
                    <a:ext cx="2532887" cy="833609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58" name="TextBox 57"/>
              <p:cNvSpPr txBox="1"/>
              <p:nvPr/>
            </p:nvSpPr>
            <p:spPr>
              <a:xfrm rot="20958611">
                <a:off x="9742491" y="4121063"/>
                <a:ext cx="857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MSE=D</a:t>
                </a:r>
              </a:p>
            </p:txBody>
          </p:sp>
        </p:grp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4493549" y="4515956"/>
              <a:ext cx="1651406" cy="1651112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6062237" y="5025894"/>
              <a:ext cx="3351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481151" y="2769047"/>
            <a:ext cx="3249927" cy="3288314"/>
            <a:chOff x="767537" y="3109260"/>
            <a:chExt cx="3249927" cy="3288314"/>
          </a:xfrm>
        </p:grpSpPr>
        <p:grpSp>
          <p:nvGrpSpPr>
            <p:cNvPr id="26" name="Group 25"/>
            <p:cNvGrpSpPr/>
            <p:nvPr/>
          </p:nvGrpSpPr>
          <p:grpSpPr>
            <a:xfrm>
              <a:off x="767537" y="3121562"/>
              <a:ext cx="3249927" cy="3276012"/>
              <a:chOff x="767537" y="3121562"/>
              <a:chExt cx="3249927" cy="3276012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767537" y="3121562"/>
                <a:ext cx="3101546" cy="3276012"/>
                <a:chOff x="1655805" y="2674847"/>
                <a:chExt cx="3101546" cy="3276012"/>
              </a:xfrm>
            </p:grpSpPr>
            <p:cxnSp>
              <p:nvCxnSpPr>
                <p:cNvPr id="30" name="Straight Arrow Connector 29"/>
                <p:cNvCxnSpPr/>
                <p:nvPr/>
              </p:nvCxnSpPr>
              <p:spPr>
                <a:xfrm flipV="1">
                  <a:off x="1655805" y="4880919"/>
                  <a:ext cx="3101546" cy="12357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/>
                <p:cNvCxnSpPr/>
                <p:nvPr/>
              </p:nvCxnSpPr>
              <p:spPr>
                <a:xfrm flipH="1" flipV="1">
                  <a:off x="2782398" y="2674847"/>
                  <a:ext cx="18859" cy="3276012"/>
                </a:xfrm>
                <a:prstGeom prst="straightConnector1">
                  <a:avLst/>
                </a:prstGeom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106" y="5425114"/>
                    <a:ext cx="464358" cy="369332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806" y="3109260"/>
                  <a:ext cx="46968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/>
          <p:cNvGrpSpPr/>
          <p:nvPr/>
        </p:nvGrpSpPr>
        <p:grpSpPr>
          <a:xfrm>
            <a:off x="1145527" y="2274400"/>
            <a:ext cx="4747059" cy="1567301"/>
            <a:chOff x="6547071" y="3213882"/>
            <a:chExt cx="4747059" cy="1567301"/>
          </a:xfrm>
        </p:grpSpPr>
        <p:grpSp>
          <p:nvGrpSpPr>
            <p:cNvPr id="33" name="Group 32"/>
            <p:cNvGrpSpPr/>
            <p:nvPr/>
          </p:nvGrpSpPr>
          <p:grpSpPr>
            <a:xfrm>
              <a:off x="6547071" y="3213882"/>
              <a:ext cx="4747059" cy="1567301"/>
              <a:chOff x="6547071" y="3213882"/>
              <a:chExt cx="4747059" cy="1567301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8404272" y="4049503"/>
                <a:ext cx="747962" cy="426693"/>
                <a:chOff x="3606026" y="2722340"/>
                <a:chExt cx="747962" cy="4266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/>
                    <p:cNvSpPr txBox="1"/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𝑀𝑆𝐸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43" name="TextBox 4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06026" y="2764697"/>
                      <a:ext cx="747962" cy="384336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t="-7937"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4" name="Oval 43"/>
                <p:cNvSpPr>
                  <a:spLocks noChangeAspect="1"/>
                </p:cNvSpPr>
                <p:nvPr/>
              </p:nvSpPr>
              <p:spPr>
                <a:xfrm>
                  <a:off x="4076794" y="2722340"/>
                  <a:ext cx="45561" cy="457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6" name="Group 35"/>
              <p:cNvGrpSpPr/>
              <p:nvPr/>
            </p:nvGrpSpPr>
            <p:grpSpPr>
              <a:xfrm>
                <a:off x="6547071" y="3213882"/>
                <a:ext cx="4747059" cy="1567301"/>
                <a:chOff x="6501510" y="3217318"/>
                <a:chExt cx="4747059" cy="1567301"/>
              </a:xfrm>
            </p:grpSpPr>
            <p:grpSp>
              <p:nvGrpSpPr>
                <p:cNvPr id="37" name="Group 36"/>
                <p:cNvGrpSpPr/>
                <p:nvPr/>
              </p:nvGrpSpPr>
              <p:grpSpPr>
                <a:xfrm>
                  <a:off x="6501510" y="3217318"/>
                  <a:ext cx="4747059" cy="1567301"/>
                  <a:chOff x="1752276" y="1849318"/>
                  <a:chExt cx="4747059" cy="1567301"/>
                </a:xfrm>
              </p:grpSpPr>
              <p:sp>
                <p:nvSpPr>
                  <p:cNvPr id="39" name="Oval 38"/>
                  <p:cNvSpPr/>
                  <p:nvPr/>
                </p:nvSpPr>
                <p:spPr>
                  <a:xfrm rot="18916619">
                    <a:off x="3218979" y="2448760"/>
                    <a:ext cx="1755020" cy="57760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 rot="18916619">
                    <a:off x="2192409" y="1974795"/>
                    <a:ext cx="3897644" cy="1286856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Oval 41"/>
                  <p:cNvSpPr/>
                  <p:nvPr/>
                </p:nvSpPr>
                <p:spPr>
                  <a:xfrm rot="18916619">
                    <a:off x="1752276" y="1849318"/>
                    <a:ext cx="4747059" cy="1567301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8" name="Oval 37"/>
                <p:cNvSpPr/>
                <p:nvPr/>
              </p:nvSpPr>
              <p:spPr>
                <a:xfrm rot="18916619">
                  <a:off x="7590616" y="3704259"/>
                  <a:ext cx="2532887" cy="833609"/>
                </a:xfrm>
                <a:prstGeom prst="ellipse">
                  <a:avLst/>
                </a:prstGeom>
                <a:noFill/>
                <a:ln w="28575">
                  <a:solidFill>
                    <a:schemeClr val="accent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34" name="TextBox 33"/>
            <p:cNvSpPr txBox="1"/>
            <p:nvPr/>
          </p:nvSpPr>
          <p:spPr>
            <a:xfrm>
              <a:off x="9742491" y="4121063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MSE=D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961452" y="3846010"/>
            <a:ext cx="1747459" cy="1791051"/>
            <a:chOff x="2164154" y="3756858"/>
            <a:chExt cx="1747459" cy="1791051"/>
          </a:xfrm>
        </p:grpSpPr>
        <p:sp>
          <p:nvSpPr>
            <p:cNvPr id="46" name="Rectangle 45"/>
            <p:cNvSpPr/>
            <p:nvPr/>
          </p:nvSpPr>
          <p:spPr>
            <a:xfrm rot="2719992">
              <a:off x="2165747" y="4275300"/>
              <a:ext cx="1271016" cy="1274202"/>
            </a:xfrm>
            <a:prstGeom prst="rect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603515" y="4548163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465749" y="375685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06079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ro-RO" dirty="0"/>
              <a:t>egularizare LASSO</a:t>
            </a:r>
            <a:r>
              <a:rPr lang="en-US" dirty="0"/>
              <a:t> </a:t>
            </a:r>
            <a:r>
              <a:rPr lang="ro-RO" dirty="0"/>
              <a:t>doar pe </a:t>
            </a:r>
            <a:r>
              <a:rPr lang="en-US" b="1" dirty="0" err="1"/>
              <a:t>valida</a:t>
            </a:r>
            <a:r>
              <a:rPr lang="ro-RO" b="1" dirty="0"/>
              <a:t>re</a:t>
            </a:r>
            <a:r>
              <a:rPr lang="en-US" dirty="0"/>
              <a:t>: </a:t>
            </a:r>
            <a:r>
              <a:rPr lang="ro-RO" dirty="0"/>
              <a:t>pas cu pas</a:t>
            </a: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Împărțire date în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𝑣𝑎𝑙𝑖𝑑𝑎𝑡𝑖𝑜𝑛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}</m:t>
                    </m:r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</m:oMath>
                </a14:m>
                <a:endParaRPr lang="en-US" sz="24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Pentru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𝜆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charset="0"/>
                        <a:ea typeface="Courier" charset="0"/>
                        <a:cs typeface="Courier" charset="0"/>
                      </a:rPr>
                      <m:t>in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: </m:t>
                    </m:r>
                  </m:oMath>
                </a14:m>
                <a:endParaRPr lang="en-US" sz="2400" b="0" dirty="0"/>
              </a:p>
              <a:p>
                <a:pPr marL="12001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dirty="0" err="1">
                    <a:latin typeface="Courier" charset="0"/>
                    <a:ea typeface="Courier" charset="0"/>
                    <a:cs typeface="Courier" charset="0"/>
                  </a:rPr>
                  <a:t>determin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ă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𝛽</m:t>
                    </m:r>
                  </m:oMath>
                </a14:m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care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minimize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ază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𝑙𝑎𝑠𝑠𝑜</m:t>
                        </m:r>
                      </m:sub>
                    </m:sSub>
                  </m:oMath>
                </a14:m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dirty="0"/>
                  <a:t>, , 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folosind datele de antrenamen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t</a:t>
                </a:r>
                <a:r>
                  <a:rPr lang="en-US" dirty="0"/>
                  <a:t>.</a:t>
                </a:r>
              </a:p>
              <a:p>
                <a:pPr marL="12001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Reține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𝑀𝑆𝐸</m:t>
                        </m:r>
                      </m:sub>
                      <m:sup/>
                    </m:sSub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folosind datele de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en-US" sz="2400" dirty="0" err="1">
                    <a:latin typeface="Courier" charset="0"/>
                    <a:ea typeface="Courier" charset="0"/>
                    <a:cs typeface="Courier" charset="0"/>
                  </a:rPr>
                  <a:t>valida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select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area</a:t>
                </a:r>
                <a:r>
                  <a:rPr lang="en-US" sz="2400" dirty="0"/>
                  <a:t> </a:t>
                </a:r>
                <a:r>
                  <a:rPr lang="ro-RO" sz="2400" dirty="0"/>
                  <a:t> lui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charset="0"/>
                      </a:rPr>
                      <m:t>𝜆</m:t>
                    </m:r>
                    <m:r>
                      <a:rPr lang="en-US" sz="240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400" dirty="0"/>
                  <a:t>care minimizează pierderea pe</a:t>
                </a:r>
                <a:r>
                  <a:rPr lang="en-US" sz="2400" dirty="0"/>
                  <a:t> </a:t>
                </a:r>
                <a:r>
                  <a:rPr lang="ro-RO" sz="2400" dirty="0"/>
                  <a:t>setul de validare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           </m:t>
                        </m:r>
                        <m:r>
                          <a:rPr lang="en-US" sz="2400" i="1">
                            <a:latin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𝑙𝑎𝑠𝑠𝑜</m:t>
                        </m:r>
                      </m:sub>
                    </m:sSub>
                    <m:r>
                      <a:rPr lang="en-US" sz="240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charset="0"/>
                          </a:rPr>
                          <m:t>argmin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𝜆</m:t>
                        </m:r>
                      </m:sub>
                    </m:sSub>
                    <m:r>
                      <a:rPr lang="en-US" sz="2400">
                        <a:latin typeface="Cambria Math" charset="0"/>
                      </a:rPr>
                      <m:t>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𝑀𝑆𝐸</m:t>
                        </m:r>
                      </m:sub>
                      <m:sup/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ro-RO" sz="2400" dirty="0"/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Re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antrenarea modelului folosind reuniunea dintre setul de antrenament și validare</a:t>
                </a:r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𝑣𝑎𝑙𝑖𝑑𝑎𝑡𝑖𝑜𝑛</m:t>
                        </m:r>
                      </m:sub>
                    </m:sSub>
                  </m:oMath>
                </a14:m>
                <a:r>
                  <a:rPr lang="en-US" sz="2400" dirty="0"/>
                  <a:t> },  </a:t>
                </a:r>
                <a:r>
                  <a:rPr lang="ro-RO" sz="2400" dirty="0"/>
                  <a:t>obținem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ro-RO" sz="2400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𝑙𝑎𝑠𝑠𝑜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raportăm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MSE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sau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R</a:t>
                </a:r>
                <a:r>
                  <a:rPr lang="en-US" sz="2400" baseline="30000" dirty="0">
                    <a:latin typeface="Courier" charset="0"/>
                    <a:ea typeface="Courier" charset="0"/>
                    <a:cs typeface="Courier" charset="0"/>
                  </a:rPr>
                  <a:t>2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pe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  <m:r>
                      <a:rPr lang="ro-RO" sz="24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folosind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ro-RO" sz="2400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𝑙𝑎𝑠𝑠𝑜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𝑙𝑎𝑠𝑠𝑜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ourier" charset="0"/>
                  <a:ea typeface="Courier" charset="0"/>
                  <a:cs typeface="Courier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6" t="-2017" r="-1830" b="-15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7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Regularizare </a:t>
            </a:r>
            <a:r>
              <a:rPr lang="en-US" dirty="0"/>
              <a:t>Ridge </a:t>
            </a:r>
            <a:r>
              <a:rPr lang="ro-RO" dirty="0"/>
              <a:t>cu</a:t>
            </a:r>
            <a:r>
              <a:rPr lang="en-US" dirty="0"/>
              <a:t> </a:t>
            </a:r>
            <a:r>
              <a:rPr lang="en-US" b="1" dirty="0"/>
              <a:t>CV</a:t>
            </a:r>
            <a:r>
              <a:rPr lang="ro-RO" b="1" dirty="0"/>
              <a:t>(Valid. Încr.)</a:t>
            </a:r>
            <a:r>
              <a:rPr lang="en-US" dirty="0"/>
              <a:t>: </a:t>
            </a:r>
            <a:r>
              <a:rPr lang="ro-RO" dirty="0"/>
              <a:t>pas cu pas</a:t>
            </a: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Se elimină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din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en-US" sz="2000" dirty="0" err="1">
                    <a:latin typeface="Courier" charset="0"/>
                    <a:ea typeface="Courier" charset="0"/>
                    <a:cs typeface="Courier" charset="0"/>
                  </a:rPr>
                  <a:t>dat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e</a:t>
                </a:r>
                <a:endParaRPr lang="en-US" sz="20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Spargerea datelor în K părți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  <m:sup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𝑘</m:t>
                        </m:r>
                      </m:sup>
                    </m:sSubSup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</m:t>
                        </m:r>
                      </m:sub>
                      <m:sup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𝑘</m:t>
                        </m:r>
                      </m:sup>
                    </m:sSubSup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}</m:t>
                    </m:r>
                    <m:r>
                      <a:rPr lang="en-US" sz="2000" i="1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</m:oMath>
                </a14:m>
                <a:endParaRPr lang="en-US" sz="20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pentru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en-US" sz="2000" i="1" dirty="0">
                    <a:latin typeface="Courier" charset="0"/>
                    <a:ea typeface="Courier" charset="0"/>
                    <a:cs typeface="Courier" charset="0"/>
                  </a:rPr>
                  <a:t>k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charset="0"/>
                          </a:rPr>
                          <m:t>1,</m:t>
                        </m:r>
                        <m:r>
                          <a:rPr lang="en-US" sz="2000" i="1">
                            <a:latin typeface="Cambria Math" charset="0"/>
                          </a:rPr>
                          <m:t>…</m:t>
                        </m:r>
                        <m:r>
                          <a:rPr lang="en-US" sz="20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charset="0"/>
                          </a:rPr>
                          <m:t>𝐾</m:t>
                        </m:r>
                      </m:e>
                    </m:d>
                    <m:r>
                      <a:rPr lang="en-US" sz="2000" i="1">
                        <a:latin typeface="Cambria Math" charset="0"/>
                      </a:rPr>
                      <m:t> </m:t>
                    </m:r>
                  </m:oMath>
                </a14:m>
                <a:endParaRPr lang="en-US" sz="20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1200120" lvl="1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pentru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𝜆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charset="0"/>
                        <a:ea typeface="Courier" charset="0"/>
                        <a:cs typeface="Courier" charset="0"/>
                      </a:rPr>
                      <m:t>in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</a:rPr>
                              <m:t>0,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charset="0"/>
                              </a:rPr>
                              <m:t>, </m:t>
                            </m:r>
                            <m:r>
                              <a:rPr lang="en-US" sz="20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charset="0"/>
                      </a:rPr>
                      <m:t>: </m:t>
                    </m:r>
                  </m:oMath>
                </a14:m>
                <a:endParaRPr lang="en-US" sz="1800" b="0" dirty="0"/>
              </a:p>
              <a:p>
                <a:pPr marL="1600154" lvl="2" indent="-457200">
                  <a:buFont typeface="+mj-lt"/>
                  <a:buAutoNum type="alphaUcPeriod"/>
                </a:pP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determină</a:t>
                </a:r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charset="0"/>
                        <a:ea typeface="Courier" charset="0"/>
                        <a:cs typeface="Courier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care minimizează</a:t>
                </a:r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𝐿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𝑟𝑖𝑑𝑔𝑒</m:t>
                        </m:r>
                      </m:sub>
                    </m:sSub>
                  </m:oMath>
                </a14:m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</m:t>
                        </m:r>
                        <m:r>
                          <a:rPr lang="en-US" sz="18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𝑖𝑑𝑔𝑒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𝜆</m:t>
                        </m:r>
                        <m:r>
                          <a:rPr lang="en-US" sz="1800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,</m:t>
                        </m:r>
                        <m:r>
                          <a:rPr lang="en-US" sz="1800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𝑘</m:t>
                        </m:r>
                      </m:e>
                    </m:d>
                    <m:r>
                      <a:rPr lang="en-US" sz="1800" dirty="0">
                        <a:latin typeface="Cambria Math" charset="0"/>
                        <a:ea typeface="Courier" charset="0"/>
                        <a:cs typeface="Courier" charset="0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  <a:ea typeface="Courier" charset="0"/>
                                    <a:cs typeface="Courier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1800" dirty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sz="1800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X</m:t>
                            </m:r>
                            <m:r>
                              <a:rPr lang="en-US" sz="1800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+</m:t>
                            </m:r>
                            <m:r>
                              <a:rPr lang="en-US" sz="18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  <m:r>
                              <a:rPr lang="en-US" sz="18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sz="18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sz="18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𝑋</m:t>
                        </m:r>
                      </m:e>
                      <m:sup>
                        <m:r>
                          <a:rPr lang="en-US" sz="18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𝑇</m:t>
                        </m:r>
                      </m:sup>
                    </m:sSup>
                    <m:r>
                      <a:rPr lang="en-US" sz="1800" i="1" dirty="0">
                        <a:latin typeface="Cambria Math" charset="0"/>
                        <a:ea typeface="Courier" charset="0"/>
                        <a:cs typeface="Courier" charset="0"/>
                      </a:rPr>
                      <m:t>𝑌</m:t>
                    </m:r>
                  </m:oMath>
                </a14:m>
                <a:r>
                  <a:rPr lang="en-US" sz="1800" dirty="0"/>
                  <a:t> , </a:t>
                </a:r>
                <a:r>
                  <a:rPr lang="ro-RO" sz="1800" dirty="0"/>
                  <a:t>folosind datele de antrenament</a:t>
                </a:r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18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  <m:sup>
                        <m:r>
                          <a:rPr lang="en-US" sz="18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−</m:t>
                        </m:r>
                        <m:r>
                          <a:rPr lang="en-US" sz="18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1800" dirty="0"/>
                  <a:t>.</a:t>
                </a:r>
              </a:p>
              <a:p>
                <a:pPr marL="1600154" lvl="2" indent="-457200">
                  <a:buFont typeface="+mj-lt"/>
                  <a:buAutoNum type="alphaUcPeriod"/>
                </a:pP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Reține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1800" i="1">
                            <a:latin typeface="Cambria Math" charset="0"/>
                          </a:rPr>
                          <m:t>𝑀𝑆𝐸</m:t>
                        </m:r>
                      </m:sub>
                      <m:sup/>
                    </m:sSub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charset="0"/>
                          </a:rPr>
                          <m:t>𝜆</m:t>
                        </m:r>
                        <m:r>
                          <a:rPr lang="en-US" sz="1800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atele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de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validare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18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18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</m:t>
                        </m:r>
                      </m:sub>
                      <m:sup>
                        <m:r>
                          <a:rPr lang="en-US" sz="18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sz="18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lvl="2" indent="0">
                  <a:buNone/>
                </a:pP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Aici vom avea o matrice </a:t>
                </a:r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2-D, </a:t>
                </a: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pe linii cu valori diferite ale lui k</a:t>
                </a:r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:r>
                  <a:rPr lang="ro-RO" sz="1800" dirty="0">
                    <a:latin typeface="Courier" charset="0"/>
                    <a:ea typeface="Courier" charset="0"/>
                    <a:cs typeface="Courier" charset="0"/>
                  </a:rPr>
                  <a:t>coloanele pentru diferite valori ale lui</a:t>
                </a:r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𝜆</m:t>
                    </m:r>
                  </m:oMath>
                </a14:m>
                <a:r>
                  <a:rPr lang="en-US" sz="1800" dirty="0">
                    <a:latin typeface="Courier" charset="0"/>
                    <a:ea typeface="Courier" charset="0"/>
                    <a:cs typeface="Courier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Facem media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𝑀𝑆𝐸</m:t>
                        </m:r>
                      </m:sub>
                    </m:sSub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(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𝜆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𝑘</m:t>
                    </m:r>
                    <m:r>
                      <a:rPr lang="en-US" sz="20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pentru fiecare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ourier" charset="0"/>
                        <a:cs typeface="Courier" charset="0"/>
                      </a:rPr>
                      <m:t>𝜆</m:t>
                    </m:r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  <a:ea typeface="Courier" charset="0"/>
                                    <a:cs typeface="Courier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dirty="0" smtClean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𝑀𝑆𝐸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</m:d>
                      </m:e>
                      <m:sub/>
                    </m:sSub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. 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Găsim</a:t>
                </a:r>
                <a14:m>
                  <m:oMath xmlns:m="http://schemas.openxmlformats.org/officeDocument/2006/math">
                    <m:r>
                      <a:rPr lang="ro-RO" sz="20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 </m:t>
                    </m:r>
                    <m:r>
                      <a:rPr lang="en-US" sz="2000" i="1">
                        <a:latin typeface="Cambria Math" charset="0"/>
                        <a:ea typeface="Courier" charset="0"/>
                        <a:cs typeface="Courier" charset="0"/>
                      </a:rPr>
                      <m:t>𝜆</m:t>
                    </m:r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care minimizează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Courier" charset="0"/>
                                    <a:cs typeface="Courier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𝑀𝑆𝐸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</m:d>
                      </m:e>
                      <m:sub/>
                    </m:sSub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, 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-</a:t>
                </a:r>
                <a14:m>
                  <m:oMath xmlns:m="http://schemas.openxmlformats.org/officeDocument/2006/math">
                    <m:r>
                      <a:rPr lang="ro-RO" sz="200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&gt;</m:t>
                    </m:r>
                    <m:r>
                      <a:rPr lang="ro-RO" sz="20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𝜆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𝑟𝑖𝑑𝑔𝑒</m:t>
                        </m:r>
                      </m:sub>
                    </m:sSub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Reantrenăm modelul folosind întregul set de antrenament</a:t>
                </a:r>
                <a:r>
                  <a:rPr lang="en-US" sz="2000" dirty="0"/>
                  <a:t>a, 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</m:sSub>
                    <m:r>
                      <a:rPr lang="en-US" sz="2000" i="1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</m:t>
                        </m:r>
                      </m:sub>
                    </m:sSub>
                  </m:oMath>
                </a14:m>
                <a:r>
                  <a:rPr lang="en-US" sz="2000" dirty="0"/>
                  <a:t> },  </a:t>
                </a:r>
                <a:r>
                  <a:rPr lang="ro-RO" sz="2000" dirty="0"/>
                  <a:t>-&gt;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 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</m:t>
                        </m:r>
                        <m:r>
                          <a:rPr lang="en-US" sz="20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𝑖𝑑𝑔𝑒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𝑟</m:t>
                            </m:r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𝑖𝑑𝑔𝑒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Raportează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MSE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sau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R</a:t>
                </a:r>
                <a:r>
                  <a:rPr lang="en-US" sz="2000" baseline="30000" dirty="0">
                    <a:latin typeface="Courier" charset="0"/>
                    <a:ea typeface="Courier" charset="0"/>
                    <a:cs typeface="Courier" charset="0"/>
                  </a:rPr>
                  <a:t>2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pe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0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</m:oMath>
                </a14:m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sz="2000" dirty="0">
                    <a:latin typeface="Courier" charset="0"/>
                    <a:ea typeface="Courier" charset="0"/>
                    <a:cs typeface="Courier" charset="0"/>
                  </a:rPr>
                  <a:t>pentru</a:t>
                </a:r>
                <a:r>
                  <a:rPr lang="en-US" sz="20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</m:t>
                        </m:r>
                        <m:r>
                          <a:rPr lang="en-US" sz="20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𝑖𝑑𝑔𝑒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𝑟</m:t>
                            </m:r>
                            <m:r>
                              <a:rPr lang="en-US" sz="20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𝑖𝑑𝑔𝑒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Courier" charset="0"/>
                  <a:ea typeface="Courier" charset="0"/>
                  <a:cs typeface="Courier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90" t="-1153" b="-150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9258126" y="84909"/>
              <a:ext cx="2779649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332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5441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836088"/>
                  </p:ext>
                </p:extLst>
              </p:nvPr>
            </p:nvGraphicFramePr>
            <p:xfrm>
              <a:off x="9258126" y="84909"/>
              <a:ext cx="2779649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473329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1053" t="-8333" r="-283158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48052" t="-8333" r="-249351" b="-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2105" t="-8333" r="-2105" b="-40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53" t="-108333" r="-383158" b="-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53" t="-204918" r="-383158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53" t="-410000" r="-383158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9175198" y="6940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5441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9094933"/>
                  </p:ext>
                </p:extLst>
              </p:nvPr>
            </p:nvGraphicFramePr>
            <p:xfrm>
              <a:off x="9175198" y="6940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1053" t="-8333" r="-301053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3191" t="-8333" r="-204255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000" t="-8333" r="-2105" b="-405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53" t="-108333" r="-401053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53" t="-204918" r="-40105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53" t="-410000" r="-40105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175198" y="53905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5441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330548"/>
                  </p:ext>
                </p:extLst>
              </p:nvPr>
            </p:nvGraphicFramePr>
            <p:xfrm>
              <a:off x="9175198" y="53905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1053" t="-8333" r="-301053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03191" t="-8333" r="-204255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400000" t="-8333" r="-2105" b="-405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53" t="-108333" r="-401053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53" t="-204918" r="-40105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53" t="-410000" r="-40105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9195519" y="7747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30127"/>
                  </p:ext>
                </p:extLst>
              </p:nvPr>
            </p:nvGraphicFramePr>
            <p:xfrm>
              <a:off x="9195519" y="7747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053" t="-8333" r="-301053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203191" t="-8333" r="-204255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400000" t="-8333" r="-2105" b="-405000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53" t="-108333" r="-401053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1053" t="-108333" r="-301053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53" t="-204918" r="-40105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6"/>
                          <a:stretch>
                            <a:fillRect l="-1053" t="-410000" r="-40105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9185359" y="6940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380501"/>
                  </p:ext>
                </p:extLst>
              </p:nvPr>
            </p:nvGraphicFramePr>
            <p:xfrm>
              <a:off x="9185359" y="69407"/>
              <a:ext cx="2882900" cy="182880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1053" t="-8333" r="-301053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203191" t="-8333" r="-20425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400000" t="-8333" r="-2105" b="-4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53" t="-108333" r="-40105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1053" t="-108333" r="-301053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203191" t="-108333" r="-20425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53" t="-204918" r="-401053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1053" t="-204918" r="-301053" b="-2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7"/>
                          <a:stretch>
                            <a:fillRect l="-1053" t="-410000" r="-401053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9205679" y="84909"/>
              <a:ext cx="2882900" cy="219456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E[]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𝐿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charset="0"/>
                                          </a:rPr>
                                          <m:t>𝑳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0000"/>
                                        </a:solidFill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𝐿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211510"/>
                  </p:ext>
                </p:extLst>
              </p:nvPr>
            </p:nvGraphicFramePr>
            <p:xfrm>
              <a:off x="9205679" y="84909"/>
              <a:ext cx="2882900" cy="219456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053" t="-8333" r="-301053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3191" t="-8333" r="-20425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00000" t="-8333" r="-2105" b="-52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53" t="-108333" r="-401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053" t="-108333" r="-301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3191" t="-108333" r="-20425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53" t="-204918" r="-401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053" t="-204918" r="-301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53" t="-410000" r="-40105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E[]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101053" t="-510000" r="-30105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203191" t="-510000" r="-20425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8"/>
                          <a:stretch>
                            <a:fillRect l="-400000" t="-510000" r="-2105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/>
            </p:nvGraphicFramePr>
            <p:xfrm>
              <a:off x="9205679" y="53905"/>
              <a:ext cx="2882900" cy="219456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765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45718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latin typeface="Cambria Math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rgbClr val="FFC000"/>
                                        </a:solidFill>
                                        <a:latin typeface="Cambria Math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smtClean="0">
                                        <a:solidFill>
                                          <a:schemeClr val="bg1"/>
                                        </a:solidFill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4419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E[]</a:t>
                          </a: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𝐿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𝐿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charset="0"/>
                                          </a:rPr>
                                          <m:t>𝐿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106570"/>
                  </p:ext>
                </p:extLst>
              </p:nvPr>
            </p:nvGraphicFramePr>
            <p:xfrm>
              <a:off x="9205679" y="53905"/>
              <a:ext cx="2882900" cy="2194560"/>
            </p:xfrm>
            <a:graphic>
              <a:graphicData uri="http://schemas.openxmlformats.org/drawingml/2006/table">
                <a:tbl>
                  <a:tblPr firstRow="1" bandRow="1">
                    <a:tableStyleId>{793D81CF-94F2-401A-BA57-92F5A7B2D0C5}</a:tableStyleId>
                  </a:tblPr>
                  <a:tblGrid>
                    <a:gridCol w="576580"/>
                    <a:gridCol w="576580"/>
                    <a:gridCol w="576580"/>
                    <a:gridCol w="576580"/>
                    <a:gridCol w="576580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1053" t="-8333" r="-301053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3191" t="-8333" r="-204255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400000" t="-8333" r="-2105" b="-52833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53" t="-108333" r="-401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1053" t="-108333" r="-3010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3191" t="-108333" r="-204255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53" t="-204918" r="-401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1053" t="-204918" r="-301053" b="-3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mr-IN" dirty="0" smtClean="0">
                              <a:solidFill>
                                <a:schemeClr val="bg1"/>
                              </a:solidFill>
                            </a:rPr>
                            <a:t>…</a:t>
                          </a:r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53" t="-410000" r="-401053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chemeClr val="bg1"/>
                              </a:solidFill>
                            </a:rPr>
                            <a:t>E[]</a:t>
                          </a:r>
                          <a:endParaRPr 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101053" t="-510000" r="-301053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203191" t="-510000" r="-20425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mr-IN" dirty="0" smtClean="0"/>
                            <a:t>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9"/>
                          <a:stretch>
                            <a:fillRect l="-400000" t="-510000" r="-2105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680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ro-RO" dirty="0"/>
              <a:t>egularizare r</a:t>
            </a:r>
            <a:r>
              <a:rPr lang="en-US" dirty="0" err="1"/>
              <a:t>idge</a:t>
            </a:r>
            <a:r>
              <a:rPr lang="en-US" dirty="0"/>
              <a:t> </a:t>
            </a:r>
            <a:r>
              <a:rPr lang="ro-RO" dirty="0"/>
              <a:t>doar pe </a:t>
            </a:r>
            <a:r>
              <a:rPr lang="en-US" b="1" dirty="0" err="1"/>
              <a:t>valida</a:t>
            </a:r>
            <a:r>
              <a:rPr lang="ro-RO" b="1" dirty="0"/>
              <a:t>re</a:t>
            </a:r>
            <a:r>
              <a:rPr lang="en-US" dirty="0"/>
              <a:t>: </a:t>
            </a:r>
            <a:r>
              <a:rPr lang="ro-RO" dirty="0"/>
              <a:t>pas cu pas</a:t>
            </a:r>
            <a:r>
              <a:rPr lang="en-US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Împărțire date în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𝑣𝑎𝑙𝑖𝑑𝑎𝑡𝑖𝑜𝑛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}</m:t>
                    </m:r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 </m:t>
                    </m:r>
                  </m:oMath>
                </a14:m>
                <a:endParaRPr lang="en-US" sz="2400" dirty="0">
                  <a:latin typeface="Courier" charset="0"/>
                  <a:ea typeface="Courier" charset="0"/>
                  <a:cs typeface="Courier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Pentru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𝜆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charset="0"/>
                        <a:ea typeface="Courier" charset="0"/>
                        <a:cs typeface="Courier" charset="0"/>
                      </a:rPr>
                      <m:t>in</m:t>
                    </m:r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: </m:t>
                    </m:r>
                  </m:oMath>
                </a14:m>
                <a:endParaRPr lang="en-US" sz="2400" b="0" dirty="0"/>
              </a:p>
              <a:p>
                <a:pPr marL="12001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dirty="0" err="1">
                    <a:latin typeface="Courier" charset="0"/>
                    <a:ea typeface="Courier" charset="0"/>
                    <a:cs typeface="Courier" charset="0"/>
                  </a:rPr>
                  <a:t>determin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ă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ourier" charset="0"/>
                        <a:cs typeface="Courier" charset="0"/>
                      </a:rPr>
                      <m:t>𝛽</m:t>
                    </m:r>
                  </m:oMath>
                </a14:m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care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minimize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ază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𝑟𝑖𝑑𝑔𝑒</m:t>
                        </m:r>
                      </m:sub>
                    </m:sSub>
                  </m:oMath>
                </a14:m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𝑅𝑖𝑑𝑔𝑒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𝜆</m:t>
                        </m:r>
                      </m:e>
                    </m:d>
                    <m:r>
                      <a:rPr lang="en-US" b="0" i="0" dirty="0" smtClean="0">
                        <a:latin typeface="Cambria Math" charset="0"/>
                        <a:ea typeface="Courier" charset="0"/>
                        <a:cs typeface="Courier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ourier" charset="0"/>
                                    <a:cs typeface="Courier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charset="0"/>
                                    <a:ea typeface="Courier" charset="0"/>
                                    <a:cs typeface="Courier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X</m:t>
                            </m:r>
                            <m:r>
                              <a:rPr lang="en-US" b="0" i="0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  <m:r>
                              <a:rPr lang="en-US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charset="0"/>
                        <a:ea typeface="Courier" charset="0"/>
                        <a:cs typeface="Courier" charset="0"/>
                      </a:rPr>
                      <m:t>𝑌</m:t>
                    </m:r>
                  </m:oMath>
                </a14:m>
                <a:r>
                  <a:rPr lang="en-US" dirty="0"/>
                  <a:t> , </a:t>
                </a:r>
                <a:r>
                  <a:rPr lang="ro-RO" dirty="0">
                    <a:latin typeface="Courier" charset="0"/>
                    <a:ea typeface="Courier" charset="0"/>
                    <a:cs typeface="Courier" charset="0"/>
                  </a:rPr>
                  <a:t>folosind datele de antrenamen</a:t>
                </a:r>
                <a:r>
                  <a:rPr lang="en-US" dirty="0">
                    <a:latin typeface="Courier" charset="0"/>
                    <a:ea typeface="Courier" charset="0"/>
                    <a:cs typeface="Courier" charset="0"/>
                  </a:rPr>
                  <a:t>t</a:t>
                </a:r>
                <a:r>
                  <a:rPr lang="en-US" dirty="0"/>
                  <a:t>.</a:t>
                </a:r>
              </a:p>
              <a:p>
                <a:pPr marL="12001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Reține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𝑀𝑆𝐸</m:t>
                        </m:r>
                      </m:sub>
                      <m:sup/>
                    </m:sSub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folosind datele de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:r>
                  <a:rPr lang="en-US" sz="2400" dirty="0" err="1">
                    <a:latin typeface="Courier" charset="0"/>
                    <a:ea typeface="Courier" charset="0"/>
                    <a:cs typeface="Courier" charset="0"/>
                  </a:rPr>
                  <a:t>valida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.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select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area</a:t>
                </a:r>
                <a:r>
                  <a:rPr lang="en-US" sz="2400" dirty="0"/>
                  <a:t> </a:t>
                </a:r>
                <a:r>
                  <a:rPr lang="ro-RO" sz="2400" dirty="0"/>
                  <a:t> lui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charset="0"/>
                      </a:rPr>
                      <m:t>𝜆</m:t>
                    </m:r>
                    <m:r>
                      <a:rPr lang="en-US" sz="2400" i="1" dirty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ro-RO" sz="2400" dirty="0"/>
                  <a:t>care minimizează pierderea pe</a:t>
                </a:r>
                <a:r>
                  <a:rPr lang="en-US" sz="2400" dirty="0"/>
                  <a:t> </a:t>
                </a:r>
                <a:r>
                  <a:rPr lang="ro-RO" sz="2400" dirty="0"/>
                  <a:t>setul de validare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               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𝑟𝑖𝑑𝑔𝑒</m:t>
                        </m:r>
                      </m:sub>
                    </m:sSub>
                    <m:r>
                      <a:rPr lang="en-US" sz="2400" b="0" i="0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charset="0"/>
                          </a:rPr>
                          <m:t>argmin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𝜆</m:t>
                        </m:r>
                      </m:sub>
                    </m:sSub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𝑀𝑆𝐸</m:t>
                        </m:r>
                      </m:sub>
                      <m:sup/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𝜆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Re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antrenarea modelului folosind reuniunea dintre setul de antrenament și validare</a:t>
                </a:r>
                <a:r>
                  <a:rPr lang="en-US" sz="2400" dirty="0"/>
                  <a:t>, 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{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𝑡𝑟𝑎𝑖𝑛</m:t>
                        </m:r>
                      </m:sub>
                    </m:sSub>
                    <m:r>
                      <a:rPr lang="en-US" sz="2400" i="1">
                        <a:latin typeface="Cambria Math" charset="0"/>
                        <a:ea typeface="Courier" charset="0"/>
                        <a:cs typeface="Courier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𝑣𝑎𝑙𝑖𝑑𝑎𝑡𝑖𝑜𝑛</m:t>
                        </m:r>
                      </m:sub>
                    </m:sSub>
                  </m:oMath>
                </a14:m>
                <a:r>
                  <a:rPr lang="en-US" sz="2400" dirty="0"/>
                  <a:t> },  </a:t>
                </a:r>
                <a:r>
                  <a:rPr lang="ro-RO" sz="2400" dirty="0"/>
                  <a:t>obținem</a:t>
                </a:r>
                <a14:m>
                  <m:oMath xmlns:m="http://schemas.openxmlformats.org/officeDocument/2006/math">
                    <m:r>
                      <a:rPr lang="ro-RO" sz="2400" b="0" i="0" dirty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sz="24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𝑟𝑖𝑑𝑔𝑒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𝑟𝑖𝑑𝑔𝑒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raportăm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MSE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sau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R</a:t>
                </a:r>
                <a:r>
                  <a:rPr lang="en-US" sz="2400" baseline="30000" dirty="0">
                    <a:latin typeface="Courier" charset="0"/>
                    <a:ea typeface="Courier" charset="0"/>
                    <a:cs typeface="Courier" charset="0"/>
                  </a:rPr>
                  <a:t>2 </a:t>
                </a:r>
                <a:r>
                  <a:rPr lang="ro-RO" sz="2400" dirty="0">
                    <a:latin typeface="Courier" charset="0"/>
                    <a:ea typeface="Courier" charset="0"/>
                    <a:cs typeface="Courier" charset="0"/>
                  </a:rPr>
                  <a:t>pe</a:t>
                </a:r>
                <a:r>
                  <a:rPr lang="en-US" sz="2400" dirty="0">
                    <a:latin typeface="Courier" charset="0"/>
                    <a:ea typeface="Courier" charset="0"/>
                    <a:cs typeface="Courier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𝑋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𝑌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𝑡𝑒𝑠𝑡</m:t>
                        </m:r>
                      </m:sub>
                    </m:sSub>
                    <m:r>
                      <a:rPr lang="ro-RO" sz="24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folosind</m:t>
                    </m:r>
                    <m:r>
                      <a:rPr lang="ro-RO" sz="2400" b="0" i="0" smtClean="0">
                        <a:latin typeface="Cambria Math" panose="02040503050406030204" pitchFamily="18" charset="0"/>
                        <a:ea typeface="Courier" charset="0"/>
                        <a:cs typeface="Courier" charset="0"/>
                      </a:rPr>
                      <m:t> 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𝑟</m:t>
                        </m:r>
                        <m:r>
                          <a:rPr lang="en-US" sz="2400" i="1" dirty="0">
                            <a:latin typeface="Cambria Math" charset="0"/>
                            <a:ea typeface="Courier" charset="0"/>
                            <a:cs typeface="Courier" charset="0"/>
                          </a:rPr>
                          <m:t>𝑖𝑑𝑔𝑒</m:t>
                        </m:r>
                      </m:sub>
                    </m:sSub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ourier" charset="0"/>
                            <a:cs typeface="Courier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ourier" charset="0"/>
                                <a:cs typeface="Courier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𝑟</m:t>
                            </m:r>
                            <m:r>
                              <a:rPr lang="en-US" sz="2400" i="1" dirty="0">
                                <a:latin typeface="Cambria Math" charset="0"/>
                                <a:ea typeface="Courier" charset="0"/>
                                <a:cs typeface="Courier" charset="0"/>
                              </a:rPr>
                              <m:t>𝑖𝑑𝑔𝑒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>
                  <a:latin typeface="Courier" charset="0"/>
                  <a:ea typeface="Courier" charset="0"/>
                  <a:cs typeface="Courier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6" t="-2017" b="-163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GEC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EE3F4256-57BA-4E45-A16C-7FF03EA64AD5}" vid="{8FDA9A5F-BD2F-2E4D-B6B1-DDFA3E9D3C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23469</TotalTime>
  <Words>2826</Words>
  <Application>Microsoft Office PowerPoint</Application>
  <PresentationFormat>Widescreen</PresentationFormat>
  <Paragraphs>521</Paragraphs>
  <Slides>68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Calibri</vt:lpstr>
      <vt:lpstr>Cambria Math</vt:lpstr>
      <vt:lpstr>Courier</vt:lpstr>
      <vt:lpstr>Helvetica Neue</vt:lpstr>
      <vt:lpstr>Karla</vt:lpstr>
      <vt:lpstr>STIXGeneral</vt:lpstr>
      <vt:lpstr>Symbol</vt:lpstr>
      <vt:lpstr>GEC_template</vt:lpstr>
      <vt:lpstr>Curs 7 - Regularizare în Regresie Liniară </vt:lpstr>
      <vt:lpstr>Planul Cursului</vt:lpstr>
      <vt:lpstr>Overfitting/Supraadaptare </vt:lpstr>
      <vt:lpstr>Overfitting</vt:lpstr>
      <vt:lpstr>Overfitting</vt:lpstr>
      <vt:lpstr>Overfitting</vt:lpstr>
      <vt:lpstr>Overfitting</vt:lpstr>
      <vt:lpstr>Overfitting</vt:lpstr>
      <vt:lpstr>Overfitting</vt:lpstr>
      <vt:lpstr>Validation</vt:lpstr>
      <vt:lpstr>Antrenare-Validare-Testare</vt:lpstr>
      <vt:lpstr>SELEcetarea modelului</vt:lpstr>
      <vt:lpstr>Selectarea Modelului</vt:lpstr>
      <vt:lpstr>Selectarea Modelului</vt:lpstr>
      <vt:lpstr>Selectarea Modelului</vt:lpstr>
      <vt:lpstr>Alegere pas cu pas a predictorilor și validare îmcrucișată </vt:lpstr>
      <vt:lpstr>Alegere pas cu pas a predictorilor: metoda selecției directe Forward Seletion</vt:lpstr>
      <vt:lpstr>Alegere pas cu pas a predictorilor: Complexitate de Calcul </vt:lpstr>
      <vt:lpstr>Cross Validation/ Validare Încrucișată</vt:lpstr>
      <vt:lpstr>Cross Validation/Validare Încrucișată</vt:lpstr>
      <vt:lpstr>Cross Cross Validation/Validare Încrucișată</vt:lpstr>
      <vt:lpstr>Cross Validation/Validare Încrucișată Validation</vt:lpstr>
      <vt:lpstr>Cross ValidCross Validation/Validare Încrucișatăation</vt:lpstr>
      <vt:lpstr>Validare</vt:lpstr>
      <vt:lpstr>Cross Validation/Validare Încrucișată: Motivație </vt:lpstr>
      <vt:lpstr>Cross Validation/Validare Încrucișată</vt:lpstr>
      <vt:lpstr>K-Fold Cross Validation/Validare Încrucișată de K ori </vt:lpstr>
      <vt:lpstr>Selectarea Predictorilor: Cross Validation/Validare Încrucișată</vt:lpstr>
      <vt:lpstr>Din nou kNN</vt:lpstr>
      <vt:lpstr>Din nou kNN</vt:lpstr>
      <vt:lpstr>Spargere CV – K = 100 </vt:lpstr>
      <vt:lpstr>Bias vs Varianță</vt:lpstr>
      <vt:lpstr>Bias vs Variance (sub-ajustare vs supra-ajustare)</vt:lpstr>
      <vt:lpstr>PowerPoint Presentation</vt:lpstr>
      <vt:lpstr>Tratament Bias/sub-ajustare</vt:lpstr>
      <vt:lpstr>   Tratament Variance/supra-ajustare/supra-adaptare</vt:lpstr>
      <vt:lpstr>Bias vs Varianță</vt:lpstr>
      <vt:lpstr>Bias vs Varianță</vt:lpstr>
      <vt:lpstr>Bias vs Variance</vt:lpstr>
      <vt:lpstr>Modele liniare: 20 de înregistrări, 2000 simulări</vt:lpstr>
      <vt:lpstr>Bias vs Variance</vt:lpstr>
      <vt:lpstr>Bias vs Variance</vt:lpstr>
      <vt:lpstr>Bias vs Variance</vt:lpstr>
      <vt:lpstr>Polinom grad 10 : 20 de înregistrări, 2000 simulări</vt:lpstr>
      <vt:lpstr>Bias vs Variance</vt:lpstr>
      <vt:lpstr>Bias vs Variance</vt:lpstr>
      <vt:lpstr>Bias vs Varianță - concluzie</vt:lpstr>
      <vt:lpstr>RegularizaRE: LASSO și Ridge</vt:lpstr>
      <vt:lpstr>Regularizare: O imagine de ansamblu</vt:lpstr>
      <vt:lpstr>Regresie LASSO</vt:lpstr>
      <vt:lpstr>Regresie LASSO</vt:lpstr>
      <vt:lpstr>Regresie Ridge</vt:lpstr>
      <vt:lpstr>Ridge Regression</vt:lpstr>
      <vt:lpstr>Alegerea lui l</vt:lpstr>
      <vt:lpstr>Geometria regularizării (LASSO)</vt:lpstr>
      <vt:lpstr>Geometria regularizării(Ridge)</vt:lpstr>
      <vt:lpstr>Ridge – Complexitate Computațională</vt:lpstr>
      <vt:lpstr>Ridge regularization with validation only: step by step </vt:lpstr>
      <vt:lpstr>Regularizare Ridge cu CV(Valid. Încr.): pas cu pas  </vt:lpstr>
      <vt:lpstr>Alegerea predictorilor prin regularizare</vt:lpstr>
      <vt:lpstr>PowerPoint Presentation</vt:lpstr>
      <vt:lpstr>APPENDIX</vt:lpstr>
      <vt:lpstr>The Geometry of Regularization (LASSO)</vt:lpstr>
      <vt:lpstr>The Geometry of Regularization (Ridge)</vt:lpstr>
      <vt:lpstr>The Geometry of Regularization</vt:lpstr>
      <vt:lpstr>Regularizare LASSO doar pe validare: pas cu pas </vt:lpstr>
      <vt:lpstr>Regularizare Ridge cu CV(Valid. Încr.): pas cu pas </vt:lpstr>
      <vt:lpstr>Regularizare ridge doar pe validare: pas cu pas </vt:lpstr>
    </vt:vector>
  </TitlesOfParts>
  <Company>harvard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pavlos protopapas</dc:creator>
  <cp:lastModifiedBy>Stefan Bildea</cp:lastModifiedBy>
  <cp:revision>1166</cp:revision>
  <cp:lastPrinted>2019-09-18T17:12:26Z</cp:lastPrinted>
  <dcterms:created xsi:type="dcterms:W3CDTF">2018-04-18T18:49:01Z</dcterms:created>
  <dcterms:modified xsi:type="dcterms:W3CDTF">2025-12-03T13:55:44Z</dcterms:modified>
</cp:coreProperties>
</file>