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59" r:id="rId2"/>
  </p:sldMasterIdLst>
  <p:notesMasterIdLst>
    <p:notesMasterId r:id="rId23"/>
  </p:notesMasterIdLst>
  <p:sldIdLst>
    <p:sldId id="256" r:id="rId3"/>
    <p:sldId id="258" r:id="rId4"/>
    <p:sldId id="279" r:id="rId5"/>
    <p:sldId id="273" r:id="rId6"/>
    <p:sldId id="274" r:id="rId7"/>
    <p:sldId id="275" r:id="rId8"/>
    <p:sldId id="276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</p:sldIdLst>
  <p:sldSz cx="9144000" cy="5143500" type="screen16x9"/>
  <p:notesSz cx="6858000" cy="9144000"/>
  <p:embeddedFontLst>
    <p:embeddedFont>
      <p:font typeface="Economica" panose="020B0604020202020204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9F0A4-2079-4AE0-A0D4-B6B2EC960169}" v="12" dt="2025-10-19T15:41:41.407"/>
  </p1510:revLst>
</p1510:revInfo>
</file>

<file path=ppt/tableStyles.xml><?xml version="1.0" encoding="utf-8"?>
<a:tblStyleLst xmlns:a="http://schemas.openxmlformats.org/drawingml/2006/main" def="{19765D9A-5B29-4FE0-BD4B-011D1141B641}">
  <a:tblStyle styleId="{19765D9A-5B29-4FE0-BD4B-011D1141B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16" autoAdjust="0"/>
  </p:normalViewPr>
  <p:slideViewPr>
    <p:cSldViewPr snapToGrid="0">
      <p:cViewPr>
        <p:scale>
          <a:sx n="80" d="100"/>
          <a:sy n="80" d="100"/>
        </p:scale>
        <p:origin x="880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83BE690E-A8E1-4F39-93E0-6C6F611EAF9A}"/>
    <pc:docChg chg="undo custSel addSld delSld modSld">
      <pc:chgData name="Stefan Bildea" userId="14ee9846484ecb5c" providerId="LiveId" clId="{83BE690E-A8E1-4F39-93E0-6C6F611EAF9A}" dt="2021-10-20T06:41:23.697" v="561" actId="47"/>
      <pc:docMkLst>
        <pc:docMk/>
      </pc:docMkLst>
      <pc:sldChg chg="modSp mod modClrScheme chgLayout">
        <pc:chgData name="Stefan Bildea" userId="14ee9846484ecb5c" providerId="LiveId" clId="{83BE690E-A8E1-4F39-93E0-6C6F611EAF9A}" dt="2021-10-19T15:46:42.525" v="52" actId="20577"/>
        <pc:sldMkLst>
          <pc:docMk/>
          <pc:sldMk cId="0" sldId="256"/>
        </pc:sldMkLst>
      </pc:sldChg>
      <pc:sldChg chg="addSp delSp modSp del mod modClrScheme chgLayout">
        <pc:chgData name="Stefan Bildea" userId="14ee9846484ecb5c" providerId="LiveId" clId="{83BE690E-A8E1-4F39-93E0-6C6F611EAF9A}" dt="2021-10-19T16:13:13.958" v="471" actId="47"/>
        <pc:sldMkLst>
          <pc:docMk/>
          <pc:sldMk cId="0" sldId="257"/>
        </pc:sldMkLst>
      </pc:sldChg>
      <pc:sldChg chg="addSp delSp modSp mod modClrScheme chgLayout">
        <pc:chgData name="Stefan Bildea" userId="14ee9846484ecb5c" providerId="LiveId" clId="{83BE690E-A8E1-4F39-93E0-6C6F611EAF9A}" dt="2021-10-19T16:13:23.787" v="473" actId="20577"/>
        <pc:sldMkLst>
          <pc:docMk/>
          <pc:sldMk cId="0" sldId="258"/>
        </pc:sldMkLst>
      </pc:sldChg>
      <pc:sldChg chg="addSp modSp mod modClrScheme chgLayout">
        <pc:chgData name="Stefan Bildea" userId="14ee9846484ecb5c" providerId="LiveId" clId="{83BE690E-A8E1-4F39-93E0-6C6F611EAF9A}" dt="2021-10-19T15:49:50.268" v="82" actId="700"/>
        <pc:sldMkLst>
          <pc:docMk/>
          <pc:sldMk cId="0" sldId="259"/>
        </pc:sldMkLst>
      </pc:sldChg>
      <pc:sldChg chg="modSp mod modClrScheme chgLayout">
        <pc:chgData name="Stefan Bildea" userId="14ee9846484ecb5c" providerId="LiveId" clId="{83BE690E-A8E1-4F39-93E0-6C6F611EAF9A}" dt="2021-10-19T15:50:09.124" v="83" actId="700"/>
        <pc:sldMkLst>
          <pc:docMk/>
          <pc:sldMk cId="0" sldId="260"/>
        </pc:sldMkLst>
      </pc:sldChg>
      <pc:sldChg chg="modSp mod modClrScheme chgLayout">
        <pc:chgData name="Stefan Bildea" userId="14ee9846484ecb5c" providerId="LiveId" clId="{83BE690E-A8E1-4F39-93E0-6C6F611EAF9A}" dt="2021-10-19T15:50:33.948" v="84" actId="700"/>
        <pc:sldMkLst>
          <pc:docMk/>
          <pc:sldMk cId="0" sldId="261"/>
        </pc:sldMkLst>
      </pc:sldChg>
      <pc:sldChg chg="modSp mod modClrScheme chgLayout">
        <pc:chgData name="Stefan Bildea" userId="14ee9846484ecb5c" providerId="LiveId" clId="{83BE690E-A8E1-4F39-93E0-6C6F611EAF9A}" dt="2021-10-19T15:50:47.396" v="85" actId="700"/>
        <pc:sldMkLst>
          <pc:docMk/>
          <pc:sldMk cId="0" sldId="262"/>
        </pc:sldMkLst>
      </pc:sldChg>
      <pc:sldChg chg="modSp mod modClrScheme chgLayout">
        <pc:chgData name="Stefan Bildea" userId="14ee9846484ecb5c" providerId="LiveId" clId="{83BE690E-A8E1-4F39-93E0-6C6F611EAF9A}" dt="2021-10-19T15:51:21.774" v="87" actId="14100"/>
        <pc:sldMkLst>
          <pc:docMk/>
          <pc:sldMk cId="0" sldId="263"/>
        </pc:sldMkLst>
      </pc:sldChg>
      <pc:sldChg chg="modSp mod setBg modClrScheme chgLayout">
        <pc:chgData name="Stefan Bildea" userId="14ee9846484ecb5c" providerId="LiveId" clId="{83BE690E-A8E1-4F39-93E0-6C6F611EAF9A}" dt="2021-10-19T15:55:37.930" v="133" actId="1076"/>
        <pc:sldMkLst>
          <pc:docMk/>
          <pc:sldMk cId="0" sldId="264"/>
        </pc:sldMkLst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5"/>
        </pc:sldMkLst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6"/>
        </pc:sldMkLst>
      </pc:sldChg>
      <pc:sldChg chg="add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7"/>
        </pc:sldMkLst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8"/>
        </pc:sldMkLst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9"/>
        </pc:sldMkLst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70"/>
        </pc:sldMkLst>
      </pc:sldChg>
      <pc:sldChg chg="addSp modSp mod modClrScheme chgLayout">
        <pc:chgData name="Stefan Bildea" userId="14ee9846484ecb5c" providerId="LiveId" clId="{83BE690E-A8E1-4F39-93E0-6C6F611EAF9A}" dt="2021-10-19T15:52:16.267" v="91" actId="6549"/>
        <pc:sldMkLst>
          <pc:docMk/>
          <pc:sldMk cId="0" sldId="271"/>
        </pc:sldMkLst>
      </pc:sldChg>
      <pc:sldChg chg="addSp delSp modSp mod modClrScheme chgLayout">
        <pc:chgData name="Stefan Bildea" userId="14ee9846484ecb5c" providerId="LiveId" clId="{83BE690E-A8E1-4F39-93E0-6C6F611EAF9A}" dt="2021-10-19T15:52:20.222" v="92" actId="6549"/>
        <pc:sldMkLst>
          <pc:docMk/>
          <pc:sldMk cId="0" sldId="272"/>
        </pc:sldMkLst>
      </pc:sldChg>
      <pc:sldChg chg="addSp delSp modSp mod modClrScheme chgLayout">
        <pc:chgData name="Stefan Bildea" userId="14ee9846484ecb5c" providerId="LiveId" clId="{83BE690E-A8E1-4F39-93E0-6C6F611EAF9A}" dt="2021-10-19T16:17:52.590" v="550" actId="1076"/>
        <pc:sldMkLst>
          <pc:docMk/>
          <pc:sldMk cId="0" sldId="273"/>
        </pc:sldMkLst>
      </pc:sldChg>
      <pc:sldChg chg="modSp mod modClrScheme chgLayout">
        <pc:chgData name="Stefan Bildea" userId="14ee9846484ecb5c" providerId="LiveId" clId="{83BE690E-A8E1-4F39-93E0-6C6F611EAF9A}" dt="2021-10-19T16:18:18.792" v="552" actId="20577"/>
        <pc:sldMkLst>
          <pc:docMk/>
          <pc:sldMk cId="0" sldId="274"/>
        </pc:sldMkLst>
      </pc:sldChg>
      <pc:sldChg chg="modSp mod modClrScheme chgLayout">
        <pc:chgData name="Stefan Bildea" userId="14ee9846484ecb5c" providerId="LiveId" clId="{83BE690E-A8E1-4F39-93E0-6C6F611EAF9A}" dt="2021-10-19T16:14:36.161" v="477"/>
        <pc:sldMkLst>
          <pc:docMk/>
          <pc:sldMk cId="0" sldId="275"/>
        </pc:sldMkLst>
      </pc:sldChg>
      <pc:sldChg chg="modSp mod modClrScheme chgLayout">
        <pc:chgData name="Stefan Bildea" userId="14ee9846484ecb5c" providerId="LiveId" clId="{83BE690E-A8E1-4F39-93E0-6C6F611EAF9A}" dt="2021-10-19T16:16:48.211" v="512" actId="14100"/>
        <pc:sldMkLst>
          <pc:docMk/>
          <pc:sldMk cId="0" sldId="276"/>
        </pc:sldMkLst>
      </pc:sldChg>
      <pc:sldChg chg="modSp del mod modClrScheme chgLayout">
        <pc:chgData name="Stefan Bildea" userId="14ee9846484ecb5c" providerId="LiveId" clId="{83BE690E-A8E1-4F39-93E0-6C6F611EAF9A}" dt="2021-10-19T16:15:14.389" v="483" actId="47"/>
        <pc:sldMkLst>
          <pc:docMk/>
          <pc:sldMk cId="0" sldId="277"/>
        </pc:sldMkLst>
      </pc:sldChg>
      <pc:sldChg chg="modSp del mod modClrScheme chgLayout">
        <pc:chgData name="Stefan Bildea" userId="14ee9846484ecb5c" providerId="LiveId" clId="{83BE690E-A8E1-4F39-93E0-6C6F611EAF9A}" dt="2021-10-19T16:15:16.019" v="484" actId="47"/>
        <pc:sldMkLst>
          <pc:docMk/>
          <pc:sldMk cId="0" sldId="278"/>
        </pc:sldMkLst>
      </pc:sldChg>
      <pc:sldChg chg="addSp modSp mod modClrScheme chgLayout">
        <pc:chgData name="Stefan Bildea" userId="14ee9846484ecb5c" providerId="LiveId" clId="{83BE690E-A8E1-4F39-93E0-6C6F611EAF9A}" dt="2021-10-19T15:58:05.324" v="143" actId="20577"/>
        <pc:sldMkLst>
          <pc:docMk/>
          <pc:sldMk cId="0" sldId="279"/>
        </pc:sldMkLst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0"/>
        </pc:sldMkLst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1"/>
        </pc:sldMkLst>
      </pc:sldChg>
      <pc:sldChg chg="modSp mod modClrScheme chgLayout">
        <pc:chgData name="Stefan Bildea" userId="14ee9846484ecb5c" providerId="LiveId" clId="{83BE690E-A8E1-4F39-93E0-6C6F611EAF9A}" dt="2021-10-19T15:59:38.016" v="146" actId="732"/>
        <pc:sldMkLst>
          <pc:docMk/>
          <pc:sldMk cId="0" sldId="282"/>
        </pc:sldMkLst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3"/>
        </pc:sldMkLst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4"/>
        </pc:sldMkLst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5"/>
        </pc:sldMkLst>
      </pc:sldChg>
      <pc:sldChg chg="modSp mod modClrScheme chgLayout">
        <pc:chgData name="Stefan Bildea" userId="14ee9846484ecb5c" providerId="LiveId" clId="{83BE690E-A8E1-4F39-93E0-6C6F611EAF9A}" dt="2021-10-19T16:01:56.568" v="157" actId="20577"/>
        <pc:sldMkLst>
          <pc:docMk/>
          <pc:sldMk cId="0" sldId="286"/>
        </pc:sldMkLst>
      </pc:sldChg>
      <pc:sldChg chg="modSp mod modClrScheme chgLayout">
        <pc:chgData name="Stefan Bildea" userId="14ee9846484ecb5c" providerId="LiveId" clId="{83BE690E-A8E1-4F39-93E0-6C6F611EAF9A}" dt="2021-10-19T16:02:30.568" v="164" actId="20577"/>
        <pc:sldMkLst>
          <pc:docMk/>
          <pc:sldMk cId="0" sldId="287"/>
        </pc:sldMkLst>
      </pc:sldChg>
      <pc:sldChg chg="modSp mod modClrScheme chgLayout">
        <pc:chgData name="Stefan Bildea" userId="14ee9846484ecb5c" providerId="LiveId" clId="{83BE690E-A8E1-4F39-93E0-6C6F611EAF9A}" dt="2021-10-19T16:09:04.400" v="432" actId="20577"/>
        <pc:sldMkLst>
          <pc:docMk/>
          <pc:sldMk cId="0" sldId="288"/>
        </pc:sldMkLst>
      </pc:sldChg>
      <pc:sldChg chg="modSp mod modClrScheme chgLayout">
        <pc:chgData name="Stefan Bildea" userId="14ee9846484ecb5c" providerId="LiveId" clId="{83BE690E-A8E1-4F39-93E0-6C6F611EAF9A}" dt="2021-10-19T16:10:26.315" v="457" actId="20577"/>
        <pc:sldMkLst>
          <pc:docMk/>
          <pc:sldMk cId="0" sldId="289"/>
        </pc:sldMkLst>
      </pc:sldChg>
      <pc:sldChg chg="addSp modSp mod modClrScheme chgLayout">
        <pc:chgData name="Stefan Bildea" userId="14ee9846484ecb5c" providerId="LiveId" clId="{83BE690E-A8E1-4F39-93E0-6C6F611EAF9A}" dt="2021-10-19T16:10:37.108" v="458" actId="700"/>
        <pc:sldMkLst>
          <pc:docMk/>
          <pc:sldMk cId="0" sldId="290"/>
        </pc:sldMkLst>
      </pc:sldChg>
      <pc:sldChg chg="modSp mod modClrScheme chgLayout">
        <pc:chgData name="Stefan Bildea" userId="14ee9846484ecb5c" providerId="LiveId" clId="{83BE690E-A8E1-4F39-93E0-6C6F611EAF9A}" dt="2021-10-19T16:11:46.887" v="470" actId="108"/>
        <pc:sldMkLst>
          <pc:docMk/>
          <pc:sldMk cId="0" sldId="292"/>
        </pc:sldMkLst>
      </pc:sldChg>
      <pc:sldChg chg="addSp delSp modSp new del mod">
        <pc:chgData name="Stefan Bildea" userId="14ee9846484ecb5c" providerId="LiveId" clId="{83BE690E-A8E1-4F39-93E0-6C6F611EAF9A}" dt="2021-10-20T06:41:23.697" v="561" actId="47"/>
        <pc:sldMkLst>
          <pc:docMk/>
          <pc:sldMk cId="3865377911" sldId="293"/>
        </pc:sldMkLst>
      </pc:sldChg>
    </pc:docChg>
  </pc:docChgLst>
  <pc:docChgLst>
    <pc:chgData name="Stefan Bildea" userId="14ee9846484ecb5c" providerId="LiveId" clId="{44190A50-DAC9-4FDC-BF86-75F4E4CD1A46}"/>
    <pc:docChg chg="undo custSel addSld delSld modSld">
      <pc:chgData name="Stefan Bildea" userId="14ee9846484ecb5c" providerId="LiveId" clId="{44190A50-DAC9-4FDC-BF86-75F4E4CD1A46}" dt="2025-10-19T15:51:49.228" v="204" actId="1076"/>
      <pc:docMkLst>
        <pc:docMk/>
      </pc:docMkLst>
      <pc:sldChg chg="modSp mod">
        <pc:chgData name="Stefan Bildea" userId="14ee9846484ecb5c" providerId="LiveId" clId="{44190A50-DAC9-4FDC-BF86-75F4E4CD1A46}" dt="2025-10-19T09:29:38.470" v="0" actId="6549"/>
        <pc:sldMkLst>
          <pc:docMk/>
          <pc:sldMk cId="0" sldId="256"/>
        </pc:sldMkLst>
        <pc:spChg chg="mod">
          <ac:chgData name="Stefan Bildea" userId="14ee9846484ecb5c" providerId="LiveId" clId="{44190A50-DAC9-4FDC-BF86-75F4E4CD1A46}" dt="2025-10-19T09:29:38.470" v="0" actId="6549"/>
          <ac:spMkLst>
            <pc:docMk/>
            <pc:sldMk cId="0" sldId="256"/>
            <ac:spMk id="63" creationId="{00000000-0000-0000-0000-000000000000}"/>
          </ac:spMkLst>
        </pc:spChg>
      </pc:sldChg>
      <pc:sldChg chg="modSp mod">
        <pc:chgData name="Stefan Bildea" userId="14ee9846484ecb5c" providerId="LiveId" clId="{44190A50-DAC9-4FDC-BF86-75F4E4CD1A46}" dt="2025-10-19T13:22:41.288" v="46" actId="14734"/>
        <pc:sldMkLst>
          <pc:docMk/>
          <pc:sldMk cId="0" sldId="274"/>
        </pc:sldMkLst>
        <pc:graphicFrameChg chg="modGraphic">
          <ac:chgData name="Stefan Bildea" userId="14ee9846484ecb5c" providerId="LiveId" clId="{44190A50-DAC9-4FDC-BF86-75F4E4CD1A46}" dt="2025-10-19T13:22:41.288" v="46" actId="14734"/>
          <ac:graphicFrameMkLst>
            <pc:docMk/>
            <pc:sldMk cId="0" sldId="274"/>
            <ac:graphicFrameMk id="197" creationId="{00000000-0000-0000-0000-000000000000}"/>
          </ac:graphicFrameMkLst>
        </pc:graphicFrameChg>
      </pc:sldChg>
      <pc:sldChg chg="modSp mod">
        <pc:chgData name="Stefan Bildea" userId="14ee9846484ecb5c" providerId="LiveId" clId="{44190A50-DAC9-4FDC-BF86-75F4E4CD1A46}" dt="2025-10-19T09:30:45.329" v="37" actId="20577"/>
        <pc:sldMkLst>
          <pc:docMk/>
          <pc:sldMk cId="743876823" sldId="279"/>
        </pc:sldMkLst>
        <pc:spChg chg="mod">
          <ac:chgData name="Stefan Bildea" userId="14ee9846484ecb5c" providerId="LiveId" clId="{44190A50-DAC9-4FDC-BF86-75F4E4CD1A46}" dt="2025-10-19T09:30:45.329" v="37" actId="20577"/>
          <ac:spMkLst>
            <pc:docMk/>
            <pc:sldMk cId="743876823" sldId="279"/>
            <ac:spMk id="2" creationId="{584DA310-0EF6-439D-AA41-61F34B161C81}"/>
          </ac:spMkLst>
        </pc:spChg>
      </pc:sldChg>
      <pc:sldChg chg="mod modShow">
        <pc:chgData name="Stefan Bildea" userId="14ee9846484ecb5c" providerId="LiveId" clId="{44190A50-DAC9-4FDC-BF86-75F4E4CD1A46}" dt="2025-10-19T09:54:32.405" v="41" actId="729"/>
        <pc:sldMkLst>
          <pc:docMk/>
          <pc:sldMk cId="0" sldId="280"/>
        </pc:sldMkLst>
      </pc:sldChg>
      <pc:sldChg chg="addSp delSp modSp mod">
        <pc:chgData name="Stefan Bildea" userId="14ee9846484ecb5c" providerId="LiveId" clId="{44190A50-DAC9-4FDC-BF86-75F4E4CD1A46}" dt="2025-10-19T15:24:51.773" v="99" actId="207"/>
        <pc:sldMkLst>
          <pc:docMk/>
          <pc:sldMk cId="0" sldId="281"/>
        </pc:sldMkLst>
        <pc:spChg chg="add mod">
          <ac:chgData name="Stefan Bildea" userId="14ee9846484ecb5c" providerId="LiveId" clId="{44190A50-DAC9-4FDC-BF86-75F4E4CD1A46}" dt="2025-10-19T15:24:29.730" v="95"/>
          <ac:spMkLst>
            <pc:docMk/>
            <pc:sldMk cId="0" sldId="281"/>
            <ac:spMk id="4" creationId="{F83DFEF1-9706-51D8-6A64-E4D55322F188}"/>
          </ac:spMkLst>
        </pc:spChg>
        <pc:spChg chg="add mod">
          <ac:chgData name="Stefan Bildea" userId="14ee9846484ecb5c" providerId="LiveId" clId="{44190A50-DAC9-4FDC-BF86-75F4E4CD1A46}" dt="2025-10-19T15:24:29.730" v="95"/>
          <ac:spMkLst>
            <pc:docMk/>
            <pc:sldMk cId="0" sldId="281"/>
            <ac:spMk id="6" creationId="{070A80D5-7849-A14C-607C-407772944B87}"/>
          </ac:spMkLst>
        </pc:spChg>
        <pc:spChg chg="mod">
          <ac:chgData name="Stefan Bildea" userId="14ee9846484ecb5c" providerId="LiveId" clId="{44190A50-DAC9-4FDC-BF86-75F4E4CD1A46}" dt="2025-10-19T15:22:10.573" v="91" actId="14100"/>
          <ac:spMkLst>
            <pc:docMk/>
            <pc:sldMk cId="0" sldId="281"/>
            <ac:spMk id="256" creationId="{00000000-0000-0000-0000-000000000000}"/>
          </ac:spMkLst>
        </pc:spChg>
        <pc:spChg chg="mod">
          <ac:chgData name="Stefan Bildea" userId="14ee9846484ecb5c" providerId="LiveId" clId="{44190A50-DAC9-4FDC-BF86-75F4E4CD1A46}" dt="2025-10-19T15:24:51.773" v="99" actId="207"/>
          <ac:spMkLst>
            <pc:docMk/>
            <pc:sldMk cId="0" sldId="281"/>
            <ac:spMk id="258" creationId="{00000000-0000-0000-0000-000000000000}"/>
          </ac:spMkLst>
        </pc:spChg>
        <pc:picChg chg="add mod">
          <ac:chgData name="Stefan Bildea" userId="14ee9846484ecb5c" providerId="LiveId" clId="{44190A50-DAC9-4FDC-BF86-75F4E4CD1A46}" dt="2025-10-19T15:24:29.730" v="95"/>
          <ac:picMkLst>
            <pc:docMk/>
            <pc:sldMk cId="0" sldId="281"/>
            <ac:picMk id="2" creationId="{F7C7ACFD-19A2-1F88-380C-F6B5D7CCDB0A}"/>
          </ac:picMkLst>
        </pc:picChg>
        <pc:picChg chg="add mod">
          <ac:chgData name="Stefan Bildea" userId="14ee9846484ecb5c" providerId="LiveId" clId="{44190A50-DAC9-4FDC-BF86-75F4E4CD1A46}" dt="2025-10-19T15:24:29.730" v="95"/>
          <ac:picMkLst>
            <pc:docMk/>
            <pc:sldMk cId="0" sldId="281"/>
            <ac:picMk id="3" creationId="{D5C5B38E-309B-B90A-2AE2-CBA863509291}"/>
          </ac:picMkLst>
        </pc:picChg>
        <pc:picChg chg="add del mod">
          <ac:chgData name="Stefan Bildea" userId="14ee9846484ecb5c" providerId="LiveId" clId="{44190A50-DAC9-4FDC-BF86-75F4E4CD1A46}" dt="2025-10-19T15:24:43.888" v="98" actId="478"/>
          <ac:picMkLst>
            <pc:docMk/>
            <pc:sldMk cId="0" sldId="281"/>
            <ac:picMk id="7" creationId="{28990AA8-4DD4-C5C2-EC63-BD80DC670E52}"/>
          </ac:picMkLst>
        </pc:picChg>
        <pc:picChg chg="mod ord">
          <ac:chgData name="Stefan Bildea" userId="14ee9846484ecb5c" providerId="LiveId" clId="{44190A50-DAC9-4FDC-BF86-75F4E4CD1A46}" dt="2025-10-19T15:22:10.573" v="91" actId="14100"/>
          <ac:picMkLst>
            <pc:docMk/>
            <pc:sldMk cId="0" sldId="281"/>
            <ac:picMk id="254" creationId="{00000000-0000-0000-0000-000000000000}"/>
          </ac:picMkLst>
        </pc:picChg>
        <pc:picChg chg="mod">
          <ac:chgData name="Stefan Bildea" userId="14ee9846484ecb5c" providerId="LiveId" clId="{44190A50-DAC9-4FDC-BF86-75F4E4CD1A46}" dt="2025-10-19T15:24:07.938" v="94" actId="14100"/>
          <ac:picMkLst>
            <pc:docMk/>
            <pc:sldMk cId="0" sldId="281"/>
            <ac:picMk id="255" creationId="{00000000-0000-0000-0000-000000000000}"/>
          </ac:picMkLst>
        </pc:picChg>
        <pc:cxnChg chg="add mod">
          <ac:chgData name="Stefan Bildea" userId="14ee9846484ecb5c" providerId="LiveId" clId="{44190A50-DAC9-4FDC-BF86-75F4E4CD1A46}" dt="2025-10-19T15:24:29.730" v="95"/>
          <ac:cxnSpMkLst>
            <pc:docMk/>
            <pc:sldMk cId="0" sldId="281"/>
            <ac:cxnSpMk id="5" creationId="{528BDBEC-6242-1111-8EFF-70635ECB6574}"/>
          </ac:cxnSpMkLst>
        </pc:cxnChg>
        <pc:cxnChg chg="mod">
          <ac:chgData name="Stefan Bildea" userId="14ee9846484ecb5c" providerId="LiveId" clId="{44190A50-DAC9-4FDC-BF86-75F4E4CD1A46}" dt="2025-10-19T15:22:10.573" v="91" actId="14100"/>
          <ac:cxnSpMkLst>
            <pc:docMk/>
            <pc:sldMk cId="0" sldId="281"/>
            <ac:cxnSpMk id="257" creationId="{00000000-0000-0000-0000-000000000000}"/>
          </ac:cxnSpMkLst>
        </pc:cxnChg>
      </pc:sldChg>
      <pc:sldChg chg="addSp modSp mod">
        <pc:chgData name="Stefan Bildea" userId="14ee9846484ecb5c" providerId="LiveId" clId="{44190A50-DAC9-4FDC-BF86-75F4E4CD1A46}" dt="2025-10-19T15:36:38.842" v="106" actId="14100"/>
        <pc:sldMkLst>
          <pc:docMk/>
          <pc:sldMk cId="0" sldId="282"/>
        </pc:sldMkLst>
        <pc:spChg chg="add mod ord">
          <ac:chgData name="Stefan Bildea" userId="14ee9846484ecb5c" providerId="LiveId" clId="{44190A50-DAC9-4FDC-BF86-75F4E4CD1A46}" dt="2025-10-19T15:36:38.842" v="106" actId="14100"/>
          <ac:spMkLst>
            <pc:docMk/>
            <pc:sldMk cId="0" sldId="282"/>
            <ac:spMk id="2" creationId="{9C0B430E-FBA8-CD0C-E83A-3C124FD3DE88}"/>
          </ac:spMkLst>
        </pc:spChg>
        <pc:spChg chg="mod">
          <ac:chgData name="Stefan Bildea" userId="14ee9846484ecb5c" providerId="LiveId" clId="{44190A50-DAC9-4FDC-BF86-75F4E4CD1A46}" dt="2025-10-19T15:36:32.492" v="105" actId="14100"/>
          <ac:spMkLst>
            <pc:docMk/>
            <pc:sldMk cId="0" sldId="282"/>
            <ac:spMk id="267" creationId="{00000000-0000-0000-0000-000000000000}"/>
          </ac:spMkLst>
        </pc:spChg>
        <pc:spChg chg="mod ord">
          <ac:chgData name="Stefan Bildea" userId="14ee9846484ecb5c" providerId="LiveId" clId="{44190A50-DAC9-4FDC-BF86-75F4E4CD1A46}" dt="2025-10-19T15:36:32.492" v="105" actId="14100"/>
          <ac:spMkLst>
            <pc:docMk/>
            <pc:sldMk cId="0" sldId="282"/>
            <ac:spMk id="268" creationId="{00000000-0000-0000-0000-000000000000}"/>
          </ac:spMkLst>
        </pc:spChg>
        <pc:picChg chg="mod">
          <ac:chgData name="Stefan Bildea" userId="14ee9846484ecb5c" providerId="LiveId" clId="{44190A50-DAC9-4FDC-BF86-75F4E4CD1A46}" dt="2025-10-19T15:36:32.492" v="105" actId="14100"/>
          <ac:picMkLst>
            <pc:docMk/>
            <pc:sldMk cId="0" sldId="282"/>
            <ac:picMk id="265" creationId="{00000000-0000-0000-0000-000000000000}"/>
          </ac:picMkLst>
        </pc:picChg>
        <pc:picChg chg="mod">
          <ac:chgData name="Stefan Bildea" userId="14ee9846484ecb5c" providerId="LiveId" clId="{44190A50-DAC9-4FDC-BF86-75F4E4CD1A46}" dt="2025-10-19T15:36:32.492" v="105" actId="14100"/>
          <ac:picMkLst>
            <pc:docMk/>
            <pc:sldMk cId="0" sldId="282"/>
            <ac:picMk id="266" creationId="{00000000-0000-0000-0000-000000000000}"/>
          </ac:picMkLst>
        </pc:picChg>
      </pc:sldChg>
      <pc:sldChg chg="mod modShow">
        <pc:chgData name="Stefan Bildea" userId="14ee9846484ecb5c" providerId="LiveId" clId="{44190A50-DAC9-4FDC-BF86-75F4E4CD1A46}" dt="2025-10-19T09:53:22.199" v="38" actId="729"/>
        <pc:sldMkLst>
          <pc:docMk/>
          <pc:sldMk cId="0" sldId="283"/>
        </pc:sldMkLst>
      </pc:sldChg>
      <pc:sldChg chg="addSp delSp modSp mod">
        <pc:chgData name="Stefan Bildea" userId="14ee9846484ecb5c" providerId="LiveId" clId="{44190A50-DAC9-4FDC-BF86-75F4E4CD1A46}" dt="2025-10-19T15:50:11.947" v="201" actId="14100"/>
        <pc:sldMkLst>
          <pc:docMk/>
          <pc:sldMk cId="0" sldId="284"/>
        </pc:sldMkLst>
        <pc:spChg chg="add mod">
          <ac:chgData name="Stefan Bildea" userId="14ee9846484ecb5c" providerId="LiveId" clId="{44190A50-DAC9-4FDC-BF86-75F4E4CD1A46}" dt="2025-10-19T15:41:04.746" v="186" actId="1076"/>
          <ac:spMkLst>
            <pc:docMk/>
            <pc:sldMk cId="0" sldId="284"/>
            <ac:spMk id="2" creationId="{DD11C78C-A1DF-9547-1810-E91AA832D17A}"/>
          </ac:spMkLst>
        </pc:spChg>
        <pc:spChg chg="add mod">
          <ac:chgData name="Stefan Bildea" userId="14ee9846484ecb5c" providerId="LiveId" clId="{44190A50-DAC9-4FDC-BF86-75F4E4CD1A46}" dt="2025-10-19T15:41:27.123" v="187" actId="1076"/>
          <ac:spMkLst>
            <pc:docMk/>
            <pc:sldMk cId="0" sldId="284"/>
            <ac:spMk id="3" creationId="{309F2B53-3D5F-6EB8-164E-8D4CEB530AA8}"/>
          </ac:spMkLst>
        </pc:spChg>
        <pc:spChg chg="add del mod">
          <ac:chgData name="Stefan Bildea" userId="14ee9846484ecb5c" providerId="LiveId" clId="{44190A50-DAC9-4FDC-BF86-75F4E4CD1A46}" dt="2025-10-19T15:41:53.249" v="191"/>
          <ac:spMkLst>
            <pc:docMk/>
            <pc:sldMk cId="0" sldId="284"/>
            <ac:spMk id="4" creationId="{F5AB11E0-ECB4-C8F7-BF4D-798235FF39C4}"/>
          </ac:spMkLst>
        </pc:spChg>
        <pc:spChg chg="add mod ord">
          <ac:chgData name="Stefan Bildea" userId="14ee9846484ecb5c" providerId="LiveId" clId="{44190A50-DAC9-4FDC-BF86-75F4E4CD1A46}" dt="2025-10-19T15:50:11.947" v="201" actId="14100"/>
          <ac:spMkLst>
            <pc:docMk/>
            <pc:sldMk cId="0" sldId="284"/>
            <ac:spMk id="5" creationId="{6CD8D4F2-E95D-53A0-3442-A4D1B54E4CF3}"/>
          </ac:spMkLst>
        </pc:spChg>
        <pc:picChg chg="mod">
          <ac:chgData name="Stefan Bildea" userId="14ee9846484ecb5c" providerId="LiveId" clId="{44190A50-DAC9-4FDC-BF86-75F4E4CD1A46}" dt="2025-10-19T15:38:45.819" v="108" actId="1076"/>
          <ac:picMkLst>
            <pc:docMk/>
            <pc:sldMk cId="0" sldId="284"/>
            <ac:picMk id="282" creationId="{00000000-0000-0000-0000-000000000000}"/>
          </ac:picMkLst>
        </pc:picChg>
      </pc:sldChg>
      <pc:sldChg chg="addSp modSp mod">
        <pc:chgData name="Stefan Bildea" userId="14ee9846484ecb5c" providerId="LiveId" clId="{44190A50-DAC9-4FDC-BF86-75F4E4CD1A46}" dt="2025-10-19T15:51:49.228" v="204" actId="1076"/>
        <pc:sldMkLst>
          <pc:docMk/>
          <pc:sldMk cId="0" sldId="285"/>
        </pc:sldMkLst>
        <pc:spChg chg="add mod">
          <ac:chgData name="Stefan Bildea" userId="14ee9846484ecb5c" providerId="LiveId" clId="{44190A50-DAC9-4FDC-BF86-75F4E4CD1A46}" dt="2025-10-19T10:01:12.199" v="44" actId="571"/>
          <ac:spMkLst>
            <pc:docMk/>
            <pc:sldMk cId="0" sldId="285"/>
            <ac:spMk id="3" creationId="{19B28EF2-AEEC-F900-9092-50C44AC42375}"/>
          </ac:spMkLst>
        </pc:spChg>
        <pc:picChg chg="add mod">
          <ac:chgData name="Stefan Bildea" userId="14ee9846484ecb5c" providerId="LiveId" clId="{44190A50-DAC9-4FDC-BF86-75F4E4CD1A46}" dt="2025-10-19T10:01:12.199" v="44" actId="571"/>
          <ac:picMkLst>
            <pc:docMk/>
            <pc:sldMk cId="0" sldId="285"/>
            <ac:picMk id="2" creationId="{390BA3B3-1CDA-8729-C44C-C8DFEFED09AC}"/>
          </ac:picMkLst>
        </pc:picChg>
        <pc:picChg chg="mod">
          <ac:chgData name="Stefan Bildea" userId="14ee9846484ecb5c" providerId="LiveId" clId="{44190A50-DAC9-4FDC-BF86-75F4E4CD1A46}" dt="2025-10-19T15:51:49.228" v="204" actId="1076"/>
          <ac:picMkLst>
            <pc:docMk/>
            <pc:sldMk cId="0" sldId="285"/>
            <ac:picMk id="289" creationId="{00000000-0000-0000-0000-000000000000}"/>
          </ac:picMkLst>
        </pc:picChg>
      </pc:sldChg>
      <pc:sldChg chg="modSp new del mod">
        <pc:chgData name="Stefan Bildea" userId="14ee9846484ecb5c" providerId="LiveId" clId="{44190A50-DAC9-4FDC-BF86-75F4E4CD1A46}" dt="2025-10-19T14:05:35.953" v="89" actId="47"/>
        <pc:sldMkLst>
          <pc:docMk/>
          <pc:sldMk cId="1173218262" sldId="293"/>
        </pc:sldMkLst>
        <pc:spChg chg="mod">
          <ac:chgData name="Stefan Bildea" userId="14ee9846484ecb5c" providerId="LiveId" clId="{44190A50-DAC9-4FDC-BF86-75F4E4CD1A46}" dt="2025-10-19T13:25:56.031" v="88" actId="20577"/>
          <ac:spMkLst>
            <pc:docMk/>
            <pc:sldMk cId="1173218262" sldId="293"/>
            <ac:spMk id="3" creationId="{C38EFEA9-C984-9371-2492-17F4EDA5342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6dc142120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6dc142120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6dc14212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6dc142120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933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6f6e699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6f6e699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6f6e699c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6f6e699c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6e87644b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6e87644b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6eca7fc8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6eca7fc8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7bebcca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17bebcca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7bebcca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7bebcca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17bebcca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17bebcca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17bebcca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17bebcca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7bebcca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7bebcca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17bebcca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17bebcca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7d3f64f0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7d3f64f0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7d3f64f0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7d3f64f0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7d3f64f0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17d3f64f0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17d3f64f0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17d3f64f0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6f6e699c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6f6e699c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6f6e699c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6f6e699c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17d3f64f0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17d3f64f0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5568" y="3938020"/>
            <a:ext cx="1941394" cy="1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0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3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449" y="3500728"/>
            <a:ext cx="1371380" cy="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2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5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3js.org/" TargetMode="External"/><Relationship Id="rId4" Type="http://schemas.openxmlformats.org/officeDocument/2006/relationships/hyperlink" Target="https://www.ted.com/talks/hans_rosling_shows_the_best_stats_you_ve_ever_seen" TargetMode="External"/><Relationship Id="rId5" Type="http://schemas.openxmlformats.org/officeDocument/2006/relationships/hyperlink" Target="https://plotl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772633" y="841772"/>
            <a:ext cx="7228367" cy="17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SEED1 - Curs </a:t>
            </a:r>
            <a:r>
              <a:rPr lang="ro-RO" dirty="0"/>
              <a:t>2</a:t>
            </a:r>
            <a:br>
              <a:rPr lang="en" dirty="0"/>
            </a:br>
            <a:r>
              <a:rPr lang="ro-RO" dirty="0"/>
              <a:t>Vizualizarea datelor</a:t>
            </a:r>
            <a:r>
              <a:rPr lang="en" dirty="0"/>
              <a:t> </a:t>
            </a:r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Instructor: Conf. Dr.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Teodor-Ștefan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Bîldea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SIIPA,</a:t>
            </a:r>
            <a:r>
              <a:rPr lang="ro-RO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 I,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Semestrul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Agendă</a:t>
            </a:r>
            <a:endParaRPr dirty="0"/>
          </a:p>
        </p:txBody>
      </p:sp>
      <p:sp>
        <p:nvSpPr>
          <p:cNvPr id="76" name="Google Shape;76;p15"/>
          <p:cNvSpPr txBox="1">
            <a:spLocks noGrp="1"/>
          </p:cNvSpPr>
          <p:nvPr>
            <p:ph sz="half" idx="2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Vizualizarea Datelor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Exemple de analiz</a:t>
            </a:r>
            <a:r>
              <a:rPr lang="ro-RO" dirty="0"/>
              <a:t>ă</a:t>
            </a:r>
            <a:r>
              <a:rPr lang="en" dirty="0"/>
              <a:t> </a:t>
            </a:r>
            <a:r>
              <a:rPr lang="ro-RO" dirty="0"/>
              <a:t>ș</a:t>
            </a:r>
            <a:r>
              <a:rPr lang="en" dirty="0"/>
              <a:t>i vizualizare </a:t>
            </a:r>
            <a:r>
              <a:rPr lang="ro-RO" dirty="0"/>
              <a:t>î</a:t>
            </a:r>
            <a:r>
              <a:rPr lang="en" dirty="0"/>
              <a:t>n date </a:t>
            </a:r>
            <a:r>
              <a:rPr lang="ro-RO" dirty="0"/>
              <a:t>ERP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84DA310-0EF6-439D-AA41-61F34B161C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7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</a:t>
            </a:r>
            <a:r>
              <a:rPr lang="ro-RO" dirty="0"/>
              <a:t>ă</a:t>
            </a:r>
            <a:r>
              <a:rPr lang="en" dirty="0"/>
              <a:t> Descriptiv</a:t>
            </a:r>
            <a:r>
              <a:rPr lang="ro-RO" dirty="0"/>
              <a:t>ă</a:t>
            </a:r>
            <a:r>
              <a:rPr lang="en" dirty="0"/>
              <a:t> - Studiu de Caz</a:t>
            </a:r>
            <a:endParaRPr dirty="0"/>
          </a:p>
        </p:txBody>
      </p:sp>
      <p:sp>
        <p:nvSpPr>
          <p:cNvPr id="179" name="Google Shape;179;p3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Utilizarea percentilelor </a:t>
            </a:r>
            <a:r>
              <a:rPr lang="ro-RO" dirty="0"/>
              <a:t>î</a:t>
            </a:r>
            <a:r>
              <a:rPr lang="en" dirty="0"/>
              <a:t>n determinarea un</a:t>
            </a:r>
            <a:r>
              <a:rPr lang="ro-RO" dirty="0"/>
              <a:t>u</a:t>
            </a:r>
            <a:r>
              <a:rPr lang="en" dirty="0"/>
              <a:t>i interval optim de pre</a:t>
            </a:r>
            <a:r>
              <a:rPr lang="ro-RO" dirty="0"/>
              <a:t>ț</a:t>
            </a:r>
            <a:r>
              <a:rPr lang="en" dirty="0"/>
              <a:t>uri bazate pe statistica unei metrici de interes</a:t>
            </a:r>
            <a:endParaRPr dirty="0"/>
          </a:p>
        </p:txBody>
      </p:sp>
      <p:sp>
        <p:nvSpPr>
          <p:cNvPr id="180" name="Google Shape;180;p30"/>
          <p:cNvSpPr txBox="1"/>
          <p:nvPr/>
        </p:nvSpPr>
        <p:spPr>
          <a:xfrm>
            <a:off x="331850" y="2113300"/>
            <a:ext cx="3414300" cy="26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Un punct reprezinta o marja de venit - galben este media la momentul respectiv, albastrul e tranza</a:t>
            </a:r>
            <a:r>
              <a:rPr lang="ro-RO" sz="1000" dirty="0"/>
              <a:t>cț</a:t>
            </a:r>
            <a:r>
              <a:rPr lang="en" sz="1000" dirty="0"/>
              <a:t>ia c</a:t>
            </a:r>
            <a:r>
              <a:rPr lang="ro-RO" sz="1000" dirty="0"/>
              <a:t>lientului</a:t>
            </a:r>
            <a:r>
              <a:rPr lang="en" sz="1000" dirty="0"/>
              <a:t> B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Punctele sunt sortate temporal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Scopul este compararea cu media v</a:t>
            </a:r>
            <a:r>
              <a:rPr lang="ro-RO" sz="1000" dirty="0"/>
              <a:t>â</a:t>
            </a:r>
            <a:r>
              <a:rPr lang="en" sz="1000" dirty="0"/>
              <a:t>nzarilor similare 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( similar &lt;= segmente &lt;= data mining !)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/>
              <a:t>Slide următor:</a:t>
            </a:r>
            <a:endParaRPr lang="en-US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Se </a:t>
            </a:r>
            <a:r>
              <a:rPr lang="en-US" sz="1000" dirty="0" err="1"/>
              <a:t>transformă</a:t>
            </a:r>
            <a:r>
              <a:rPr lang="en-US" sz="1000" dirty="0"/>
              <a:t> </a:t>
            </a:r>
            <a:r>
              <a:rPr lang="en-US" sz="1000" dirty="0" err="1"/>
              <a:t>datele</a:t>
            </a:r>
            <a:r>
              <a:rPr lang="en-US" sz="1000" dirty="0"/>
              <a:t>: se fac </a:t>
            </a:r>
            <a:r>
              <a:rPr lang="en-US" sz="1000" dirty="0" err="1"/>
              <a:t>diferențele</a:t>
            </a:r>
            <a:r>
              <a:rPr lang="en-US" sz="1000" dirty="0"/>
              <a:t> </a:t>
            </a:r>
            <a:r>
              <a:rPr lang="en-US" sz="1000" dirty="0" err="1"/>
              <a:t>față</a:t>
            </a:r>
            <a:r>
              <a:rPr lang="en-US" sz="1000" dirty="0"/>
              <a:t> de </a:t>
            </a:r>
            <a:r>
              <a:rPr lang="en-US" sz="1000" dirty="0" err="1"/>
              <a:t>medie</a:t>
            </a:r>
            <a:r>
              <a:rPr lang="en-US" sz="1000" dirty="0"/>
              <a:t> </a:t>
            </a:r>
            <a:r>
              <a:rPr lang="en-US" sz="1000" dirty="0" err="1"/>
              <a:t>și</a:t>
            </a:r>
            <a:r>
              <a:rPr lang="en-US" sz="1000" dirty="0"/>
              <a:t> se </a:t>
            </a:r>
            <a:r>
              <a:rPr lang="en-US" sz="1000" dirty="0" err="1"/>
              <a:t>sorteaz</a:t>
            </a:r>
            <a:r>
              <a:rPr lang="ro-RO" sz="1000" dirty="0"/>
              <a:t>ă</a:t>
            </a:r>
            <a:r>
              <a:rPr lang="en-US" sz="1000" dirty="0"/>
              <a:t> </a:t>
            </a:r>
            <a:r>
              <a:rPr lang="en-US" sz="1000" dirty="0" err="1"/>
              <a:t>numerele</a:t>
            </a:r>
            <a:r>
              <a:rPr lang="en-US" sz="1000" dirty="0"/>
              <a:t> </a:t>
            </a:r>
            <a:r>
              <a:rPr lang="en-US" sz="1000" dirty="0" err="1"/>
              <a:t>astfel</a:t>
            </a:r>
            <a:r>
              <a:rPr lang="en-US" sz="1000" dirty="0"/>
              <a:t> </a:t>
            </a:r>
            <a:r>
              <a:rPr lang="en-US" sz="1000" dirty="0" err="1"/>
              <a:t>ob</a:t>
            </a:r>
            <a:r>
              <a:rPr lang="ro-RO" sz="1000" dirty="0"/>
              <a:t>ț</a:t>
            </a:r>
            <a:r>
              <a:rPr lang="en-US" sz="1000" dirty="0" err="1"/>
              <a:t>inute</a:t>
            </a:r>
            <a:r>
              <a:rPr lang="en-US" sz="1000" dirty="0"/>
              <a:t> </a:t>
            </a:r>
            <a:r>
              <a:rPr lang="en-US" sz="1000" dirty="0" err="1"/>
              <a:t>cresc</a:t>
            </a:r>
            <a:r>
              <a:rPr lang="ro-RO" sz="1000" dirty="0"/>
              <a:t>ă</a:t>
            </a:r>
            <a:r>
              <a:rPr lang="en-US" sz="1000" dirty="0"/>
              <a:t>tor </a:t>
            </a:r>
            <a:r>
              <a:rPr lang="en-US" sz="1000" dirty="0" err="1"/>
              <a:t>pentru</a:t>
            </a:r>
            <a:r>
              <a:rPr lang="en-US" sz="1000" dirty="0"/>
              <a:t> a </a:t>
            </a:r>
            <a:r>
              <a:rPr lang="en-US" sz="1000" dirty="0" err="1"/>
              <a:t>putea</a:t>
            </a:r>
            <a:r>
              <a:rPr lang="en-US" sz="1000" dirty="0"/>
              <a:t> </a:t>
            </a:r>
            <a:r>
              <a:rPr lang="en-US" sz="1000" dirty="0" err="1"/>
              <a:t>observa</a:t>
            </a:r>
            <a:r>
              <a:rPr lang="en-US" sz="1000" dirty="0"/>
              <a:t> </a:t>
            </a:r>
            <a:r>
              <a:rPr lang="en-US" sz="1000" dirty="0" err="1"/>
              <a:t>percentilele</a:t>
            </a:r>
            <a:endParaRPr lang="en-US" sz="1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24F41F-8D02-4A5E-AA96-7D10482CDD8C}"/>
              </a:ext>
            </a:extLst>
          </p:cNvPr>
          <p:cNvGrpSpPr/>
          <p:nvPr/>
        </p:nvGrpSpPr>
        <p:grpSpPr>
          <a:xfrm>
            <a:off x="3827825" y="2067562"/>
            <a:ext cx="4984325" cy="2610900"/>
            <a:chOff x="3957725" y="1951037"/>
            <a:chExt cx="4984325" cy="2610900"/>
          </a:xfrm>
        </p:grpSpPr>
        <p:pic>
          <p:nvPicPr>
            <p:cNvPr id="181" name="Google Shape;181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78989" y="1951037"/>
              <a:ext cx="4874565" cy="261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30"/>
            <p:cNvSpPr txBox="1"/>
            <p:nvPr/>
          </p:nvSpPr>
          <p:spPr>
            <a:xfrm rot="-5400000">
              <a:off x="3475175" y="2440674"/>
              <a:ext cx="1244400" cy="279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000" dirty="0"/>
                <a:t>Marja</a:t>
              </a:r>
              <a:r>
                <a:rPr lang="en" sz="1000" dirty="0"/>
                <a:t> % </a:t>
              </a:r>
              <a:endParaRPr sz="1000" dirty="0"/>
            </a:p>
          </p:txBody>
        </p:sp>
        <p:sp>
          <p:nvSpPr>
            <p:cNvPr id="183" name="Google Shape;183;p30"/>
            <p:cNvSpPr txBox="1"/>
            <p:nvPr/>
          </p:nvSpPr>
          <p:spPr>
            <a:xfrm>
              <a:off x="5073625" y="2887075"/>
              <a:ext cx="279300" cy="10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0"/>
            <p:cNvSpPr txBox="1"/>
            <p:nvPr/>
          </p:nvSpPr>
          <p:spPr>
            <a:xfrm>
              <a:off x="6081825" y="3685700"/>
              <a:ext cx="279300" cy="10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0"/>
            <p:cNvSpPr txBox="1"/>
            <p:nvPr/>
          </p:nvSpPr>
          <p:spPr>
            <a:xfrm>
              <a:off x="5029975" y="2799775"/>
              <a:ext cx="628800" cy="23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 dirty="0"/>
                <a:t>margin % </a:t>
              </a:r>
              <a:endParaRPr sz="700" b="1" dirty="0"/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7981600" y="2863525"/>
              <a:ext cx="69900" cy="108300"/>
            </a:xfrm>
            <a:prstGeom prst="star4">
              <a:avLst>
                <a:gd name="adj" fmla="val 125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0"/>
            <p:cNvSpPr txBox="1"/>
            <p:nvPr/>
          </p:nvSpPr>
          <p:spPr>
            <a:xfrm>
              <a:off x="8103850" y="2724475"/>
              <a:ext cx="838200" cy="31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/>
                <a:t>Curent margin% = 31.25%</a:t>
              </a:r>
              <a:endParaRPr sz="700"/>
            </a:p>
          </p:txBody>
        </p:sp>
        <p:sp>
          <p:nvSpPr>
            <p:cNvPr id="188" name="Google Shape;188;p30"/>
            <p:cNvSpPr txBox="1"/>
            <p:nvPr/>
          </p:nvSpPr>
          <p:spPr>
            <a:xfrm>
              <a:off x="6094776" y="3593640"/>
              <a:ext cx="628800" cy="23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 dirty="0"/>
                <a:t>margin % </a:t>
              </a:r>
              <a:endParaRPr sz="700" b="1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6A847EB-FBB9-0896-8F84-2B394947EDA5}"/>
              </a:ext>
            </a:extLst>
          </p:cNvPr>
          <p:cNvSpPr/>
          <p:nvPr/>
        </p:nvSpPr>
        <p:spPr>
          <a:xfrm>
            <a:off x="4242815" y="2823667"/>
            <a:ext cx="1709109" cy="4462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050" dirty="0">
                <a:solidFill>
                  <a:schemeClr val="tx1"/>
                </a:solidFill>
              </a:rPr>
              <a:t>În galben, marja% medie în segment pentru produsul A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4D3C23-BCAE-92C5-A84B-F4DB5A2CB57F}"/>
              </a:ext>
            </a:extLst>
          </p:cNvPr>
          <p:cNvSpPr/>
          <p:nvPr/>
        </p:nvSpPr>
        <p:spPr>
          <a:xfrm>
            <a:off x="5528874" y="3744501"/>
            <a:ext cx="1515663" cy="4462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050" dirty="0">
                <a:solidFill>
                  <a:schemeClr val="tx1"/>
                </a:solidFill>
              </a:rPr>
              <a:t>În albastru, marja% a clientului B pentru produsul A</a:t>
            </a:r>
            <a:endParaRPr lang="en-US" sz="105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</a:t>
            </a:r>
            <a:r>
              <a:rPr lang="ro-RO" dirty="0"/>
              <a:t>ă</a:t>
            </a:r>
            <a:r>
              <a:rPr lang="en" dirty="0"/>
              <a:t> Descriptiv</a:t>
            </a:r>
            <a:r>
              <a:rPr lang="ro-RO" dirty="0"/>
              <a:t>ă</a:t>
            </a:r>
            <a:r>
              <a:rPr lang="en" dirty="0"/>
              <a:t> - Studiu de Caz</a:t>
            </a:r>
            <a:endParaRPr dirty="0"/>
          </a:p>
        </p:txBody>
      </p:sp>
      <p:sp>
        <p:nvSpPr>
          <p:cNvPr id="194" name="Google Shape;194;p31"/>
          <p:cNvSpPr txBox="1">
            <a:spLocks noGrp="1"/>
          </p:cNvSpPr>
          <p:nvPr>
            <p:ph idx="1"/>
          </p:nvPr>
        </p:nvSpPr>
        <p:spPr>
          <a:xfrm>
            <a:off x="244325" y="1313738"/>
            <a:ext cx="7886700" cy="3263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Utilizarea cuantilelor: determinarea unei interval optim de pre</a:t>
            </a:r>
            <a:r>
              <a:rPr lang="ro-RO" dirty="0"/>
              <a:t>ț</a:t>
            </a:r>
            <a:r>
              <a:rPr lang="en" dirty="0"/>
              <a:t>uri bazate pe statistica unei metrici de interes</a:t>
            </a:r>
            <a:endParaRPr dirty="0"/>
          </a:p>
        </p:txBody>
      </p:sp>
      <p:pic>
        <p:nvPicPr>
          <p:cNvPr id="195" name="Google Shape;195;p31"/>
          <p:cNvPicPr preferRelativeResize="0"/>
          <p:nvPr/>
        </p:nvPicPr>
        <p:blipFill rotWithShape="1">
          <a:blip r:embed="rId3">
            <a:alphaModFix/>
          </a:blip>
          <a:srcRect l="4998" t="10281" r="1578" b="2443"/>
          <a:stretch/>
        </p:blipFill>
        <p:spPr>
          <a:xfrm>
            <a:off x="3938400" y="2043400"/>
            <a:ext cx="5143825" cy="21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/>
        </p:nvSpPr>
        <p:spPr>
          <a:xfrm>
            <a:off x="331850" y="2113300"/>
            <a:ext cx="3414300" cy="26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Un punct reprezint</a:t>
            </a:r>
            <a:r>
              <a:rPr lang="ro-RO" sz="1000" dirty="0"/>
              <a:t>ă</a:t>
            </a:r>
            <a:r>
              <a:rPr lang="en" sz="1000" dirty="0"/>
              <a:t> devia</a:t>
            </a:r>
            <a:r>
              <a:rPr lang="ro-RO" sz="1000" dirty="0"/>
              <a:t>ți</a:t>
            </a:r>
            <a:r>
              <a:rPr lang="en" sz="1000" dirty="0"/>
              <a:t>a marjei procentuale fa</a:t>
            </a:r>
            <a:r>
              <a:rPr lang="ro-RO" sz="1000" dirty="0"/>
              <a:t>ță</a:t>
            </a:r>
            <a:r>
              <a:rPr lang="en" sz="1000" dirty="0"/>
              <a:t> de media cump</a:t>
            </a:r>
            <a:r>
              <a:rPr lang="ro-RO" sz="1000" dirty="0"/>
              <a:t>ă</a:t>
            </a:r>
            <a:r>
              <a:rPr lang="en" sz="1000" dirty="0"/>
              <a:t>r</a:t>
            </a:r>
            <a:r>
              <a:rPr lang="ro-RO" sz="1000" dirty="0"/>
              <a:t>ă</a:t>
            </a:r>
            <a:r>
              <a:rPr lang="en" sz="1000" dirty="0"/>
              <a:t>torilor similari de produse similare</a:t>
            </a:r>
            <a:r>
              <a:rPr lang="ro-RO" sz="1000" dirty="0"/>
              <a:t>.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Punctele sunt sortate cresc</a:t>
            </a:r>
            <a:r>
              <a:rPr lang="ro-RO" sz="1000" dirty="0"/>
              <a:t>ă</a:t>
            </a:r>
            <a:r>
              <a:rPr lang="en" sz="1000" dirty="0"/>
              <a:t>tor </a:t>
            </a:r>
            <a:r>
              <a:rPr lang="ro-RO" sz="1000" dirty="0"/>
              <a:t>î</a:t>
            </a:r>
            <a:r>
              <a:rPr lang="en" sz="1000" dirty="0"/>
              <a:t>n fun</a:t>
            </a:r>
            <a:r>
              <a:rPr lang="ro-RO" sz="1000" dirty="0"/>
              <a:t>cț</a:t>
            </a:r>
            <a:r>
              <a:rPr lang="en" sz="1000" dirty="0"/>
              <a:t>tie de devia</a:t>
            </a:r>
            <a:r>
              <a:rPr lang="ro-RO" sz="1000" dirty="0"/>
              <a:t>ț</a:t>
            </a:r>
            <a:r>
              <a:rPr lang="en" sz="1000" dirty="0"/>
              <a:t>ie </a:t>
            </a:r>
            <a:r>
              <a:rPr lang="ro-RO" sz="1000" dirty="0"/>
              <a:t>ș</a:t>
            </a:r>
            <a:r>
              <a:rPr lang="en" sz="1000" dirty="0"/>
              <a:t>i dispuse pe axa Ox.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Exemplu de interval de pre</a:t>
            </a:r>
            <a:r>
              <a:rPr lang="ro-RO" sz="1000" dirty="0"/>
              <a:t>ț</a:t>
            </a:r>
            <a:r>
              <a:rPr lang="en" sz="1000" dirty="0"/>
              <a:t>uri - media curent</a:t>
            </a:r>
            <a:r>
              <a:rPr lang="ro-RO" sz="1000" dirty="0"/>
              <a:t>ă</a:t>
            </a:r>
            <a:r>
              <a:rPr lang="en" sz="1000" dirty="0"/>
              <a:t> = 31.25%=0.3125 </a:t>
            </a:r>
            <a:endParaRPr sz="1000" dirty="0"/>
          </a:p>
        </p:txBody>
      </p:sp>
      <p:graphicFrame>
        <p:nvGraphicFramePr>
          <p:cNvPr id="197" name="Google Shape;197;p31"/>
          <p:cNvGraphicFramePr/>
          <p:nvPr>
            <p:extLst>
              <p:ext uri="{D42A27DB-BD31-4B8C-83A1-F6EECF244321}">
                <p14:modId xmlns:p14="http://schemas.microsoft.com/office/powerpoint/2010/main" val="2352638694"/>
              </p:ext>
            </p:extLst>
          </p:nvPr>
        </p:nvGraphicFramePr>
        <p:xfrm>
          <a:off x="307938" y="3514800"/>
          <a:ext cx="3462125" cy="1310550"/>
        </p:xfrm>
        <a:graphic>
          <a:graphicData uri="http://schemas.openxmlformats.org/drawingml/2006/table">
            <a:tbl>
              <a:tblPr>
                <a:noFill/>
                <a:tableStyleId>{19765D9A-5B29-4FE0-BD4B-011D1141B641}</a:tableStyleId>
              </a:tblPr>
              <a:tblGrid>
                <a:gridCol w="146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Marja minima de venit</a:t>
                      </a:r>
                      <a:endParaRPr sz="1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Media curenta - 0.005 =0.3075 sau 30.75%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Marja expert</a:t>
                      </a:r>
                      <a:endParaRPr sz="1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Media curenta + 0.07  =38.25%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WTP (willingness to pay)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Media curenta + 0.04 = 35.25%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8" name="Google Shape;198;p31"/>
          <p:cNvSpPr txBox="1"/>
          <p:nvPr/>
        </p:nvSpPr>
        <p:spPr>
          <a:xfrm rot="-5400000">
            <a:off x="3263600" y="2752949"/>
            <a:ext cx="12444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Margin % Differential</a:t>
            </a:r>
            <a:endParaRPr sz="700"/>
          </a:p>
        </p:txBody>
      </p:sp>
      <p:cxnSp>
        <p:nvCxnSpPr>
          <p:cNvPr id="199" name="Google Shape;199;p31"/>
          <p:cNvCxnSpPr/>
          <p:nvPr/>
        </p:nvCxnSpPr>
        <p:spPr>
          <a:xfrm>
            <a:off x="5134775" y="2244275"/>
            <a:ext cx="0" cy="1711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31"/>
          <p:cNvCxnSpPr/>
          <p:nvPr/>
        </p:nvCxnSpPr>
        <p:spPr>
          <a:xfrm>
            <a:off x="8003025" y="2244275"/>
            <a:ext cx="0" cy="17115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31"/>
          <p:cNvSpPr txBox="1"/>
          <p:nvPr/>
        </p:nvSpPr>
        <p:spPr>
          <a:xfrm>
            <a:off x="4366275" y="2549925"/>
            <a:ext cx="716100" cy="359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Differential = -0.005</a:t>
            </a:r>
            <a:endParaRPr sz="700"/>
          </a:p>
        </p:txBody>
      </p:sp>
      <p:sp>
        <p:nvSpPr>
          <p:cNvPr id="202" name="Google Shape;202;p31"/>
          <p:cNvSpPr txBox="1"/>
          <p:nvPr/>
        </p:nvSpPr>
        <p:spPr>
          <a:xfrm>
            <a:off x="4187675" y="3867175"/>
            <a:ext cx="947100" cy="359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Min Price Percentile= 20%</a:t>
            </a:r>
            <a:endParaRPr sz="700"/>
          </a:p>
        </p:txBody>
      </p:sp>
      <p:sp>
        <p:nvSpPr>
          <p:cNvPr id="203" name="Google Shape;203;p31"/>
          <p:cNvSpPr txBox="1"/>
          <p:nvPr/>
        </p:nvSpPr>
        <p:spPr>
          <a:xfrm>
            <a:off x="7286925" y="2392050"/>
            <a:ext cx="716100" cy="359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Differential = 0.07</a:t>
            </a:r>
            <a:endParaRPr sz="700"/>
          </a:p>
        </p:txBody>
      </p:sp>
      <p:sp>
        <p:nvSpPr>
          <p:cNvPr id="204" name="Google Shape;204;p31"/>
          <p:cNvSpPr txBox="1"/>
          <p:nvPr/>
        </p:nvSpPr>
        <p:spPr>
          <a:xfrm>
            <a:off x="8051425" y="3809975"/>
            <a:ext cx="947100" cy="359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Expert Price Percentile= 80%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</a:t>
            </a:r>
            <a:r>
              <a:rPr lang="ro-RO" dirty="0"/>
              <a:t>ă</a:t>
            </a:r>
            <a:r>
              <a:rPr lang="en" dirty="0"/>
              <a:t> Descriptiv</a:t>
            </a:r>
            <a:r>
              <a:rPr lang="ro-RO" dirty="0"/>
              <a:t>ă</a:t>
            </a:r>
            <a:endParaRPr dirty="0"/>
          </a:p>
        </p:txBody>
      </p:sp>
      <p:sp>
        <p:nvSpPr>
          <p:cNvPr id="210" name="Google Shape;210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Indicatori ai </a:t>
            </a:r>
            <a:r>
              <a:rPr lang="ro-RO" dirty="0"/>
              <a:t>î</a:t>
            </a:r>
            <a:r>
              <a:rPr lang="en" dirty="0"/>
              <a:t>mpr</a:t>
            </a:r>
            <a:r>
              <a:rPr lang="ro-RO" dirty="0"/>
              <a:t>ăș</a:t>
            </a:r>
            <a:r>
              <a:rPr lang="en" dirty="0"/>
              <a:t>tierii - Dispersia </a:t>
            </a:r>
            <a:r>
              <a:rPr lang="ro-RO" dirty="0"/>
              <a:t>ș</a:t>
            </a:r>
            <a:r>
              <a:rPr lang="en" dirty="0"/>
              <a:t>i devia</a:t>
            </a:r>
            <a:r>
              <a:rPr lang="ro-RO" dirty="0"/>
              <a:t>ț</a:t>
            </a:r>
            <a:r>
              <a:rPr lang="en" dirty="0"/>
              <a:t>ia standard: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Utile pentru reparti</a:t>
            </a:r>
            <a:r>
              <a:rPr lang="ro-RO" dirty="0"/>
              <a:t>ț</a:t>
            </a:r>
            <a:r>
              <a:rPr lang="en" dirty="0"/>
              <a:t>iile relativ simetrice fa</a:t>
            </a:r>
            <a:r>
              <a:rPr lang="ro-RO" dirty="0"/>
              <a:t>ță</a:t>
            </a:r>
            <a:r>
              <a:rPr lang="en" dirty="0"/>
              <a:t> de medie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</a:t>
            </a:r>
            <a:r>
              <a:rPr lang="ro-RO" dirty="0"/>
              <a:t>ă</a:t>
            </a:r>
            <a:r>
              <a:rPr lang="en" dirty="0"/>
              <a:t>soar</a:t>
            </a:r>
            <a:r>
              <a:rPr lang="ro-RO" dirty="0"/>
              <a:t>ă</a:t>
            </a:r>
            <a:r>
              <a:rPr lang="en" dirty="0"/>
              <a:t> devia</a:t>
            </a:r>
            <a:r>
              <a:rPr lang="ro-RO" dirty="0"/>
              <a:t>ț</a:t>
            </a:r>
            <a:r>
              <a:rPr lang="en" dirty="0"/>
              <a:t>ia fa</a:t>
            </a:r>
            <a:r>
              <a:rPr lang="ro-RO" dirty="0"/>
              <a:t>ță</a:t>
            </a:r>
            <a:r>
              <a:rPr lang="en" dirty="0"/>
              <a:t> de medie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o-RO" sz="1400" dirty="0"/>
              <a:t>Î</a:t>
            </a:r>
            <a:r>
              <a:rPr lang="en" sz="1400" dirty="0"/>
              <a:t>n cazul unei variabile aleatoare discrete cu N valori posibile: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o-RO" sz="1400" dirty="0"/>
              <a:t>Î</a:t>
            </a:r>
            <a:r>
              <a:rPr lang="en" sz="1400" dirty="0"/>
              <a:t>n cazul unui e</a:t>
            </a:r>
            <a:r>
              <a:rPr lang="ro-RO" sz="1400" dirty="0"/>
              <a:t>ș</a:t>
            </a:r>
            <a:r>
              <a:rPr lang="en" sz="1400" dirty="0"/>
              <a:t>antion de m</a:t>
            </a:r>
            <a:r>
              <a:rPr lang="ro-RO" sz="1400" dirty="0"/>
              <a:t>ă</a:t>
            </a:r>
            <a:r>
              <a:rPr lang="en" sz="1400" dirty="0"/>
              <a:t>rime N cu media     , forma este 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/>
              <a:t>Dac</a:t>
            </a:r>
            <a:r>
              <a:rPr lang="ro-RO" sz="1400" dirty="0"/>
              <a:t>ă</a:t>
            </a:r>
            <a:r>
              <a:rPr lang="en" sz="1400" dirty="0"/>
              <a:t> se cunoa</a:t>
            </a:r>
            <a:r>
              <a:rPr lang="ro-RO" sz="1400" dirty="0"/>
              <a:t>ș</a:t>
            </a:r>
            <a:r>
              <a:rPr lang="en" sz="1400" dirty="0"/>
              <a:t>te media popula</a:t>
            </a:r>
            <a:r>
              <a:rPr lang="ro-RO" sz="1400" dirty="0"/>
              <a:t>ț</a:t>
            </a:r>
            <a:r>
              <a:rPr lang="en" sz="1400" dirty="0"/>
              <a:t>iei din care e e</a:t>
            </a:r>
            <a:r>
              <a:rPr lang="ro-RO" sz="1400" dirty="0"/>
              <a:t>ș</a:t>
            </a:r>
            <a:r>
              <a:rPr lang="en" sz="1400" dirty="0"/>
              <a:t>antionul nu e nevoie de corectia N-1 </a:t>
            </a:r>
            <a:r>
              <a:rPr lang="ro-RO" sz="1400" dirty="0"/>
              <a:t>î</a:t>
            </a:r>
            <a:r>
              <a:rPr lang="en" sz="1400" dirty="0"/>
              <a:t>n loc de N</a:t>
            </a:r>
            <a:r>
              <a:rPr lang="ro-RO" sz="1400" dirty="0"/>
              <a:t>.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13" y="2672775"/>
            <a:ext cx="35528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13" y="3417137"/>
            <a:ext cx="20859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4">
            <a:alphaModFix/>
          </a:blip>
          <a:srcRect l="84951" t="18633" r="10445"/>
          <a:stretch/>
        </p:blipFill>
        <p:spPr>
          <a:xfrm>
            <a:off x="4016038" y="3116276"/>
            <a:ext cx="96025" cy="4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D355A1-B42A-97EB-5C4C-63BEE9A03760}"/>
              </a:ext>
            </a:extLst>
          </p:cNvPr>
          <p:cNvSpPr/>
          <p:nvPr/>
        </p:nvSpPr>
        <p:spPr>
          <a:xfrm>
            <a:off x="2350019" y="2860244"/>
            <a:ext cx="517539" cy="256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cu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</a:t>
            </a:r>
            <a:r>
              <a:rPr lang="ro-RO" dirty="0"/>
              <a:t>ă</a:t>
            </a:r>
            <a:r>
              <a:rPr lang="en" dirty="0"/>
              <a:t> Descriptiv</a:t>
            </a:r>
            <a:r>
              <a:rPr lang="ro-RO" dirty="0"/>
              <a:t>ă</a:t>
            </a:r>
            <a:r>
              <a:rPr lang="en" dirty="0"/>
              <a:t> - studiu de caz</a:t>
            </a:r>
            <a:endParaRPr dirty="0"/>
          </a:p>
        </p:txBody>
      </p:sp>
      <p:sp>
        <p:nvSpPr>
          <p:cNvPr id="219" name="Google Shape;219;p33"/>
          <p:cNvSpPr txBox="1">
            <a:spLocks noGrp="1"/>
          </p:cNvSpPr>
          <p:nvPr>
            <p:ph idx="1"/>
          </p:nvPr>
        </p:nvSpPr>
        <p:spPr>
          <a:xfrm>
            <a:off x="284835" y="1360068"/>
            <a:ext cx="7886700" cy="3263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Folosirea deviatiei standard </a:t>
            </a:r>
            <a:r>
              <a:rPr lang="ro-RO" sz="1400" dirty="0"/>
              <a:t>î</a:t>
            </a:r>
            <a:r>
              <a:rPr lang="en" sz="1400" dirty="0"/>
              <a:t>n explicarea </a:t>
            </a:r>
            <a:endParaRPr lang="ro-RO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400" dirty="0"/>
              <a:t>p</a:t>
            </a:r>
            <a:r>
              <a:rPr lang="en" sz="1400" dirty="0"/>
              <a:t>erforman</a:t>
            </a:r>
            <a:r>
              <a:rPr lang="ro-RO" sz="1400" dirty="0"/>
              <a:t>ț</a:t>
            </a:r>
            <a:r>
              <a:rPr lang="en" sz="1400" dirty="0"/>
              <a:t>ei unei aplica</a:t>
            </a:r>
            <a:r>
              <a:rPr lang="ro-RO" sz="1400" dirty="0"/>
              <a:t>ț</a:t>
            </a:r>
            <a:r>
              <a:rPr lang="en" sz="1400" dirty="0"/>
              <a:t>ii de optimizare a </a:t>
            </a:r>
            <a:endParaRPr lang="ro-RO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400" dirty="0"/>
              <a:t>p</a:t>
            </a:r>
            <a:r>
              <a:rPr lang="en" sz="1400" dirty="0"/>
              <a:t>re</a:t>
            </a:r>
            <a:r>
              <a:rPr lang="ro-RO" sz="1400" dirty="0"/>
              <a:t>ț</a:t>
            </a:r>
            <a:r>
              <a:rPr lang="en" sz="1400" dirty="0"/>
              <a:t>urilor: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o-RO" sz="1400" dirty="0"/>
              <a:t>Î</a:t>
            </a:r>
            <a:r>
              <a:rPr lang="en" sz="1400" dirty="0"/>
              <a:t>n grupuri similare de cump</a:t>
            </a:r>
            <a:r>
              <a:rPr lang="ro-RO" sz="1400" dirty="0"/>
              <a:t>ă</a:t>
            </a:r>
            <a:r>
              <a:rPr lang="en" sz="1400" dirty="0"/>
              <a:t>r</a:t>
            </a:r>
            <a:r>
              <a:rPr lang="ro-RO" sz="1400" dirty="0"/>
              <a:t>ă</a:t>
            </a:r>
            <a:r>
              <a:rPr lang="en" sz="1400" dirty="0"/>
              <a:t>tori,</a:t>
            </a:r>
            <a:r>
              <a:rPr lang="ro-RO" sz="1400" dirty="0"/>
              <a:t> î</a:t>
            </a:r>
            <a:r>
              <a:rPr lang="en" sz="1400" dirty="0"/>
              <a:t>n timp, </a:t>
            </a:r>
            <a:endParaRPr lang="ro-RO"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/>
              <a:t>gradul de </a:t>
            </a:r>
            <a:r>
              <a:rPr lang="ro-RO" sz="1400" dirty="0"/>
              <a:t>î</a:t>
            </a:r>
            <a:r>
              <a:rPr lang="en" sz="1400" dirty="0"/>
              <a:t>mpr</a:t>
            </a:r>
            <a:r>
              <a:rPr lang="ro-RO" sz="1400" dirty="0"/>
              <a:t>ăș</a:t>
            </a:r>
            <a:r>
              <a:rPr lang="en" sz="1400" dirty="0"/>
              <a:t>tiere a pre</a:t>
            </a:r>
            <a:r>
              <a:rPr lang="ro-RO" sz="1400" dirty="0"/>
              <a:t>ț</a:t>
            </a:r>
            <a:r>
              <a:rPr lang="en" sz="1400" dirty="0"/>
              <a:t>urilor pentru</a:t>
            </a:r>
            <a:endParaRPr lang="ro-RO"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/>
              <a:t>produse similare se reduce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o-RO" sz="1400" dirty="0"/>
              <a:t>Î</a:t>
            </a:r>
            <a:r>
              <a:rPr lang="en" sz="1400" dirty="0"/>
              <a:t>n nuan</a:t>
            </a:r>
            <a:r>
              <a:rPr lang="ro-RO" sz="1400" dirty="0"/>
              <a:t>ț</a:t>
            </a:r>
            <a:r>
              <a:rPr lang="en" sz="1400" dirty="0"/>
              <a:t>e verzi – tranzac</a:t>
            </a:r>
            <a:r>
              <a:rPr lang="ro-RO" sz="1400" dirty="0"/>
              <a:t>ț</a:t>
            </a:r>
            <a:r>
              <a:rPr lang="en" sz="1400" dirty="0"/>
              <a:t>ii profitabile 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o-RO" sz="1400" dirty="0"/>
              <a:t>Î</a:t>
            </a:r>
            <a:r>
              <a:rPr lang="en" sz="1400" dirty="0"/>
              <a:t>n nuan</a:t>
            </a:r>
            <a:r>
              <a:rPr lang="ro-RO" sz="1400" dirty="0"/>
              <a:t>ț</a:t>
            </a:r>
            <a:r>
              <a:rPr lang="en" sz="1400" dirty="0"/>
              <a:t>e mov/roz – tranzac</a:t>
            </a:r>
            <a:r>
              <a:rPr lang="ro-RO" sz="1400" dirty="0"/>
              <a:t>ț</a:t>
            </a:r>
            <a:r>
              <a:rPr lang="en" sz="1400" dirty="0"/>
              <a:t>ii cu profit redus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000" dirty="0"/>
              <a:t>Tip de prezentare grafica: MS Excel, 100% Stacked area</a:t>
            </a:r>
            <a:endParaRPr sz="1000" dirty="0"/>
          </a:p>
        </p:txBody>
      </p:sp>
      <p:pic>
        <p:nvPicPr>
          <p:cNvPr id="220" name="Google Shape;220;p33"/>
          <p:cNvPicPr preferRelativeResize="0"/>
          <p:nvPr/>
        </p:nvPicPr>
        <p:blipFill rotWithShape="1">
          <a:blip r:embed="rId3">
            <a:alphaModFix/>
          </a:blip>
          <a:srcRect t="9346"/>
          <a:stretch/>
        </p:blipFill>
        <p:spPr>
          <a:xfrm>
            <a:off x="3943450" y="1206200"/>
            <a:ext cx="5325375" cy="35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Analiza datelor</a:t>
            </a:r>
            <a:endParaRPr dirty="0"/>
          </a:p>
        </p:txBody>
      </p:sp>
      <p:sp>
        <p:nvSpPr>
          <p:cNvPr id="247" name="Google Shape;247;p3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-RO" dirty="0"/>
              <a:t>Studiem </a:t>
            </a:r>
            <a:r>
              <a:rPr lang="en" dirty="0"/>
              <a:t>calit</a:t>
            </a:r>
            <a:r>
              <a:rPr lang="ro-RO" dirty="0"/>
              <a:t>atea</a:t>
            </a:r>
            <a:r>
              <a:rPr lang="en" dirty="0"/>
              <a:t> datelor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Familiarizare cu datele</a:t>
            </a:r>
            <a:endParaRPr dirty="0"/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Detectarea de anomalii  in vederea unor filtre aditionale</a:t>
            </a: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800" dirty="0"/>
          </a:p>
          <a:p>
            <a:pPr marL="457200" lvl="0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Ofer</a:t>
            </a:r>
            <a:r>
              <a:rPr lang="ro-RO" dirty="0"/>
              <a:t>ă</a:t>
            </a:r>
            <a:r>
              <a:rPr lang="en" dirty="0"/>
              <a:t> o prima im</a:t>
            </a:r>
            <a:r>
              <a:rPr lang="ro-RO" dirty="0"/>
              <a:t>presie asupra</a:t>
            </a:r>
            <a:r>
              <a:rPr lang="en" dirty="0"/>
              <a:t> datelor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Presupune aplicate deja filtrele adi</a:t>
            </a:r>
            <a:r>
              <a:rPr lang="ro-RO" dirty="0"/>
              <a:t>ț</a:t>
            </a:r>
            <a:r>
              <a:rPr lang="en" dirty="0"/>
              <a:t>ionale dictate de logica de business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Prezint</a:t>
            </a:r>
            <a:r>
              <a:rPr lang="ro-RO" dirty="0"/>
              <a:t>ă</a:t>
            </a:r>
            <a:r>
              <a:rPr lang="en" dirty="0"/>
              <a:t> metrica de interes </a:t>
            </a:r>
            <a:r>
              <a:rPr lang="ro-RO" dirty="0"/>
              <a:t>ș</a:t>
            </a:r>
            <a:r>
              <a:rPr lang="en" dirty="0"/>
              <a:t>i o prima imagine detaliat</a:t>
            </a:r>
            <a:r>
              <a:rPr lang="ro-RO" dirty="0"/>
              <a:t>ă</a:t>
            </a:r>
            <a:r>
              <a:rPr lang="en" dirty="0"/>
              <a:t> a datelor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-RO" dirty="0"/>
              <a:t>Î</a:t>
            </a:r>
            <a:r>
              <a:rPr lang="en" dirty="0"/>
              <a:t>n cele ce urmeaz</a:t>
            </a:r>
            <a:r>
              <a:rPr lang="ro-RO" dirty="0"/>
              <a:t>ă</a:t>
            </a:r>
            <a:r>
              <a:rPr lang="en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Exemple de analiz</a:t>
            </a:r>
            <a:r>
              <a:rPr lang="ro-RO" dirty="0"/>
              <a:t>ă</a:t>
            </a:r>
            <a:r>
              <a:rPr lang="en" dirty="0"/>
              <a:t> preliminar</a:t>
            </a:r>
            <a:r>
              <a:rPr lang="ro-RO" dirty="0"/>
              <a:t>ă</a:t>
            </a:r>
            <a:r>
              <a:rPr lang="en" dirty="0"/>
              <a:t> tipic</a:t>
            </a:r>
            <a:r>
              <a:rPr lang="ro-RO" dirty="0"/>
              <a:t>ă</a:t>
            </a:r>
            <a:r>
              <a:rPr lang="en" dirty="0"/>
              <a:t> in cazul </a:t>
            </a:r>
            <a:r>
              <a:rPr lang="ro-RO" dirty="0"/>
              <a:t>ERP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Exemple de anomalii detectate </a:t>
            </a:r>
            <a:r>
              <a:rPr lang="ro-RO" dirty="0"/>
              <a:t>î</a:t>
            </a:r>
            <a:r>
              <a:rPr lang="en" dirty="0"/>
              <a:t>n aceast</a:t>
            </a:r>
            <a:r>
              <a:rPr lang="ro-RO" dirty="0"/>
              <a:t>ă</a:t>
            </a:r>
            <a:r>
              <a:rPr lang="en" dirty="0"/>
              <a:t> faz</a:t>
            </a:r>
            <a:r>
              <a:rPr lang="ro-RO" dirty="0"/>
              <a:t>ă</a:t>
            </a:r>
            <a:r>
              <a:rPr lang="en" dirty="0"/>
              <a:t> </a:t>
            </a:r>
            <a:r>
              <a:rPr lang="ro-RO" dirty="0"/>
              <a:t>î</a:t>
            </a:r>
            <a:r>
              <a:rPr lang="en" dirty="0"/>
              <a:t>n cazuri reale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00" y="1713300"/>
            <a:ext cx="5482126" cy="30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snapshot</a:t>
            </a:r>
            <a:endParaRPr/>
          </a:p>
        </p:txBody>
      </p:sp>
      <p:sp>
        <p:nvSpPr>
          <p:cNvPr id="253" name="Google Shape;253;p3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Serii temporale de venit (lunar, trimestrial)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3925" y="1713301"/>
            <a:ext cx="3361475" cy="25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8"/>
          <p:cNvSpPr txBox="1"/>
          <p:nvPr/>
        </p:nvSpPr>
        <p:spPr>
          <a:xfrm>
            <a:off x="1737775" y="4095600"/>
            <a:ext cx="23490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Sezonalitate anual</a:t>
            </a:r>
            <a:r>
              <a:rPr lang="ro-RO" dirty="0"/>
              <a:t>ă</a:t>
            </a:r>
            <a:r>
              <a:rPr lang="en" dirty="0"/>
              <a:t>, nu se v</a:t>
            </a:r>
            <a:r>
              <a:rPr lang="ro-RO" dirty="0"/>
              <a:t>ă</a:t>
            </a:r>
            <a:r>
              <a:rPr lang="en" dirty="0"/>
              <a:t>d detalii lunare</a:t>
            </a:r>
            <a:endParaRPr dirty="0"/>
          </a:p>
        </p:txBody>
      </p:sp>
      <p:cxnSp>
        <p:nvCxnSpPr>
          <p:cNvPr id="257" name="Google Shape;257;p38"/>
          <p:cNvCxnSpPr>
            <a:stCxn id="256" idx="0"/>
          </p:cNvCxnSpPr>
          <p:nvPr/>
        </p:nvCxnSpPr>
        <p:spPr>
          <a:xfrm rot="10800000" flipH="1">
            <a:off x="2912275" y="3894600"/>
            <a:ext cx="161700" cy="20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8" name="Google Shape;258;p38"/>
          <p:cNvSpPr txBox="1"/>
          <p:nvPr/>
        </p:nvSpPr>
        <p:spPr>
          <a:xfrm>
            <a:off x="6026750" y="3894600"/>
            <a:ext cx="2758950" cy="8351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 observ</a:t>
            </a:r>
            <a:r>
              <a:rPr lang="ro-RO" dirty="0"/>
              <a:t>ă</a:t>
            </a:r>
            <a:r>
              <a:rPr lang="en" dirty="0"/>
              <a:t> activitate redus</a:t>
            </a:r>
            <a:r>
              <a:rPr lang="ro-RO" dirty="0"/>
              <a:t>ă</a:t>
            </a:r>
            <a:r>
              <a:rPr lang="en" dirty="0"/>
              <a:t> la </a:t>
            </a:r>
            <a:r>
              <a:rPr lang="ro-RO" dirty="0"/>
              <a:t>î</a:t>
            </a:r>
            <a:r>
              <a:rPr lang="en" dirty="0"/>
              <a:t>nceput de an </a:t>
            </a:r>
            <a:r>
              <a:rPr lang="ro-RO" dirty="0"/>
              <a:t>ș</a:t>
            </a:r>
            <a:r>
              <a:rPr lang="en" dirty="0"/>
              <a:t>i efectul sf</a:t>
            </a:r>
            <a:r>
              <a:rPr lang="ro-RO" dirty="0"/>
              <a:t>â</a:t>
            </a:r>
            <a:r>
              <a:rPr lang="en" dirty="0"/>
              <a:t>r</a:t>
            </a:r>
            <a:r>
              <a:rPr lang="ro-RO" dirty="0"/>
              <a:t>ș</a:t>
            </a:r>
            <a:r>
              <a:rPr lang="en" dirty="0"/>
              <a:t>itului de trimestru </a:t>
            </a:r>
            <a:r>
              <a:rPr lang="ro-RO" dirty="0"/>
              <a:t>î</a:t>
            </a:r>
            <a:r>
              <a:rPr lang="en" dirty="0"/>
              <a:t>n rest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B430E-FBA8-CD0C-E83A-3C124FD3DE88}"/>
              </a:ext>
            </a:extLst>
          </p:cNvPr>
          <p:cNvSpPr txBox="1"/>
          <p:nvPr/>
        </p:nvSpPr>
        <p:spPr>
          <a:xfrm>
            <a:off x="82550" y="1268016"/>
            <a:ext cx="8039100" cy="36722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3" name="Google Shape;263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snapshot</a:t>
            </a:r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 dirty="0"/>
              <a:t>Prezentare a metricii de interes - de exemplu procent de discount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65" name="Google Shape;2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56175"/>
            <a:ext cx="3451950" cy="25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9"/>
          <p:cNvPicPr preferRelativeResize="0"/>
          <p:nvPr/>
        </p:nvPicPr>
        <p:blipFill rotWithShape="1">
          <a:blip r:embed="rId4">
            <a:alphaModFix/>
          </a:blip>
          <a:srcRect t="4572" b="11083"/>
          <a:stretch/>
        </p:blipFill>
        <p:spPr>
          <a:xfrm>
            <a:off x="4153925" y="1835887"/>
            <a:ext cx="3853876" cy="243793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384225" y="4375025"/>
            <a:ext cx="3091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Imagine de ansamblu a venitului pe intervaluri de procent</a:t>
            </a:r>
            <a:r>
              <a:rPr lang="ro-RO" sz="1200" dirty="0"/>
              <a:t> de discount</a:t>
            </a:r>
            <a:endParaRPr sz="1200" dirty="0"/>
          </a:p>
        </p:txBody>
      </p:sp>
      <p:sp>
        <p:nvSpPr>
          <p:cNvPr id="268" name="Google Shape;268;p39"/>
          <p:cNvSpPr txBox="1"/>
          <p:nvPr/>
        </p:nvSpPr>
        <p:spPr>
          <a:xfrm>
            <a:off x="4789400" y="4375025"/>
            <a:ext cx="38907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Imagine de ansamblu a distribu</a:t>
            </a:r>
            <a:r>
              <a:rPr lang="ro-RO" sz="1200" dirty="0"/>
              <a:t>ț</a:t>
            </a:r>
            <a:r>
              <a:rPr lang="en" sz="1200" dirty="0"/>
              <a:t>iei num</a:t>
            </a:r>
            <a:r>
              <a:rPr lang="ro-RO" sz="1200" dirty="0"/>
              <a:t>ă</a:t>
            </a:r>
            <a:r>
              <a:rPr lang="en" sz="1200" dirty="0"/>
              <a:t>rului de reduceri pe interval de discount</a:t>
            </a:r>
            <a:endParaRPr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snapshot</a:t>
            </a:r>
            <a:endParaRPr/>
          </a:p>
        </p:txBody>
      </p:sp>
      <p:sp>
        <p:nvSpPr>
          <p:cNvPr id="274" name="Google Shape;274;p4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Num</a:t>
            </a:r>
            <a:r>
              <a:rPr lang="ro-RO" dirty="0"/>
              <a:t>ă</a:t>
            </a:r>
            <a:r>
              <a:rPr lang="en" dirty="0"/>
              <a:t>r de produse vs. num</a:t>
            </a:r>
            <a:r>
              <a:rPr lang="ro-RO" dirty="0"/>
              <a:t>ă</a:t>
            </a:r>
            <a:r>
              <a:rPr lang="en" dirty="0"/>
              <a:t>r de cump</a:t>
            </a:r>
            <a:r>
              <a:rPr lang="ro-RO" dirty="0"/>
              <a:t>ă</a:t>
            </a:r>
            <a:r>
              <a:rPr lang="en" dirty="0"/>
              <a:t>r</a:t>
            </a:r>
            <a:r>
              <a:rPr lang="ro-RO" dirty="0"/>
              <a:t>ă</a:t>
            </a:r>
            <a:r>
              <a:rPr lang="en" dirty="0"/>
              <a:t>tori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Poate indica cump</a:t>
            </a:r>
            <a:r>
              <a:rPr lang="ro-RO" dirty="0"/>
              <a:t>ă</a:t>
            </a:r>
            <a:r>
              <a:rPr lang="en" dirty="0"/>
              <a:t>r</a:t>
            </a:r>
            <a:r>
              <a:rPr lang="ro-RO" dirty="0"/>
              <a:t>ă</a:t>
            </a:r>
            <a:r>
              <a:rPr lang="en" dirty="0"/>
              <a:t>tori captivi, anomalii, poten</a:t>
            </a:r>
            <a:r>
              <a:rPr lang="ro-RO" dirty="0"/>
              <a:t>ț</a:t>
            </a:r>
            <a:r>
              <a:rPr lang="en" dirty="0"/>
              <a:t>ial de cross-sell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75" name="Google Shape;2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182" y="2043728"/>
            <a:ext cx="3900199" cy="292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8D4F2-E95D-53A0-3442-A4D1B54E4CF3}"/>
              </a:ext>
            </a:extLst>
          </p:cNvPr>
          <p:cNvSpPr/>
          <p:nvPr/>
        </p:nvSpPr>
        <p:spPr>
          <a:xfrm>
            <a:off x="2516552" y="1012196"/>
            <a:ext cx="5338398" cy="41313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Google Shape;280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snapshot</a:t>
            </a:r>
            <a:endParaRPr/>
          </a:p>
        </p:txBody>
      </p:sp>
      <p:sp>
        <p:nvSpPr>
          <p:cNvPr id="281" name="Google Shape;281;p4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analiza cumparatori/produse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Pareto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Top 20 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82" name="Google Shape;28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552" y="1268016"/>
            <a:ext cx="4951048" cy="374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11C78C-A1DF-9547-1810-E91AA832D17A}"/>
              </a:ext>
            </a:extLst>
          </p:cNvPr>
          <p:cNvSpPr txBox="1"/>
          <p:nvPr/>
        </p:nvSpPr>
        <p:spPr>
          <a:xfrm rot="16200000">
            <a:off x="1524000" y="2793999"/>
            <a:ext cx="2413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sz="1100" dirty="0"/>
              <a:t>Venit procentual cumulativ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F2B53-3D5F-6EB8-164E-8D4CEB530AA8}"/>
              </a:ext>
            </a:extLst>
          </p:cNvPr>
          <p:cNvSpPr txBox="1"/>
          <p:nvPr/>
        </p:nvSpPr>
        <p:spPr>
          <a:xfrm rot="16200000">
            <a:off x="6966542" y="2734633"/>
            <a:ext cx="1168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sz="1100" dirty="0"/>
              <a:t>Venit (mil USD)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snapshot</a:t>
            </a:r>
            <a:endParaRPr/>
          </a:p>
        </p:txBody>
      </p:sp>
      <p:sp>
        <p:nvSpPr>
          <p:cNvPr id="288" name="Google Shape;288;p4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dirty="0"/>
              <a:t>analiza detaliata pentru fiecare cump</a:t>
            </a:r>
            <a:r>
              <a:rPr lang="ro-RO" dirty="0"/>
              <a:t>ă</a:t>
            </a:r>
            <a:r>
              <a:rPr lang="en" dirty="0"/>
              <a:t>r</a:t>
            </a:r>
            <a:r>
              <a:rPr lang="ro-RO" dirty="0"/>
              <a:t>ă</a:t>
            </a:r>
            <a:r>
              <a:rPr lang="en" dirty="0"/>
              <a:t>tor de top  ca </a:t>
            </a:r>
            <a:r>
              <a:rPr lang="ro-RO" dirty="0"/>
              <a:t>ș</a:t>
            </a:r>
            <a:r>
              <a:rPr lang="en" dirty="0"/>
              <a:t>i venit  (e.g. primii 5)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Serie temporal</a:t>
            </a:r>
            <a:r>
              <a:rPr lang="ro-RO" dirty="0"/>
              <a:t>ă</a:t>
            </a:r>
            <a:r>
              <a:rPr lang="en" dirty="0"/>
              <a:t> cu venitul lunar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Prezentare venit pe (principalele) produse cumparate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Principal d.p.d.v. al venitului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Prezentare boxplot a metricii folosite pe produs sau pe luna	</a:t>
            </a:r>
            <a:endParaRPr dirty="0"/>
          </a:p>
        </p:txBody>
      </p:sp>
      <p:pic>
        <p:nvPicPr>
          <p:cNvPr id="289" name="Google Shape;289;p42"/>
          <p:cNvPicPr preferRelativeResize="0"/>
          <p:nvPr/>
        </p:nvPicPr>
        <p:blipFill rotWithShape="1">
          <a:blip r:embed="rId3">
            <a:alphaModFix/>
          </a:blip>
          <a:srcRect t="9122" b="18872"/>
          <a:stretch/>
        </p:blipFill>
        <p:spPr>
          <a:xfrm>
            <a:off x="4261350" y="2926088"/>
            <a:ext cx="3682151" cy="198957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2"/>
          <p:cNvSpPr txBox="1"/>
          <p:nvPr/>
        </p:nvSpPr>
        <p:spPr>
          <a:xfrm>
            <a:off x="550150" y="3545425"/>
            <a:ext cx="36327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Exemplu: procent de discount folosit de-alungul timpului in tranzactiile unui client pe produsele cumparate (axa 0x = produse cumparate)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 bene</a:t>
            </a:r>
            <a:endParaRPr/>
          </a:p>
        </p:txBody>
      </p:sp>
      <p:sp>
        <p:nvSpPr>
          <p:cNvPr id="296" name="Google Shape;296;p4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Exemplele de mai sus sunt orientative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alte investiga</a:t>
            </a:r>
            <a:r>
              <a:rPr lang="ro-RO" dirty="0"/>
              <a:t>ț</a:t>
            </a:r>
            <a:r>
              <a:rPr lang="en" dirty="0"/>
              <a:t>ii sunt binevenite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Ideal</a:t>
            </a:r>
            <a:r>
              <a:rPr lang="ro-RO" dirty="0"/>
              <a:t>ă</a:t>
            </a:r>
            <a:r>
              <a:rPr lang="en" dirty="0"/>
              <a:t> este automatizarea unui astfel de demers pentru consisten</a:t>
            </a:r>
            <a:r>
              <a:rPr lang="ro-RO" dirty="0"/>
              <a:t>ță</a:t>
            </a:r>
            <a:r>
              <a:rPr lang="en" dirty="0"/>
              <a:t> </a:t>
            </a:r>
            <a:r>
              <a:rPr lang="ro-RO" dirty="0"/>
              <a:t>ș</a:t>
            </a:r>
            <a:r>
              <a:rPr lang="en" dirty="0"/>
              <a:t>i standardizare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Studiu de caz</a:t>
            </a:r>
            <a:endParaRPr/>
          </a:p>
        </p:txBody>
      </p:sp>
      <p:sp>
        <p:nvSpPr>
          <p:cNvPr id="302" name="Google Shape;302;p4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O companie chimic</a:t>
            </a:r>
            <a:r>
              <a:rPr lang="ro-RO" dirty="0"/>
              <a:t>ă</a:t>
            </a:r>
            <a:r>
              <a:rPr lang="en" dirty="0"/>
              <a:t> a constatat </a:t>
            </a:r>
            <a:r>
              <a:rPr lang="ro-RO" dirty="0"/>
              <a:t>(î</a:t>
            </a:r>
            <a:r>
              <a:rPr lang="en" dirty="0"/>
              <a:t>n urma analizei preliminare a marjei de procent pe tipul de ambalare a unuia din produsele principale</a:t>
            </a:r>
            <a:r>
              <a:rPr lang="ro-RO" dirty="0"/>
              <a:t>)</a:t>
            </a:r>
            <a:r>
              <a:rPr lang="en" dirty="0"/>
              <a:t> c</a:t>
            </a:r>
            <a:r>
              <a:rPr lang="ro-RO" dirty="0"/>
              <a:t>ă</a:t>
            </a:r>
            <a:r>
              <a:rPr lang="en" dirty="0"/>
              <a:t> marja de venit era mai mic</a:t>
            </a:r>
            <a:r>
              <a:rPr lang="ro-RO" dirty="0"/>
              <a:t>ă</a:t>
            </a:r>
            <a:r>
              <a:rPr lang="en" dirty="0"/>
              <a:t> la recipiente mici (e.g. butoaie) dec</a:t>
            </a:r>
            <a:r>
              <a:rPr lang="ro-RO" dirty="0"/>
              <a:t>â</a:t>
            </a:r>
            <a:r>
              <a:rPr lang="en" dirty="0"/>
              <a:t>t la v</a:t>
            </a:r>
            <a:r>
              <a:rPr lang="ro-RO" dirty="0"/>
              <a:t>â</a:t>
            </a:r>
            <a:r>
              <a:rPr lang="en" dirty="0"/>
              <a:t>nzarea vrac la containere, ceea ce ducea la scurgeri de venit.</a:t>
            </a:r>
            <a:endParaRPr dirty="0"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675" y="2643425"/>
            <a:ext cx="4256275" cy="23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Studiu de caz</a:t>
            </a:r>
            <a:endParaRPr/>
          </a:p>
        </p:txBody>
      </p:sp>
      <p:sp>
        <p:nvSpPr>
          <p:cNvPr id="309" name="Google Shape;309;p45"/>
          <p:cNvSpPr txBox="1">
            <a:spLocks noGrp="1"/>
          </p:cNvSpPr>
          <p:nvPr>
            <p:ph idx="1"/>
          </p:nvPr>
        </p:nvSpPr>
        <p:spPr>
          <a:xfrm>
            <a:off x="628650" y="1369219"/>
            <a:ext cx="4409281" cy="3263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La preluarea de date de la o companie s-a specificat c</a:t>
            </a:r>
            <a:r>
              <a:rPr lang="ro-RO" sz="1400" dirty="0"/>
              <a:t>ă</a:t>
            </a:r>
            <a:r>
              <a:rPr lang="en" sz="1400" dirty="0"/>
              <a:t> </a:t>
            </a:r>
            <a:r>
              <a:rPr lang="en" sz="1400" b="1" dirty="0"/>
              <a:t>doar o mic</a:t>
            </a:r>
            <a:r>
              <a:rPr lang="ro-RO" sz="1400" b="1" dirty="0"/>
              <a:t>ă</a:t>
            </a:r>
            <a:r>
              <a:rPr lang="en" sz="1400" b="1" dirty="0"/>
              <a:t> parte a clien</a:t>
            </a:r>
            <a:r>
              <a:rPr lang="ro-RO" sz="1400" b="1" dirty="0"/>
              <a:t>ț</a:t>
            </a:r>
            <a:r>
              <a:rPr lang="en" sz="1400" b="1" dirty="0"/>
              <a:t>ilor nu sunt sub contract</a:t>
            </a:r>
            <a:r>
              <a:rPr lang="ro-RO" sz="1400" b="1" dirty="0"/>
              <a:t> </a:t>
            </a:r>
            <a:r>
              <a:rPr lang="ro-RO" sz="1400" dirty="0"/>
              <a:t>– toate facturile sunt negociate pe termen lung, </a:t>
            </a:r>
            <a:r>
              <a:rPr lang="ro-RO" sz="1400" b="1" dirty="0"/>
              <a:t>marjele fiind deci relativ mici din cauza volumelor mari</a:t>
            </a:r>
            <a:r>
              <a:rPr lang="en" sz="1400" dirty="0"/>
              <a:t>. 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/>
              <a:t>O analiz</a:t>
            </a:r>
            <a:r>
              <a:rPr lang="ro-RO" sz="1400" dirty="0"/>
              <a:t>ă</a:t>
            </a:r>
            <a:r>
              <a:rPr lang="en" sz="1400" dirty="0"/>
              <a:t> a </a:t>
            </a:r>
            <a:r>
              <a:rPr lang="ro-RO" sz="1400" dirty="0"/>
              <a:t>datelor primite </a:t>
            </a:r>
            <a:r>
              <a:rPr lang="en" sz="1400" dirty="0"/>
              <a:t>a scos </a:t>
            </a:r>
            <a:r>
              <a:rPr lang="ro-RO" sz="1400" dirty="0"/>
              <a:t>î</a:t>
            </a:r>
            <a:r>
              <a:rPr lang="en" sz="1400" dirty="0"/>
              <a:t>n eviden</a:t>
            </a:r>
            <a:r>
              <a:rPr lang="ro-RO" sz="1400" dirty="0"/>
              <a:t>ță</a:t>
            </a:r>
            <a:r>
              <a:rPr lang="en" sz="1400" dirty="0"/>
              <a:t> </a:t>
            </a:r>
            <a:r>
              <a:rPr lang="ro-RO" sz="1400" dirty="0"/>
              <a:t>produse pentru care</a:t>
            </a:r>
            <a:r>
              <a:rPr lang="en" sz="1400" dirty="0"/>
              <a:t> </a:t>
            </a:r>
            <a:r>
              <a:rPr lang="ro-RO" sz="1400" dirty="0"/>
              <a:t>în medie, </a:t>
            </a:r>
            <a:r>
              <a:rPr lang="en" sz="1400" dirty="0"/>
              <a:t>tranzac</a:t>
            </a:r>
            <a:r>
              <a:rPr lang="ro-RO" sz="1400" dirty="0"/>
              <a:t>ț</a:t>
            </a:r>
            <a:r>
              <a:rPr lang="en" sz="1400" dirty="0"/>
              <a:t>ii</a:t>
            </a:r>
            <a:r>
              <a:rPr lang="ro-RO" sz="1400" dirty="0"/>
              <a:t>le clienților cu contract aveau</a:t>
            </a:r>
            <a:r>
              <a:rPr lang="en" sz="1400" dirty="0"/>
              <a:t> marja procentual</a:t>
            </a:r>
            <a:r>
              <a:rPr lang="ro-RO" sz="1400" dirty="0"/>
              <a:t>ă</a:t>
            </a:r>
            <a:r>
              <a:rPr lang="en" sz="1400" dirty="0"/>
              <a:t> mai mare dec</a:t>
            </a:r>
            <a:r>
              <a:rPr lang="ro-RO" sz="1400" dirty="0"/>
              <a:t>â</a:t>
            </a:r>
            <a:r>
              <a:rPr lang="en" sz="1400" dirty="0"/>
              <a:t>t </a:t>
            </a:r>
            <a:r>
              <a:rPr lang="ro-RO" sz="1400" dirty="0"/>
              <a:t>tranzacțiile celorlalți clienți</a:t>
            </a:r>
            <a:r>
              <a:rPr lang="en" sz="1400" dirty="0"/>
              <a:t> </a:t>
            </a:r>
            <a:r>
              <a:rPr lang="ro-RO" sz="1400" dirty="0"/>
              <a:t>cu</a:t>
            </a:r>
            <a:r>
              <a:rPr lang="en" sz="1400" dirty="0"/>
              <a:t> </a:t>
            </a:r>
            <a:r>
              <a:rPr lang="ro-RO" sz="1400" dirty="0"/>
              <a:t>aceleași</a:t>
            </a:r>
            <a:r>
              <a:rPr lang="en" sz="1400" dirty="0"/>
              <a:t> produse.</a:t>
            </a:r>
            <a:r>
              <a:rPr lang="ro-RO" sz="1400" dirty="0"/>
              <a:t> (De ce nu e în regulă?).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o-RO" sz="1400" dirty="0"/>
              <a:t>A</a:t>
            </a:r>
            <a:r>
              <a:rPr lang="en" sz="1400" dirty="0"/>
              <a:t>nomalia a fost elucidat</a:t>
            </a:r>
            <a:r>
              <a:rPr lang="ro-RO" sz="1400" dirty="0"/>
              <a:t>ă</a:t>
            </a:r>
            <a:r>
              <a:rPr lang="en" sz="1400" dirty="0"/>
              <a:t>, datele primite de</a:t>
            </a:r>
            <a:r>
              <a:rPr lang="ro-RO" sz="1400" dirty="0"/>
              <a:t>ș</a:t>
            </a:r>
            <a:r>
              <a:rPr lang="en" sz="1400" dirty="0"/>
              <a:t>i erau de la </a:t>
            </a:r>
            <a:r>
              <a:rPr lang="ro-RO" sz="1400" dirty="0"/>
              <a:t>clienți</a:t>
            </a:r>
            <a:r>
              <a:rPr lang="en" sz="1400" dirty="0"/>
              <a:t> </a:t>
            </a:r>
            <a:r>
              <a:rPr lang="ro-RO" sz="1400" dirty="0"/>
              <a:t>cu</a:t>
            </a:r>
            <a:r>
              <a:rPr lang="en" sz="1400" dirty="0"/>
              <a:t> contracte pe termen lung, erau </a:t>
            </a:r>
            <a:r>
              <a:rPr lang="ro-RO" sz="1400" dirty="0"/>
              <a:t>î</a:t>
            </a:r>
            <a:r>
              <a:rPr lang="en" sz="1400" dirty="0"/>
              <a:t>n majoritate pentru </a:t>
            </a:r>
            <a:r>
              <a:rPr lang="ro-RO" sz="1400" dirty="0"/>
              <a:t>produse</a:t>
            </a:r>
            <a:r>
              <a:rPr lang="en" sz="1400" dirty="0"/>
              <a:t> </a:t>
            </a:r>
            <a:r>
              <a:rPr lang="ro-RO" sz="1400" dirty="0"/>
              <a:t>î</a:t>
            </a:r>
            <a:r>
              <a:rPr lang="en" sz="1400" dirty="0"/>
              <a:t>n afara contractului - aceste </a:t>
            </a:r>
            <a:r>
              <a:rPr lang="ro-RO" sz="1400" dirty="0"/>
              <a:t>tranzacții</a:t>
            </a:r>
            <a:r>
              <a:rPr lang="en" sz="1400" dirty="0"/>
              <a:t> erau negociate pe loc, astfel explic</a:t>
            </a:r>
            <a:r>
              <a:rPr lang="ro-RO" sz="1400" dirty="0"/>
              <a:t>â</a:t>
            </a:r>
            <a:r>
              <a:rPr lang="en" sz="1400" dirty="0"/>
              <a:t>ndu-se marja mai mare de venit observat</a:t>
            </a:r>
            <a:r>
              <a:rPr lang="ro-RO" sz="1400" dirty="0"/>
              <a:t>ă</a:t>
            </a:r>
            <a:r>
              <a:rPr lang="en" sz="1400" dirty="0"/>
              <a:t>.</a:t>
            </a:r>
            <a:endParaRPr sz="1400" dirty="0"/>
          </a:p>
        </p:txBody>
      </p:sp>
      <p:pic>
        <p:nvPicPr>
          <p:cNvPr id="310" name="Google Shape;31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931" y="1474375"/>
            <a:ext cx="3730575" cy="2784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Exemplu din Pricing: Cascada pre</a:t>
            </a:r>
            <a:r>
              <a:rPr lang="ro-RO" dirty="0"/>
              <a:t>ț</a:t>
            </a:r>
            <a:r>
              <a:rPr lang="en" dirty="0"/>
              <a:t>urilor</a:t>
            </a:r>
            <a:endParaRPr dirty="0"/>
          </a:p>
        </p:txBody>
      </p:sp>
      <p:sp>
        <p:nvSpPr>
          <p:cNvPr id="315" name="Google Shape;315;p4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Permite analiza granular</a:t>
            </a:r>
            <a:r>
              <a:rPr lang="ro-RO" dirty="0"/>
              <a:t>ă</a:t>
            </a:r>
            <a:r>
              <a:rPr lang="en" dirty="0"/>
              <a:t> a oricarei tranzac</a:t>
            </a:r>
            <a:r>
              <a:rPr lang="ro-RO" dirty="0"/>
              <a:t>ț</a:t>
            </a:r>
            <a:r>
              <a:rPr lang="en" dirty="0"/>
              <a:t>ii </a:t>
            </a:r>
            <a:r>
              <a:rPr lang="ro-RO" dirty="0"/>
              <a:t>ș</a:t>
            </a:r>
            <a:r>
              <a:rPr lang="en" dirty="0"/>
              <a:t>i este esen</a:t>
            </a:r>
            <a:r>
              <a:rPr lang="ro-RO" dirty="0"/>
              <a:t>ț</a:t>
            </a:r>
            <a:r>
              <a:rPr lang="en" dirty="0"/>
              <a:t>ial</a:t>
            </a:r>
            <a:r>
              <a:rPr lang="ro-RO" dirty="0"/>
              <a:t>ă</a:t>
            </a:r>
            <a:r>
              <a:rPr lang="en" dirty="0"/>
              <a:t> in vederea optimiz</a:t>
            </a:r>
            <a:r>
              <a:rPr lang="ro-RO" dirty="0"/>
              <a:t>ă</a:t>
            </a:r>
            <a:r>
              <a:rPr lang="en" dirty="0"/>
              <a:t>rii pre</a:t>
            </a:r>
            <a:r>
              <a:rPr lang="ro-RO" dirty="0"/>
              <a:t>ț</a:t>
            </a:r>
            <a:r>
              <a:rPr lang="en" dirty="0"/>
              <a:t>urilor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Compararea cu media grupului indic</a:t>
            </a:r>
            <a:r>
              <a:rPr lang="ro-RO" dirty="0"/>
              <a:t>ă</a:t>
            </a:r>
            <a:r>
              <a:rPr lang="en" dirty="0"/>
              <a:t> oportunit</a:t>
            </a:r>
            <a:r>
              <a:rPr lang="ro-RO" dirty="0"/>
              <a:t>ăț</a:t>
            </a:r>
            <a:r>
              <a:rPr lang="en" dirty="0"/>
              <a:t>i </a:t>
            </a:r>
            <a:r>
              <a:rPr lang="ro-RO" dirty="0"/>
              <a:t>ș</a:t>
            </a:r>
            <a:r>
              <a:rPr lang="en" dirty="0"/>
              <a:t>i/sau anomalii</a:t>
            </a:r>
            <a:endParaRPr dirty="0"/>
          </a:p>
        </p:txBody>
      </p:sp>
      <p:pic>
        <p:nvPicPr>
          <p:cNvPr id="316" name="Google Shape;31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061" y="2640416"/>
            <a:ext cx="6012849" cy="23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6"/>
          <p:cNvSpPr txBox="1"/>
          <p:nvPr/>
        </p:nvSpPr>
        <p:spPr>
          <a:xfrm>
            <a:off x="6097836" y="2456516"/>
            <a:ext cx="1737900" cy="820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Vizualizarea datelor</a:t>
            </a:r>
            <a:endParaRPr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C99618C-6A04-4239-B455-C2AE23F41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8"/>
          <p:cNvPicPr preferRelativeResize="0"/>
          <p:nvPr/>
        </p:nvPicPr>
        <p:blipFill rotWithShape="1">
          <a:blip r:embed="rId3">
            <a:alphaModFix/>
          </a:blip>
          <a:srcRect t="6933"/>
          <a:stretch/>
        </p:blipFill>
        <p:spPr>
          <a:xfrm>
            <a:off x="1063481" y="0"/>
            <a:ext cx="7017030" cy="50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Vizualizarea datelor</a:t>
            </a:r>
            <a:endParaRPr/>
          </a:p>
        </p:txBody>
      </p:sp>
      <p:sp>
        <p:nvSpPr>
          <p:cNvPr id="334" name="Google Shape;334;p4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o-RO" dirty="0"/>
              <a:t>Î</a:t>
            </a:r>
            <a:r>
              <a:rPr lang="en" dirty="0"/>
              <a:t>n analiza preliminar</a:t>
            </a:r>
            <a:r>
              <a:rPr lang="ro-RO" dirty="0"/>
              <a:t>ă</a:t>
            </a:r>
            <a:r>
              <a:rPr lang="en" dirty="0"/>
              <a:t> am v</a:t>
            </a:r>
            <a:r>
              <a:rPr lang="ro-RO" dirty="0"/>
              <a:t>ă</a:t>
            </a:r>
            <a:r>
              <a:rPr lang="en" dirty="0"/>
              <a:t>zut deja c</a:t>
            </a:r>
            <a:r>
              <a:rPr lang="ro-RO" dirty="0"/>
              <a:t>â</a:t>
            </a:r>
            <a:r>
              <a:rPr lang="en" dirty="0"/>
              <a:t>teva moduri de a privi datele de tip CRM</a:t>
            </a:r>
            <a:r>
              <a:rPr lang="ro-RO" dirty="0"/>
              <a:t>/ERP</a:t>
            </a:r>
            <a:r>
              <a:rPr lang="en" dirty="0"/>
              <a:t> 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en" dirty="0"/>
              <a:t>Vizualizarea datelor este o arta </a:t>
            </a:r>
            <a:r>
              <a:rPr lang="ro-RO" dirty="0"/>
              <a:t>ș</a:t>
            </a:r>
            <a:r>
              <a:rPr lang="en" dirty="0"/>
              <a:t>i o meserie </a:t>
            </a:r>
            <a:r>
              <a:rPr lang="ro-RO" dirty="0"/>
              <a:t>î</a:t>
            </a:r>
            <a:r>
              <a:rPr lang="en" dirty="0"/>
              <a:t>n sine 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https://d3js.org/</a:t>
            </a:r>
            <a:endParaRPr sz="1400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https://www.ted.com/talks/hans_rosling_shows_the_best_stats_you_ve_ever_seen</a:t>
            </a:r>
            <a:endParaRPr sz="1400" dirty="0">
              <a:solidFill>
                <a:schemeClr val="hlink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sz="1400" u="sng" dirty="0">
                <a:solidFill>
                  <a:schemeClr val="hlink"/>
                </a:solidFill>
                <a:hlinkClick r:id="rId5"/>
              </a:rPr>
              <a:t>https://plotly.com/</a:t>
            </a:r>
            <a:endParaRPr lang="en-US" sz="1400" u="sng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1183</Words>
  <Application>Microsoft Office PowerPoint</Application>
  <PresentationFormat>On-screen Show (16:9)</PresentationFormat>
  <Paragraphs>117</Paragraphs>
  <Slides>20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 Light</vt:lpstr>
      <vt:lpstr>Arial</vt:lpstr>
      <vt:lpstr>Open Sans</vt:lpstr>
      <vt:lpstr>Economica</vt:lpstr>
      <vt:lpstr>Calibri</vt:lpstr>
      <vt:lpstr>office theme</vt:lpstr>
      <vt:lpstr>Luxe</vt:lpstr>
      <vt:lpstr>ADS1 - Curs 3 Vizualizarea datelor </vt:lpstr>
      <vt:lpstr>Agendă</vt:lpstr>
      <vt:lpstr>Exemple de analiză și vizualizare în date ERP</vt:lpstr>
      <vt:lpstr>Statistică Descriptivă - Studiu de Caz</vt:lpstr>
      <vt:lpstr>Statistică Descriptivă - Studiu de Caz</vt:lpstr>
      <vt:lpstr>Statistică Descriptivă</vt:lpstr>
      <vt:lpstr>Statistică Descriptivă - studiu de caz</vt:lpstr>
      <vt:lpstr>Analiza datelor</vt:lpstr>
      <vt:lpstr>Data snapshot</vt:lpstr>
      <vt:lpstr>Data snapshot</vt:lpstr>
      <vt:lpstr>Data snapshot</vt:lpstr>
      <vt:lpstr>Data snapshot</vt:lpstr>
      <vt:lpstr>Data snapshot</vt:lpstr>
      <vt:lpstr>Nota bene</vt:lpstr>
      <vt:lpstr>Studiu de caz</vt:lpstr>
      <vt:lpstr>Studiu de caz</vt:lpstr>
      <vt:lpstr>Exemplu din Pricing: Cascada prețurilor</vt:lpstr>
      <vt:lpstr>Vizualizarea datelor</vt:lpstr>
      <vt:lpstr>PowerPoint Presentation</vt:lpstr>
      <vt:lpstr>Vizualizarea datelor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4</dc:title>
  <cp:lastModifiedBy>Stefan Bildea</cp:lastModifiedBy>
  <cp:revision>10</cp:revision>
  <dcterms:modified xsi:type="dcterms:W3CDTF">2025-10-19T15:51:58Z</dcterms:modified>
</cp:coreProperties>
</file>