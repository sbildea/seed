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31"/>
  </p:notesMasterIdLst>
  <p:sldIdLst>
    <p:sldId id="256" r:id="rId2"/>
    <p:sldId id="258" r:id="rId3"/>
    <p:sldId id="261" r:id="rId4"/>
    <p:sldId id="259" r:id="rId5"/>
    <p:sldId id="260" r:id="rId6"/>
    <p:sldId id="294" r:id="rId7"/>
    <p:sldId id="322" r:id="rId8"/>
    <p:sldId id="300" r:id="rId9"/>
    <p:sldId id="301" r:id="rId10"/>
    <p:sldId id="296" r:id="rId11"/>
    <p:sldId id="293" r:id="rId12"/>
    <p:sldId id="295" r:id="rId13"/>
    <p:sldId id="297" r:id="rId14"/>
    <p:sldId id="302" r:id="rId15"/>
    <p:sldId id="304" r:id="rId16"/>
    <p:sldId id="308" r:id="rId17"/>
    <p:sldId id="303" r:id="rId18"/>
    <p:sldId id="314" r:id="rId19"/>
    <p:sldId id="312" r:id="rId20"/>
    <p:sldId id="310" r:id="rId21"/>
    <p:sldId id="311" r:id="rId22"/>
    <p:sldId id="317" r:id="rId23"/>
    <p:sldId id="316" r:id="rId24"/>
    <p:sldId id="319" r:id="rId25"/>
    <p:sldId id="318" r:id="rId26"/>
    <p:sldId id="321" r:id="rId27"/>
    <p:sldId id="307" r:id="rId28"/>
    <p:sldId id="305" r:id="rId29"/>
    <p:sldId id="306" r:id="rId3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765D9A-5B29-4FE0-BD4B-011D1141B641}">
  <a:tblStyle styleId="{19765D9A-5B29-4FE0-BD4B-011D1141B64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13" autoAdjust="0"/>
    <p:restoredTop sz="94660"/>
  </p:normalViewPr>
  <p:slideViewPr>
    <p:cSldViewPr snapToGrid="0">
      <p:cViewPr>
        <p:scale>
          <a:sx n="90" d="100"/>
          <a:sy n="90" d="100"/>
        </p:scale>
        <p:origin x="608" y="-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Bildea" userId="14ee9846484ecb5c" providerId="LiveId" clId="{83BE690E-A8E1-4F39-93E0-6C6F611EAF9A}"/>
    <pc:docChg chg="undo custSel addSld delSld modSld">
      <pc:chgData name="Stefan Bildea" userId="14ee9846484ecb5c" providerId="LiveId" clId="{83BE690E-A8E1-4F39-93E0-6C6F611EAF9A}" dt="2021-10-20T06:41:23.697" v="561" actId="47"/>
      <pc:docMkLst>
        <pc:docMk/>
      </pc:docMkLst>
      <pc:sldChg chg="modSp mod modClrScheme chgLayout">
        <pc:chgData name="Stefan Bildea" userId="14ee9846484ecb5c" providerId="LiveId" clId="{83BE690E-A8E1-4F39-93E0-6C6F611EAF9A}" dt="2021-10-19T15:46:42.525" v="52" actId="20577"/>
        <pc:sldMkLst>
          <pc:docMk/>
          <pc:sldMk cId="0" sldId="256"/>
        </pc:sldMkLst>
        <pc:spChg chg="mod ord">
          <ac:chgData name="Stefan Bildea" userId="14ee9846484ecb5c" providerId="LiveId" clId="{83BE690E-A8E1-4F39-93E0-6C6F611EAF9A}" dt="2021-10-19T15:46:42.525" v="52" actId="20577"/>
          <ac:spMkLst>
            <pc:docMk/>
            <pc:sldMk cId="0" sldId="256"/>
            <ac:spMk id="62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45:52.405" v="2" actId="6549"/>
          <ac:spMkLst>
            <pc:docMk/>
            <pc:sldMk cId="0" sldId="256"/>
            <ac:spMk id="63" creationId="{00000000-0000-0000-0000-000000000000}"/>
          </ac:spMkLst>
        </pc:spChg>
      </pc:sldChg>
      <pc:sldChg chg="addSp delSp modSp del mod modClrScheme chgLayout">
        <pc:chgData name="Stefan Bildea" userId="14ee9846484ecb5c" providerId="LiveId" clId="{83BE690E-A8E1-4F39-93E0-6C6F611EAF9A}" dt="2021-10-19T16:13:13.958" v="471" actId="47"/>
        <pc:sldMkLst>
          <pc:docMk/>
          <pc:sldMk cId="0" sldId="257"/>
        </pc:sldMkLst>
        <pc:spChg chg="add del mod ord">
          <ac:chgData name="Stefan Bildea" userId="14ee9846484ecb5c" providerId="LiveId" clId="{83BE690E-A8E1-4F39-93E0-6C6F611EAF9A}" dt="2021-10-19T15:47:05.471" v="54" actId="700"/>
          <ac:spMkLst>
            <pc:docMk/>
            <pc:sldMk cId="0" sldId="257"/>
            <ac:spMk id="2" creationId="{DF82A4BA-82EC-4592-BA03-BCD947D16460}"/>
          </ac:spMkLst>
        </pc:spChg>
        <pc:spChg chg="add mod ord">
          <ac:chgData name="Stefan Bildea" userId="14ee9846484ecb5c" providerId="LiveId" clId="{83BE690E-A8E1-4F39-93E0-6C6F611EAF9A}" dt="2021-10-19T15:48:10.146" v="58" actId="14100"/>
          <ac:spMkLst>
            <pc:docMk/>
            <pc:sldMk cId="0" sldId="257"/>
            <ac:spMk id="3" creationId="{F3761CD9-DA74-464F-A062-ACD3836BD319}"/>
          </ac:spMkLst>
        </pc:spChg>
        <pc:spChg chg="mod ord">
          <ac:chgData name="Stefan Bildea" userId="14ee9846484ecb5c" providerId="LiveId" clId="{83BE690E-A8E1-4F39-93E0-6C6F611EAF9A}" dt="2021-10-19T15:47:53.527" v="55" actId="700"/>
          <ac:spMkLst>
            <pc:docMk/>
            <pc:sldMk cId="0" sldId="257"/>
            <ac:spMk id="68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48:05.354" v="56" actId="21"/>
          <ac:spMkLst>
            <pc:docMk/>
            <pc:sldMk cId="0" sldId="257"/>
            <ac:spMk id="69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6:13:23.787" v="473" actId="20577"/>
        <pc:sldMkLst>
          <pc:docMk/>
          <pc:sldMk cId="0" sldId="258"/>
        </pc:sldMkLst>
        <pc:spChg chg="add del mod ord">
          <ac:chgData name="Stefan Bildea" userId="14ee9846484ecb5c" providerId="LiveId" clId="{83BE690E-A8E1-4F39-93E0-6C6F611EAF9A}" dt="2021-10-19T15:47:05.471" v="54" actId="700"/>
          <ac:spMkLst>
            <pc:docMk/>
            <pc:sldMk cId="0" sldId="258"/>
            <ac:spMk id="2" creationId="{D973AC29-06DF-483D-A289-E6C35B92981B}"/>
          </ac:spMkLst>
        </pc:spChg>
        <pc:spChg chg="add del mod ord">
          <ac:chgData name="Stefan Bildea" userId="14ee9846484ecb5c" providerId="LiveId" clId="{83BE690E-A8E1-4F39-93E0-6C6F611EAF9A}" dt="2021-10-19T15:48:49.389" v="61" actId="700"/>
          <ac:spMkLst>
            <pc:docMk/>
            <pc:sldMk cId="0" sldId="258"/>
            <ac:spMk id="3" creationId="{954B0647-B943-4235-87D7-F80BB22F370D}"/>
          </ac:spMkLst>
        </pc:spChg>
        <pc:spChg chg="add del mod ord">
          <ac:chgData name="Stefan Bildea" userId="14ee9846484ecb5c" providerId="LiveId" clId="{83BE690E-A8E1-4F39-93E0-6C6F611EAF9A}" dt="2021-10-19T15:49:37.892" v="80" actId="478"/>
          <ac:spMkLst>
            <pc:docMk/>
            <pc:sldMk cId="0" sldId="258"/>
            <ac:spMk id="4" creationId="{01B5DAF2-46D7-4514-B54B-DA36F1329908}"/>
          </ac:spMkLst>
        </pc:spChg>
        <pc:spChg chg="mod ord">
          <ac:chgData name="Stefan Bildea" userId="14ee9846484ecb5c" providerId="LiveId" clId="{83BE690E-A8E1-4F39-93E0-6C6F611EAF9A}" dt="2021-10-19T16:13:18.125" v="472" actId="20577"/>
          <ac:spMkLst>
            <pc:docMk/>
            <pc:sldMk cId="0" sldId="258"/>
            <ac:spMk id="7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13:23.787" v="473" actId="20577"/>
          <ac:spMkLst>
            <pc:docMk/>
            <pc:sldMk cId="0" sldId="258"/>
            <ac:spMk id="76" creationId="{00000000-0000-0000-0000-000000000000}"/>
          </ac:spMkLst>
        </pc:spChg>
        <pc:spChg chg="add del mod ord">
          <ac:chgData name="Stefan Bildea" userId="14ee9846484ecb5c" providerId="LiveId" clId="{83BE690E-A8E1-4F39-93E0-6C6F611EAF9A}" dt="2021-10-19T15:49:01.380" v="62" actId="700"/>
          <ac:spMkLst>
            <pc:docMk/>
            <pc:sldMk cId="0" sldId="258"/>
            <ac:spMk id="77" creationId="{00000000-0000-0000-0000-000000000000}"/>
          </ac:spMkLst>
        </pc:spChg>
      </pc:sldChg>
      <pc:sldChg chg="addSp modSp mod modClrScheme chgLayout">
        <pc:chgData name="Stefan Bildea" userId="14ee9846484ecb5c" providerId="LiveId" clId="{83BE690E-A8E1-4F39-93E0-6C6F611EAF9A}" dt="2021-10-19T15:49:50.268" v="82" actId="700"/>
        <pc:sldMkLst>
          <pc:docMk/>
          <pc:sldMk cId="0" sldId="259"/>
        </pc:sldMkLst>
        <pc:spChg chg="add mod ord">
          <ac:chgData name="Stefan Bildea" userId="14ee9846484ecb5c" providerId="LiveId" clId="{83BE690E-A8E1-4F39-93E0-6C6F611EAF9A}" dt="2021-10-19T15:49:50.268" v="82" actId="700"/>
          <ac:spMkLst>
            <pc:docMk/>
            <pc:sldMk cId="0" sldId="259"/>
            <ac:spMk id="2" creationId="{5300290A-F9C8-4CE1-B584-57806B169BC0}"/>
          </ac:spMkLst>
        </pc:spChg>
        <pc:spChg chg="mod ord">
          <ac:chgData name="Stefan Bildea" userId="14ee9846484ecb5c" providerId="LiveId" clId="{83BE690E-A8E1-4F39-93E0-6C6F611EAF9A}" dt="2021-10-19T15:49:50.268" v="82" actId="700"/>
          <ac:spMkLst>
            <pc:docMk/>
            <pc:sldMk cId="0" sldId="259"/>
            <ac:spMk id="82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0:09.124" v="83" actId="700"/>
        <pc:sldMkLst>
          <pc:docMk/>
          <pc:sldMk cId="0" sldId="260"/>
        </pc:sldMkLst>
        <pc:spChg chg="mod ord">
          <ac:chgData name="Stefan Bildea" userId="14ee9846484ecb5c" providerId="LiveId" clId="{83BE690E-A8E1-4F39-93E0-6C6F611EAF9A}" dt="2021-10-19T15:50:09.124" v="83" actId="700"/>
          <ac:spMkLst>
            <pc:docMk/>
            <pc:sldMk cId="0" sldId="260"/>
            <ac:spMk id="87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0:09.124" v="83" actId="700"/>
          <ac:spMkLst>
            <pc:docMk/>
            <pc:sldMk cId="0" sldId="260"/>
            <ac:spMk id="88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0:33.948" v="84" actId="700"/>
        <pc:sldMkLst>
          <pc:docMk/>
          <pc:sldMk cId="0" sldId="261"/>
        </pc:sldMkLst>
        <pc:spChg chg="mod ord">
          <ac:chgData name="Stefan Bildea" userId="14ee9846484ecb5c" providerId="LiveId" clId="{83BE690E-A8E1-4F39-93E0-6C6F611EAF9A}" dt="2021-10-19T15:50:33.948" v="84" actId="700"/>
          <ac:spMkLst>
            <pc:docMk/>
            <pc:sldMk cId="0" sldId="261"/>
            <ac:spMk id="9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0:33.948" v="84" actId="700"/>
          <ac:spMkLst>
            <pc:docMk/>
            <pc:sldMk cId="0" sldId="261"/>
            <ac:spMk id="96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0:47.396" v="85" actId="700"/>
        <pc:sldMkLst>
          <pc:docMk/>
          <pc:sldMk cId="0" sldId="262"/>
        </pc:sldMkLst>
        <pc:spChg chg="mod ord">
          <ac:chgData name="Stefan Bildea" userId="14ee9846484ecb5c" providerId="LiveId" clId="{83BE690E-A8E1-4F39-93E0-6C6F611EAF9A}" dt="2021-10-19T15:50:47.396" v="85" actId="700"/>
          <ac:spMkLst>
            <pc:docMk/>
            <pc:sldMk cId="0" sldId="262"/>
            <ac:spMk id="101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0:47.396" v="85" actId="700"/>
          <ac:spMkLst>
            <pc:docMk/>
            <pc:sldMk cId="0" sldId="262"/>
            <ac:spMk id="102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1:21.774" v="87" actId="14100"/>
        <pc:sldMkLst>
          <pc:docMk/>
          <pc:sldMk cId="0" sldId="263"/>
        </pc:sldMkLst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3"/>
            <ac:spMk id="107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1:21.774" v="87" actId="14100"/>
          <ac:spMkLst>
            <pc:docMk/>
            <pc:sldMk cId="0" sldId="263"/>
            <ac:spMk id="108" creationId="{00000000-0000-0000-0000-000000000000}"/>
          </ac:spMkLst>
        </pc:spChg>
      </pc:sldChg>
      <pc:sldChg chg="modSp mod setBg modClrScheme chgLayout">
        <pc:chgData name="Stefan Bildea" userId="14ee9846484ecb5c" providerId="LiveId" clId="{83BE690E-A8E1-4F39-93E0-6C6F611EAF9A}" dt="2021-10-19T15:55:37.930" v="133" actId="1076"/>
        <pc:sldMkLst>
          <pc:docMk/>
          <pc:sldMk cId="0" sldId="264"/>
        </pc:sldMkLst>
        <pc:spChg chg="mod ord">
          <ac:chgData name="Stefan Bildea" userId="14ee9846484ecb5c" providerId="LiveId" clId="{83BE690E-A8E1-4F39-93E0-6C6F611EAF9A}" dt="2021-10-19T15:55:37.930" v="133" actId="1076"/>
          <ac:spMkLst>
            <pc:docMk/>
            <pc:sldMk cId="0" sldId="264"/>
            <ac:spMk id="11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2:56.774" v="123" actId="14100"/>
          <ac:spMkLst>
            <pc:docMk/>
            <pc:sldMk cId="0" sldId="264"/>
            <ac:spMk id="116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5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5"/>
            <ac:spMk id="2" creationId="{1761E871-26BD-4E91-AD1E-0057C3251A72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5"/>
            <ac:spMk id="121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5"/>
            <ac:spMk id="122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6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6"/>
            <ac:spMk id="2" creationId="{75444D6C-4672-437E-B59B-971AD5950050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6"/>
            <ac:spMk id="128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6"/>
            <ac:spMk id="129" creationId="{00000000-0000-0000-0000-000000000000}"/>
          </ac:spMkLst>
        </pc:spChg>
      </pc:sldChg>
      <pc:sldChg chg="add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7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7"/>
            <ac:spMk id="2" creationId="{63DEF153-2183-4FA8-943A-562F513D954F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7"/>
            <ac:spMk id="135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8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8"/>
            <ac:spMk id="2" creationId="{4A3E9FDE-E414-45CC-84A5-487152EFAA3E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8"/>
            <ac:spMk id="142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8"/>
            <ac:spMk id="143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69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9"/>
            <ac:spMk id="2" creationId="{22647864-D19F-4FE3-9EDB-A2C46C369308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9"/>
            <ac:spMk id="150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69"/>
            <ac:spMk id="151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1:13.077" v="86" actId="700"/>
        <pc:sldMkLst>
          <pc:docMk/>
          <pc:sldMk cId="0" sldId="270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0"/>
            <ac:spMk id="2" creationId="{07D1FCEA-7DC9-4B0B-AE4F-442CEF2DA58F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0"/>
            <ac:spMk id="158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0"/>
            <ac:spMk id="159" creationId="{00000000-0000-0000-0000-000000000000}"/>
          </ac:spMkLst>
        </pc:spChg>
      </pc:sldChg>
      <pc:sldChg chg="addSp modSp mod modClrScheme chgLayout">
        <pc:chgData name="Stefan Bildea" userId="14ee9846484ecb5c" providerId="LiveId" clId="{83BE690E-A8E1-4F39-93E0-6C6F611EAF9A}" dt="2021-10-19T15:52:16.267" v="91" actId="6549"/>
        <pc:sldMkLst>
          <pc:docMk/>
          <pc:sldMk cId="0" sldId="271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1"/>
            <ac:spMk id="2" creationId="{82914EB1-FA4F-4107-9F39-5E7280AB7F83}"/>
          </ac:spMkLst>
        </pc:spChg>
        <pc:spChg chg="mod ord">
          <ac:chgData name="Stefan Bildea" userId="14ee9846484ecb5c" providerId="LiveId" clId="{83BE690E-A8E1-4F39-93E0-6C6F611EAF9A}" dt="2021-10-19T15:52:16.267" v="91" actId="6549"/>
          <ac:spMkLst>
            <pc:docMk/>
            <pc:sldMk cId="0" sldId="271"/>
            <ac:spMk id="165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5:52:20.222" v="92" actId="6549"/>
        <pc:sldMkLst>
          <pc:docMk/>
          <pc:sldMk cId="0" sldId="272"/>
        </pc:sldMkLst>
        <pc:spChg chg="add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2"/>
            <ac:spMk id="2" creationId="{5E79271B-7E6F-4720-8CE1-15EB5C5D19AF}"/>
          </ac:spMkLst>
        </pc:spChg>
        <pc:spChg chg="mod ord">
          <ac:chgData name="Stefan Bildea" userId="14ee9846484ecb5c" providerId="LiveId" clId="{83BE690E-A8E1-4F39-93E0-6C6F611EAF9A}" dt="2021-10-19T15:52:20.222" v="92" actId="6549"/>
          <ac:spMkLst>
            <pc:docMk/>
            <pc:sldMk cId="0" sldId="272"/>
            <ac:spMk id="171" creationId="{00000000-0000-0000-0000-000000000000}"/>
          </ac:spMkLst>
        </pc:spChg>
        <pc:spChg chg="del 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2"/>
            <ac:spMk id="172" creationId="{00000000-0000-0000-0000-000000000000}"/>
          </ac:spMkLst>
        </pc:spChg>
      </pc:sldChg>
      <pc:sldChg chg="addSp delSp modSp mod modClrScheme chgLayout">
        <pc:chgData name="Stefan Bildea" userId="14ee9846484ecb5c" providerId="LiveId" clId="{83BE690E-A8E1-4F39-93E0-6C6F611EAF9A}" dt="2021-10-19T16:17:52.590" v="550" actId="1076"/>
        <pc:sldMkLst>
          <pc:docMk/>
          <pc:sldMk cId="0" sldId="273"/>
        </pc:sldMkLst>
        <pc:spChg chg="mod ord">
          <ac:chgData name="Stefan Bildea" userId="14ee9846484ecb5c" providerId="LiveId" clId="{83BE690E-A8E1-4F39-93E0-6C6F611EAF9A}" dt="2021-10-19T16:14:14.051" v="475" actId="20577"/>
          <ac:spMkLst>
            <pc:docMk/>
            <pc:sldMk cId="0" sldId="273"/>
            <ac:spMk id="178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3"/>
            <ac:spMk id="179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2" creationId="{00000000-0000-0000-0000-000000000000}"/>
          </ac:spMkLst>
        </pc:spChg>
        <pc:spChg chg="add del 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3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4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5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6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7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7:43.765" v="548" actId="164"/>
          <ac:spMkLst>
            <pc:docMk/>
            <pc:sldMk cId="0" sldId="273"/>
            <ac:spMk id="188" creationId="{00000000-0000-0000-0000-000000000000}"/>
          </ac:spMkLst>
        </pc:spChg>
        <pc:grpChg chg="add mod">
          <ac:chgData name="Stefan Bildea" userId="14ee9846484ecb5c" providerId="LiveId" clId="{83BE690E-A8E1-4F39-93E0-6C6F611EAF9A}" dt="2021-10-19T16:17:52.590" v="550" actId="1076"/>
          <ac:grpSpMkLst>
            <pc:docMk/>
            <pc:sldMk cId="0" sldId="273"/>
            <ac:grpSpMk id="2" creationId="{1724F41F-8D02-4A5E-AA96-7D10482CDD8C}"/>
          </ac:grpSpMkLst>
        </pc:grpChg>
        <pc:picChg chg="mod">
          <ac:chgData name="Stefan Bildea" userId="14ee9846484ecb5c" providerId="LiveId" clId="{83BE690E-A8E1-4F39-93E0-6C6F611EAF9A}" dt="2021-10-19T16:17:43.765" v="548" actId="164"/>
          <ac:picMkLst>
            <pc:docMk/>
            <pc:sldMk cId="0" sldId="273"/>
            <ac:picMk id="181" creationId="{00000000-0000-0000-0000-000000000000}"/>
          </ac:picMkLst>
        </pc:picChg>
      </pc:sldChg>
      <pc:sldChg chg="modSp mod modClrScheme chgLayout">
        <pc:chgData name="Stefan Bildea" userId="14ee9846484ecb5c" providerId="LiveId" clId="{83BE690E-A8E1-4F39-93E0-6C6F611EAF9A}" dt="2021-10-19T16:18:18.792" v="552" actId="20577"/>
        <pc:sldMkLst>
          <pc:docMk/>
          <pc:sldMk cId="0" sldId="274"/>
        </pc:sldMkLst>
        <pc:spChg chg="mod ord">
          <ac:chgData name="Stefan Bildea" userId="14ee9846484ecb5c" providerId="LiveId" clId="{83BE690E-A8E1-4F39-93E0-6C6F611EAF9A}" dt="2021-10-19T16:14:31.487" v="476"/>
          <ac:spMkLst>
            <pc:docMk/>
            <pc:sldMk cId="0" sldId="274"/>
            <ac:spMk id="193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18:18.792" v="552" actId="20577"/>
          <ac:spMkLst>
            <pc:docMk/>
            <pc:sldMk cId="0" sldId="274"/>
            <ac:spMk id="194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6:14:36.161" v="477"/>
        <pc:sldMkLst>
          <pc:docMk/>
          <pc:sldMk cId="0" sldId="275"/>
        </pc:sldMkLst>
        <pc:spChg chg="mod ord">
          <ac:chgData name="Stefan Bildea" userId="14ee9846484ecb5c" providerId="LiveId" clId="{83BE690E-A8E1-4F39-93E0-6C6F611EAF9A}" dt="2021-10-19T16:14:36.161" v="477"/>
          <ac:spMkLst>
            <pc:docMk/>
            <pc:sldMk cId="0" sldId="275"/>
            <ac:spMk id="209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5"/>
            <ac:spMk id="210" creationId="{00000000-0000-0000-0000-000000000000}"/>
          </ac:spMkLst>
        </pc:spChg>
        <pc:picChg chg="mod">
          <ac:chgData name="Stefan Bildea" userId="14ee9846484ecb5c" providerId="LiveId" clId="{83BE690E-A8E1-4F39-93E0-6C6F611EAF9A}" dt="2021-10-19T15:57:24.967" v="134" actId="1076"/>
          <ac:picMkLst>
            <pc:docMk/>
            <pc:sldMk cId="0" sldId="275"/>
            <ac:picMk id="212" creationId="{00000000-0000-0000-0000-000000000000}"/>
          </ac:picMkLst>
        </pc:picChg>
      </pc:sldChg>
      <pc:sldChg chg="modSp mod modClrScheme chgLayout">
        <pc:chgData name="Stefan Bildea" userId="14ee9846484ecb5c" providerId="LiveId" clId="{83BE690E-A8E1-4F39-93E0-6C6F611EAF9A}" dt="2021-10-19T16:16:48.211" v="512" actId="14100"/>
        <pc:sldMkLst>
          <pc:docMk/>
          <pc:sldMk cId="0" sldId="276"/>
        </pc:sldMkLst>
        <pc:spChg chg="mod ord">
          <ac:chgData name="Stefan Bildea" userId="14ee9846484ecb5c" providerId="LiveId" clId="{83BE690E-A8E1-4F39-93E0-6C6F611EAF9A}" dt="2021-10-19T16:14:44.584" v="480"/>
          <ac:spMkLst>
            <pc:docMk/>
            <pc:sldMk cId="0" sldId="276"/>
            <ac:spMk id="218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16:48.211" v="512" actId="14100"/>
          <ac:spMkLst>
            <pc:docMk/>
            <pc:sldMk cId="0" sldId="276"/>
            <ac:spMk id="219" creationId="{00000000-0000-0000-0000-000000000000}"/>
          </ac:spMkLst>
        </pc:spChg>
      </pc:sldChg>
      <pc:sldChg chg="modSp del mod modClrScheme chgLayout">
        <pc:chgData name="Stefan Bildea" userId="14ee9846484ecb5c" providerId="LiveId" clId="{83BE690E-A8E1-4F39-93E0-6C6F611EAF9A}" dt="2021-10-19T16:15:14.389" v="483" actId="47"/>
        <pc:sldMkLst>
          <pc:docMk/>
          <pc:sldMk cId="0" sldId="277"/>
        </pc:sldMkLst>
        <pc:spChg chg="mod ord">
          <ac:chgData name="Stefan Bildea" userId="14ee9846484ecb5c" providerId="LiveId" clId="{83BE690E-A8E1-4F39-93E0-6C6F611EAF9A}" dt="2021-10-19T16:14:50.432" v="481"/>
          <ac:spMkLst>
            <pc:docMk/>
            <pc:sldMk cId="0" sldId="277"/>
            <ac:spMk id="22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7"/>
            <ac:spMk id="226" creationId="{00000000-0000-0000-0000-000000000000}"/>
          </ac:spMkLst>
        </pc:spChg>
      </pc:sldChg>
      <pc:sldChg chg="modSp del mod modClrScheme chgLayout">
        <pc:chgData name="Stefan Bildea" userId="14ee9846484ecb5c" providerId="LiveId" clId="{83BE690E-A8E1-4F39-93E0-6C6F611EAF9A}" dt="2021-10-19T16:15:16.019" v="484" actId="47"/>
        <pc:sldMkLst>
          <pc:docMk/>
          <pc:sldMk cId="0" sldId="278"/>
        </pc:sldMkLst>
        <pc:spChg chg="mod ord">
          <ac:chgData name="Stefan Bildea" userId="14ee9846484ecb5c" providerId="LiveId" clId="{83BE690E-A8E1-4F39-93E0-6C6F611EAF9A}" dt="2021-10-19T16:14:57.830" v="482"/>
          <ac:spMkLst>
            <pc:docMk/>
            <pc:sldMk cId="0" sldId="278"/>
            <ac:spMk id="232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1:13.077" v="86" actId="700"/>
          <ac:spMkLst>
            <pc:docMk/>
            <pc:sldMk cId="0" sldId="278"/>
            <ac:spMk id="233" creationId="{00000000-0000-0000-0000-000000000000}"/>
          </ac:spMkLst>
        </pc:spChg>
      </pc:sldChg>
      <pc:sldChg chg="addSp modSp mod modClrScheme chgLayout">
        <pc:chgData name="Stefan Bildea" userId="14ee9846484ecb5c" providerId="LiveId" clId="{83BE690E-A8E1-4F39-93E0-6C6F611EAF9A}" dt="2021-10-19T15:58:05.324" v="143" actId="20577"/>
        <pc:sldMkLst>
          <pc:docMk/>
          <pc:sldMk cId="0" sldId="279"/>
        </pc:sldMkLst>
        <pc:spChg chg="add mod ord">
          <ac:chgData name="Stefan Bildea" userId="14ee9846484ecb5c" providerId="LiveId" clId="{83BE690E-A8E1-4F39-93E0-6C6F611EAF9A}" dt="2021-10-19T15:57:41.539" v="135" actId="700"/>
          <ac:spMkLst>
            <pc:docMk/>
            <pc:sldMk cId="0" sldId="279"/>
            <ac:spMk id="2" creationId="{584DA310-0EF6-439D-AA41-61F34B161C81}"/>
          </ac:spMkLst>
        </pc:spChg>
        <pc:spChg chg="mod ord">
          <ac:chgData name="Stefan Bildea" userId="14ee9846484ecb5c" providerId="LiveId" clId="{83BE690E-A8E1-4F39-93E0-6C6F611EAF9A}" dt="2021-10-19T15:58:05.324" v="143" actId="20577"/>
          <ac:spMkLst>
            <pc:docMk/>
            <pc:sldMk cId="0" sldId="279"/>
            <ac:spMk id="241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0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0"/>
            <ac:spMk id="246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0"/>
            <ac:spMk id="247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1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1"/>
            <ac:spMk id="252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1"/>
            <ac:spMk id="253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9:38.016" v="146" actId="732"/>
        <pc:sldMkLst>
          <pc:docMk/>
          <pc:sldMk cId="0" sldId="282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2"/>
            <ac:spMk id="263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2"/>
            <ac:spMk id="264" creationId="{00000000-0000-0000-0000-000000000000}"/>
          </ac:spMkLst>
        </pc:spChg>
        <pc:picChg chg="mod modCrop">
          <ac:chgData name="Stefan Bildea" userId="14ee9846484ecb5c" providerId="LiveId" clId="{83BE690E-A8E1-4F39-93E0-6C6F611EAF9A}" dt="2021-10-19T15:59:38.016" v="146" actId="732"/>
          <ac:picMkLst>
            <pc:docMk/>
            <pc:sldMk cId="0" sldId="282"/>
            <ac:picMk id="266" creationId="{00000000-0000-0000-0000-000000000000}"/>
          </ac:picMkLst>
        </pc:picChg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3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3"/>
            <ac:spMk id="273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3"/>
            <ac:spMk id="274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4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4"/>
            <ac:spMk id="280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4"/>
            <ac:spMk id="281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5:58:48.964" v="144" actId="700"/>
        <pc:sldMkLst>
          <pc:docMk/>
          <pc:sldMk cId="0" sldId="285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5"/>
            <ac:spMk id="287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5"/>
            <ac:spMk id="288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6:01:56.568" v="157" actId="20577"/>
        <pc:sldMkLst>
          <pc:docMk/>
          <pc:sldMk cId="0" sldId="286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6"/>
            <ac:spMk id="29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01:56.568" v="157" actId="20577"/>
          <ac:spMkLst>
            <pc:docMk/>
            <pc:sldMk cId="0" sldId="286"/>
            <ac:spMk id="296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6:02:30.568" v="164" actId="20577"/>
        <pc:sldMkLst>
          <pc:docMk/>
          <pc:sldMk cId="0" sldId="287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7"/>
            <ac:spMk id="301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02:30.568" v="164" actId="20577"/>
          <ac:spMkLst>
            <pc:docMk/>
            <pc:sldMk cId="0" sldId="287"/>
            <ac:spMk id="302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6:09:04.400" v="432" actId="20577"/>
        <pc:sldMkLst>
          <pc:docMk/>
          <pc:sldMk cId="0" sldId="288"/>
        </pc:sldMkLst>
        <pc:spChg chg="mod ord">
          <ac:chgData name="Stefan Bildea" userId="14ee9846484ecb5c" providerId="LiveId" clId="{83BE690E-A8E1-4F39-93E0-6C6F611EAF9A}" dt="2021-10-19T15:58:48.964" v="144" actId="700"/>
          <ac:spMkLst>
            <pc:docMk/>
            <pc:sldMk cId="0" sldId="288"/>
            <ac:spMk id="308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09:04.400" v="432" actId="20577"/>
          <ac:spMkLst>
            <pc:docMk/>
            <pc:sldMk cId="0" sldId="288"/>
            <ac:spMk id="309" creationId="{00000000-0000-0000-0000-000000000000}"/>
          </ac:spMkLst>
        </pc:spChg>
        <pc:picChg chg="mod">
          <ac:chgData name="Stefan Bildea" userId="14ee9846484ecb5c" providerId="LiveId" clId="{83BE690E-A8E1-4F39-93E0-6C6F611EAF9A}" dt="2021-10-19T16:02:53.783" v="166" actId="1076"/>
          <ac:picMkLst>
            <pc:docMk/>
            <pc:sldMk cId="0" sldId="288"/>
            <ac:picMk id="310" creationId="{00000000-0000-0000-0000-000000000000}"/>
          </ac:picMkLst>
        </pc:picChg>
      </pc:sldChg>
      <pc:sldChg chg="modSp mod modClrScheme chgLayout">
        <pc:chgData name="Stefan Bildea" userId="14ee9846484ecb5c" providerId="LiveId" clId="{83BE690E-A8E1-4F39-93E0-6C6F611EAF9A}" dt="2021-10-19T16:10:26.315" v="457" actId="20577"/>
        <pc:sldMkLst>
          <pc:docMk/>
          <pc:sldMk cId="0" sldId="289"/>
        </pc:sldMkLst>
        <pc:spChg chg="mod ord">
          <ac:chgData name="Stefan Bildea" userId="14ee9846484ecb5c" providerId="LiveId" clId="{83BE690E-A8E1-4F39-93E0-6C6F611EAF9A}" dt="2021-10-19T16:10:26.315" v="457" actId="20577"/>
          <ac:spMkLst>
            <pc:docMk/>
            <pc:sldMk cId="0" sldId="289"/>
            <ac:spMk id="315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09:26.476" v="435" actId="20577"/>
          <ac:spMkLst>
            <pc:docMk/>
            <pc:sldMk cId="0" sldId="289"/>
            <ac:spMk id="317" creationId="{00000000-0000-0000-0000-000000000000}"/>
          </ac:spMkLst>
        </pc:spChg>
        <pc:spChg chg="mod">
          <ac:chgData name="Stefan Bildea" userId="14ee9846484ecb5c" providerId="LiveId" clId="{83BE690E-A8E1-4F39-93E0-6C6F611EAF9A}" dt="2021-10-19T16:10:03.999" v="453" actId="1076"/>
          <ac:spMkLst>
            <pc:docMk/>
            <pc:sldMk cId="0" sldId="289"/>
            <ac:spMk id="318" creationId="{00000000-0000-0000-0000-000000000000}"/>
          </ac:spMkLst>
        </pc:spChg>
        <pc:picChg chg="mod">
          <ac:chgData name="Stefan Bildea" userId="14ee9846484ecb5c" providerId="LiveId" clId="{83BE690E-A8E1-4F39-93E0-6C6F611EAF9A}" dt="2021-10-19T16:10:03.999" v="453" actId="1076"/>
          <ac:picMkLst>
            <pc:docMk/>
            <pc:sldMk cId="0" sldId="289"/>
            <ac:picMk id="316" creationId="{00000000-0000-0000-0000-000000000000}"/>
          </ac:picMkLst>
        </pc:picChg>
      </pc:sldChg>
      <pc:sldChg chg="addSp modSp mod modClrScheme chgLayout">
        <pc:chgData name="Stefan Bildea" userId="14ee9846484ecb5c" providerId="LiveId" clId="{83BE690E-A8E1-4F39-93E0-6C6F611EAF9A}" dt="2021-10-19T16:10:37.108" v="458" actId="700"/>
        <pc:sldMkLst>
          <pc:docMk/>
          <pc:sldMk cId="0" sldId="290"/>
        </pc:sldMkLst>
        <pc:spChg chg="add mod ord">
          <ac:chgData name="Stefan Bildea" userId="14ee9846484ecb5c" providerId="LiveId" clId="{83BE690E-A8E1-4F39-93E0-6C6F611EAF9A}" dt="2021-10-19T16:10:37.108" v="458" actId="700"/>
          <ac:spMkLst>
            <pc:docMk/>
            <pc:sldMk cId="0" sldId="290"/>
            <ac:spMk id="2" creationId="{4C99618C-6A04-4239-B455-C2AE23F41B90}"/>
          </ac:spMkLst>
        </pc:spChg>
        <pc:spChg chg="mod ord">
          <ac:chgData name="Stefan Bildea" userId="14ee9846484ecb5c" providerId="LiveId" clId="{83BE690E-A8E1-4F39-93E0-6C6F611EAF9A}" dt="2021-10-19T16:10:37.108" v="458" actId="700"/>
          <ac:spMkLst>
            <pc:docMk/>
            <pc:sldMk cId="0" sldId="290"/>
            <ac:spMk id="323" creationId="{00000000-0000-0000-0000-000000000000}"/>
          </ac:spMkLst>
        </pc:spChg>
      </pc:sldChg>
      <pc:sldChg chg="modSp mod modClrScheme chgLayout">
        <pc:chgData name="Stefan Bildea" userId="14ee9846484ecb5c" providerId="LiveId" clId="{83BE690E-A8E1-4F39-93E0-6C6F611EAF9A}" dt="2021-10-19T16:11:46.887" v="470" actId="108"/>
        <pc:sldMkLst>
          <pc:docMk/>
          <pc:sldMk cId="0" sldId="292"/>
        </pc:sldMkLst>
        <pc:spChg chg="mod ord">
          <ac:chgData name="Stefan Bildea" userId="14ee9846484ecb5c" providerId="LiveId" clId="{83BE690E-A8E1-4F39-93E0-6C6F611EAF9A}" dt="2021-10-19T16:11:00.411" v="459" actId="700"/>
          <ac:spMkLst>
            <pc:docMk/>
            <pc:sldMk cId="0" sldId="292"/>
            <ac:spMk id="333" creationId="{00000000-0000-0000-0000-000000000000}"/>
          </ac:spMkLst>
        </pc:spChg>
        <pc:spChg chg="mod ord">
          <ac:chgData name="Stefan Bildea" userId="14ee9846484ecb5c" providerId="LiveId" clId="{83BE690E-A8E1-4F39-93E0-6C6F611EAF9A}" dt="2021-10-19T16:11:46.887" v="470" actId="108"/>
          <ac:spMkLst>
            <pc:docMk/>
            <pc:sldMk cId="0" sldId="292"/>
            <ac:spMk id="334" creationId="{00000000-0000-0000-0000-000000000000}"/>
          </ac:spMkLst>
        </pc:spChg>
      </pc:sldChg>
      <pc:sldChg chg="addSp delSp modSp new del mod">
        <pc:chgData name="Stefan Bildea" userId="14ee9846484ecb5c" providerId="LiveId" clId="{83BE690E-A8E1-4F39-93E0-6C6F611EAF9A}" dt="2021-10-20T06:41:23.697" v="561" actId="47"/>
        <pc:sldMkLst>
          <pc:docMk/>
          <pc:sldMk cId="3865377911" sldId="293"/>
        </pc:sldMkLst>
        <pc:spChg chg="add del">
          <ac:chgData name="Stefan Bildea" userId="14ee9846484ecb5c" providerId="LiveId" clId="{83BE690E-A8E1-4F39-93E0-6C6F611EAF9A}" dt="2021-10-20T06:37:21.974" v="555" actId="22"/>
          <ac:spMkLst>
            <pc:docMk/>
            <pc:sldMk cId="3865377911" sldId="293"/>
            <ac:spMk id="5" creationId="{A4C2D493-EDE7-4E89-BC22-B5C10AF8000E}"/>
          </ac:spMkLst>
        </pc:spChg>
        <pc:picChg chg="add del mod modCrop">
          <ac:chgData name="Stefan Bildea" userId="14ee9846484ecb5c" providerId="LiveId" clId="{83BE690E-A8E1-4F39-93E0-6C6F611EAF9A}" dt="2021-10-20T06:41:18.330" v="560" actId="478"/>
          <ac:picMkLst>
            <pc:docMk/>
            <pc:sldMk cId="3865377911" sldId="293"/>
            <ac:picMk id="6" creationId="{5025B73A-7446-4A15-91AD-C4E8D3EB9BD9}"/>
          </ac:picMkLst>
        </pc:picChg>
      </pc:sldChg>
    </pc:docChg>
  </pc:docChgLst>
  <pc:docChgLst>
    <pc:chgData name="Stefan Bildea" userId="14ee9846484ecb5c" providerId="LiveId" clId="{19FDC352-C7B3-459B-8AF4-51EC65A8DE48}"/>
    <pc:docChg chg="modSld">
      <pc:chgData name="Stefan Bildea" userId="14ee9846484ecb5c" providerId="LiveId" clId="{19FDC352-C7B3-459B-8AF4-51EC65A8DE48}" dt="2024-10-06T11:13:48.770" v="11" actId="13926"/>
      <pc:docMkLst>
        <pc:docMk/>
      </pc:docMkLst>
      <pc:sldChg chg="modSp mod">
        <pc:chgData name="Stefan Bildea" userId="14ee9846484ecb5c" providerId="LiveId" clId="{19FDC352-C7B3-459B-8AF4-51EC65A8DE48}" dt="2024-10-06T11:11:54.527" v="1" actId="20577"/>
        <pc:sldMkLst>
          <pc:docMk/>
          <pc:sldMk cId="0" sldId="256"/>
        </pc:sldMkLst>
        <pc:spChg chg="mod">
          <ac:chgData name="Stefan Bildea" userId="14ee9846484ecb5c" providerId="LiveId" clId="{19FDC352-C7B3-459B-8AF4-51EC65A8DE48}" dt="2024-10-06T11:11:54.527" v="1" actId="20577"/>
          <ac:spMkLst>
            <pc:docMk/>
            <pc:sldMk cId="0" sldId="256"/>
            <ac:spMk id="63" creationId="{00000000-0000-0000-0000-000000000000}"/>
          </ac:spMkLst>
        </pc:spChg>
      </pc:sldChg>
      <pc:sldChg chg="modSp mod">
        <pc:chgData name="Stefan Bildea" userId="14ee9846484ecb5c" providerId="LiveId" clId="{19FDC352-C7B3-459B-8AF4-51EC65A8DE48}" dt="2024-10-06T11:13:48.770" v="11" actId="13926"/>
        <pc:sldMkLst>
          <pc:docMk/>
          <pc:sldMk cId="1980379935" sldId="308"/>
        </pc:sldMkLst>
        <pc:spChg chg="mod">
          <ac:chgData name="Stefan Bildea" userId="14ee9846484ecb5c" providerId="LiveId" clId="{19FDC352-C7B3-459B-8AF4-51EC65A8DE48}" dt="2024-10-06T11:13:48.770" v="11" actId="13926"/>
          <ac:spMkLst>
            <pc:docMk/>
            <pc:sldMk cId="1980379935" sldId="308"/>
            <ac:spMk id="3" creationId="{BE040A14-ABCB-6E15-1DC9-3CAD1FFDEFC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6dc142120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6dc142120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170ff11a4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170ff11a4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16dc142120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16dc142120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17d3f64f0_1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17d3f64f0_1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C7293843-128C-4D2B-A103-9DA2C2C927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05568" y="3938020"/>
            <a:ext cx="1941394" cy="102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003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5FE184C9-9BA9-4964-9353-EED79D9D08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1360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6CE7D4D5-31B5-4ABD-90BD-C83C47DA76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88449" y="3500728"/>
            <a:ext cx="1371380" cy="72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741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361C6F62-48BD-4DB9-9BD5-838E597A832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4235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Icon&#10;&#10;Description automatically generated">
            <a:extLst>
              <a:ext uri="{FF2B5EF4-FFF2-40B4-BE49-F238E27FC236}">
                <a16:creationId xmlns:a16="http://schemas.microsoft.com/office/drawing/2014/main" id="{594DFD41-4391-433D-8899-002824FDE5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33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Icon&#10;&#10;Description automatically generated">
            <a:extLst>
              <a:ext uri="{FF2B5EF4-FFF2-40B4-BE49-F238E27FC236}">
                <a16:creationId xmlns:a16="http://schemas.microsoft.com/office/drawing/2014/main" id="{67108B6D-DAC9-4BD3-87CB-9BD75FAAB8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90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41319771-AF7C-4669-99A2-265F52023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02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F0BE1DC0-2928-45ED-8EAB-71B3914A8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59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Icon&#10;&#10;Description automatically generated">
            <a:extLst>
              <a:ext uri="{FF2B5EF4-FFF2-40B4-BE49-F238E27FC236}">
                <a16:creationId xmlns:a16="http://schemas.microsoft.com/office/drawing/2014/main" id="{5AD7E8F7-2B81-4172-BD37-3FDB853E28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971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B554B6C4-1F10-4A65-872F-011A6AF433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5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D6B35E48-9C0D-4BC2-B9D1-9422CDD4D8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315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885FC70C-D76D-0AA4-8609-283021020268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067040" y="4631713"/>
            <a:ext cx="896621" cy="47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74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d.com/talks/cedric_villani_what_s_so_sexy_about_math?language=en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ohn_Tuke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linkedin.com/pulse/standardization-machine-learning-sachin-vina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hyperlink" Target="https://en.wikipedia.org/wiki/Anscombe%27s_quartet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772633" y="841772"/>
            <a:ext cx="7228367" cy="179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ADS1 - Curs </a:t>
            </a:r>
            <a:r>
              <a:rPr lang="ro-RO" dirty="0"/>
              <a:t>2</a:t>
            </a:r>
            <a:br>
              <a:rPr lang="en" dirty="0"/>
            </a:br>
            <a:r>
              <a:rPr lang="en" dirty="0"/>
              <a:t>Analiz</a:t>
            </a:r>
            <a:r>
              <a:rPr lang="ro-RO" dirty="0"/>
              <a:t>a exploratorie a datelor</a:t>
            </a:r>
            <a:r>
              <a:rPr lang="en" dirty="0"/>
              <a:t> </a:t>
            </a:r>
            <a:endParaRPr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Instructor: Conf. Dr.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Teodor-Ștefan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Bîldea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SIIPA,</a:t>
            </a:r>
            <a:r>
              <a:rPr lang="ro-RO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 I,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Semestrul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/>
              <a:t>Agendă</a:t>
            </a:r>
            <a:endParaRPr dirty="0"/>
          </a:p>
        </p:txBody>
      </p:sp>
      <p:sp>
        <p:nvSpPr>
          <p:cNvPr id="76" name="Google Shape;76;p15"/>
          <p:cNvSpPr txBox="1">
            <a:spLocks noGrp="1"/>
          </p:cNvSpPr>
          <p:nvPr>
            <p:ph sz="half" idx="2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spcBef>
                <a:spcPts val="1600"/>
              </a:spcBef>
              <a:buNone/>
            </a:pPr>
            <a:r>
              <a:rPr lang="ro-RO" dirty="0">
                <a:solidFill>
                  <a:schemeClr val="tx1"/>
                </a:solidFill>
              </a:rPr>
              <a:t>A</a:t>
            </a:r>
            <a:r>
              <a:rPr lang="en-US" dirty="0" err="1">
                <a:solidFill>
                  <a:schemeClr val="tx1"/>
                </a:solidFill>
              </a:rPr>
              <a:t>naliza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exploratorie</a:t>
            </a:r>
            <a:r>
              <a:rPr lang="en-US" dirty="0">
                <a:solidFill>
                  <a:schemeClr val="tx1"/>
                </a:solidFill>
              </a:rPr>
              <a:t> (EDA)</a:t>
            </a: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>
              <a:solidFill>
                <a:schemeClr val="tx1"/>
              </a:solidFill>
            </a:endParaRPr>
          </a:p>
        </p:txBody>
      </p:sp>
      <p:pic>
        <p:nvPicPr>
          <p:cNvPr id="3" name="Picture 2" descr="A close-up of a toy&#10;&#10;Description automatically generated">
            <a:extLst>
              <a:ext uri="{FF2B5EF4-FFF2-40B4-BE49-F238E27FC236}">
                <a16:creationId xmlns:a16="http://schemas.microsoft.com/office/drawing/2014/main" id="{E0237AF2-D019-C566-D0A9-D46DCC6F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186" y="200854"/>
            <a:ext cx="2622813" cy="43178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Mining &lt;- Matematic</a:t>
            </a:r>
            <a:r>
              <a:rPr lang="ro-RO" dirty="0"/>
              <a:t>ă</a:t>
            </a:r>
            <a:r>
              <a:rPr lang="en" dirty="0"/>
              <a:t> </a:t>
            </a:r>
            <a:endParaRPr dirty="0"/>
          </a:p>
        </p:txBody>
      </p:sp>
      <p:sp>
        <p:nvSpPr>
          <p:cNvPr id="96" name="Google Shape;96;p1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Laureat al medaliei Fields in 2010- Cedric Villani - despre matematica (min. 7-10)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Analiza Exploratorie (EDA)</a:t>
            </a:r>
            <a:endParaRPr dirty="0"/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5300290A-F9C8-4CE1-B584-57806B169B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 dirty="0"/>
              <a:t>Analiza cantitativă și </a:t>
            </a:r>
            <a:br>
              <a:rPr lang="ro-RO" dirty="0"/>
            </a:br>
            <a:r>
              <a:rPr lang="ro-RO" dirty="0"/>
              <a:t>Preprocesare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</a:t>
            </a:r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Exploratory Data Analysis - EDA: </a:t>
            </a:r>
            <a:r>
              <a:rPr lang="en" i="1" dirty="0">
                <a:hlinkClick r:id="rId3"/>
              </a:rPr>
              <a:t>John Tukey </a:t>
            </a:r>
            <a:r>
              <a:rPr lang="en" i="1" dirty="0"/>
              <a:t>- 1977</a:t>
            </a:r>
            <a:endParaRPr i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89" name="Google Shape;89;p17"/>
          <p:cNvPicPr preferRelativeResize="0"/>
          <p:nvPr/>
        </p:nvPicPr>
        <p:blipFill rotWithShape="1">
          <a:blip r:embed="rId4">
            <a:alphaModFix/>
          </a:blip>
          <a:srcRect l="1312" t="16001"/>
          <a:stretch/>
        </p:blipFill>
        <p:spPr>
          <a:xfrm>
            <a:off x="368075" y="1868650"/>
            <a:ext cx="4910525" cy="247757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7"/>
          <p:cNvSpPr txBox="1"/>
          <p:nvPr/>
        </p:nvSpPr>
        <p:spPr>
          <a:xfrm>
            <a:off x="830500" y="2000775"/>
            <a:ext cx="7816066" cy="1557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“abilitatea de a prelua datele - de a le </a:t>
            </a:r>
            <a:r>
              <a:rPr lang="ro-RO" dirty="0"/>
              <a:t>î</a:t>
            </a:r>
            <a:r>
              <a:rPr lang="en" dirty="0"/>
              <a:t>n</a:t>
            </a:r>
            <a:r>
              <a:rPr lang="ro-RO" dirty="0"/>
              <a:t>ț</a:t>
            </a:r>
            <a:r>
              <a:rPr lang="en" dirty="0"/>
              <a:t>elege, procesa, extrage valoare din ele, de a le vizualiza, de a comunica informa</a:t>
            </a:r>
            <a:r>
              <a:rPr lang="ro-RO" dirty="0"/>
              <a:t>ț</a:t>
            </a:r>
            <a:r>
              <a:rPr lang="en" dirty="0"/>
              <a:t>ia - acestea toate o s</a:t>
            </a:r>
            <a:r>
              <a:rPr lang="ro-RO" dirty="0"/>
              <a:t>ă</a:t>
            </a:r>
            <a:r>
              <a:rPr lang="en" dirty="0"/>
              <a:t> fie un bagaj de cuno</a:t>
            </a:r>
            <a:r>
              <a:rPr lang="ro-RO" dirty="0"/>
              <a:t>ș</a:t>
            </a:r>
            <a:r>
              <a:rPr lang="en" dirty="0"/>
              <a:t>tin</a:t>
            </a:r>
            <a:r>
              <a:rPr lang="ro-RO" dirty="0"/>
              <a:t>ț</a:t>
            </a:r>
            <a:r>
              <a:rPr lang="en" dirty="0"/>
              <a:t>e extrem de important </a:t>
            </a:r>
            <a:r>
              <a:rPr lang="ro-RO" dirty="0"/>
              <a:t>î</a:t>
            </a:r>
            <a:r>
              <a:rPr lang="en" dirty="0"/>
              <a:t>n urm</a:t>
            </a:r>
            <a:r>
              <a:rPr lang="ro-RO" dirty="0"/>
              <a:t>ă</a:t>
            </a:r>
            <a:r>
              <a:rPr lang="en" dirty="0"/>
              <a:t>toarele decade, [...] deoarece acum avem peste tot date in mod gratuit. Deci partea complementar</a:t>
            </a:r>
            <a:r>
              <a:rPr lang="ro-RO" dirty="0"/>
              <a:t>ă</a:t>
            </a:r>
            <a:r>
              <a:rPr lang="en" dirty="0"/>
              <a:t> mai pu</a:t>
            </a:r>
            <a:r>
              <a:rPr lang="ro-RO" dirty="0"/>
              <a:t>ț</a:t>
            </a:r>
            <a:r>
              <a:rPr lang="en" dirty="0"/>
              <a:t>in frecvent</a:t>
            </a:r>
            <a:r>
              <a:rPr lang="ro-RO" dirty="0"/>
              <a:t>ă</a:t>
            </a:r>
            <a:r>
              <a:rPr lang="en" dirty="0"/>
              <a:t> dec</a:t>
            </a:r>
            <a:r>
              <a:rPr lang="ro-RO" dirty="0"/>
              <a:t>â</a:t>
            </a:r>
            <a:r>
              <a:rPr lang="en" dirty="0"/>
              <a:t>t datele este abilitatea de a le </a:t>
            </a:r>
            <a:r>
              <a:rPr lang="ro-RO" dirty="0"/>
              <a:t>î</a:t>
            </a:r>
            <a:r>
              <a:rPr lang="en" dirty="0"/>
              <a:t>n</a:t>
            </a:r>
            <a:r>
              <a:rPr lang="ro-RO" dirty="0"/>
              <a:t>ț</a:t>
            </a:r>
            <a:r>
              <a:rPr lang="en" dirty="0"/>
              <a:t>elege </a:t>
            </a:r>
            <a:r>
              <a:rPr lang="ro-RO" dirty="0"/>
              <a:t>ș</a:t>
            </a:r>
            <a:r>
              <a:rPr lang="en" dirty="0"/>
              <a:t>i a extrage valoare din ele.”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219CC-074C-50DD-5DBB-4DAD576DF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Analiza </a:t>
            </a:r>
            <a:r>
              <a:rPr lang="en-US" dirty="0" err="1"/>
              <a:t>cantitativ</a:t>
            </a:r>
            <a:r>
              <a:rPr lang="ro-RO" dirty="0"/>
              <a:t>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DB475-FE4F-7F9B-3B14-C642ABF6A3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4514850" cy="3263504"/>
          </a:xfrm>
        </p:spPr>
        <p:txBody>
          <a:bodyPr>
            <a:normAutofit fontScale="85000" lnSpcReduction="20000"/>
          </a:bodyPr>
          <a:lstStyle/>
          <a:p>
            <a:r>
              <a:rPr lang="ro-RO" dirty="0"/>
              <a:t>În general, datele trebuie preprocesate pentru a le putea folosi</a:t>
            </a:r>
          </a:p>
          <a:p>
            <a:r>
              <a:rPr lang="ro-RO" dirty="0"/>
              <a:t>Pași de preprocesare:</a:t>
            </a:r>
          </a:p>
          <a:p>
            <a:pPr lvl="1"/>
            <a:r>
              <a:rPr lang="ro-RO" dirty="0"/>
              <a:t>Determinarea gradului de umplere a coloanelor</a:t>
            </a:r>
          </a:p>
          <a:p>
            <a:pPr lvl="2"/>
            <a:r>
              <a:rPr lang="ro-RO" dirty="0"/>
              <a:t>Calculul procentului de valori lipsă</a:t>
            </a:r>
          </a:p>
          <a:p>
            <a:pPr lvl="1"/>
            <a:r>
              <a:rPr lang="ro-RO" dirty="0"/>
              <a:t>Determinarea liniilor cu date lipsă</a:t>
            </a:r>
          </a:p>
          <a:p>
            <a:pPr lvl="2"/>
            <a:r>
              <a:rPr lang="ro-RO" dirty="0"/>
              <a:t>Numărul liniilor care au valori lipsă </a:t>
            </a:r>
          </a:p>
          <a:p>
            <a:r>
              <a:rPr lang="ro-RO" dirty="0"/>
              <a:t>Decizii de luat (modelele nu acceptă date cu valori lipsă!): </a:t>
            </a:r>
          </a:p>
          <a:p>
            <a:pPr lvl="1"/>
            <a:r>
              <a:rPr lang="ro-RO" dirty="0"/>
              <a:t>Imputarea de valori de pe linii și/sau coloane </a:t>
            </a:r>
          </a:p>
          <a:p>
            <a:pPr lvl="1"/>
            <a:r>
              <a:rPr lang="ro-RO" dirty="0"/>
              <a:t>Eliminarea coloanelor cu prea multe valori lipsă</a:t>
            </a:r>
          </a:p>
          <a:p>
            <a:pPr lvl="1"/>
            <a:r>
              <a:rPr lang="ro-RO" dirty="0"/>
              <a:t>Eliminarea înregistrărilor care au câmpuri lipsă</a:t>
            </a:r>
          </a:p>
          <a:p>
            <a:pPr lvl="1"/>
            <a:r>
              <a:rPr lang="ro-RO" dirty="0"/>
              <a:t>Eliminarea coloanelor aproape constante (constant + date lipsă, sau constant 95%)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B64904-A175-0FA3-FCFE-96D07A722E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391" y="1369219"/>
            <a:ext cx="3988005" cy="280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506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B711B-0010-7280-4A67-BD9D9E8CD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Exemple de coloane inutile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D164D-13CA-C731-B316-674E59D64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În practică nu prea avem ce face cu coloane care au o gaură de peste un numit prag procentual – de exemplu 20%</a:t>
            </a:r>
          </a:p>
          <a:p>
            <a:pPr lvl="1"/>
            <a:r>
              <a:rPr lang="ro-RO" dirty="0"/>
              <a:t>Putem încerca imputarea valorilor nule sau creearea unei valori speciale pentru datele speciale, dar depinde de la caz la caz în funcție de cât de informativă e coloana</a:t>
            </a:r>
          </a:p>
          <a:p>
            <a:r>
              <a:rPr lang="ro-RO" dirty="0"/>
              <a:t>Dacă avem date suficiente, eliminarea înregistrărilor cu date lipsă este cea mai sigură opțiune</a:t>
            </a:r>
          </a:p>
          <a:p>
            <a:pPr lvl="1"/>
            <a:r>
              <a:rPr lang="ro-RO" dirty="0"/>
              <a:t>Alternativa cu păstrarea și fie creare de valori dedicate, fie imputare din înregistrări similare ar trebui testată – în definitiv, ceea ce contează este ca odată pus în producție modelul să genereze valoare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3911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677B3-89E7-A939-EE31-278D93E6D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237151"/>
            <a:ext cx="7882128" cy="807685"/>
          </a:xfrm>
        </p:spPr>
        <p:txBody>
          <a:bodyPr anchor="ctr">
            <a:normAutofit/>
          </a:bodyPr>
          <a:lstStyle/>
          <a:p>
            <a:r>
              <a:rPr lang="ro-RO" sz="3000"/>
              <a:t>Imputarea datelor</a:t>
            </a:r>
            <a:endParaRPr lang="en-US" sz="300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BE7EAC7-937E-66D6-7395-E98B6E79B1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4572718"/>
              </p:ext>
            </p:extLst>
          </p:nvPr>
        </p:nvGraphicFramePr>
        <p:xfrm>
          <a:off x="705613" y="1044836"/>
          <a:ext cx="7882127" cy="3603329"/>
        </p:xfrm>
        <a:graphic>
          <a:graphicData uri="http://schemas.openxmlformats.org/drawingml/2006/table">
            <a:tbl>
              <a:tblPr firstRow="1" bandRow="1">
                <a:solidFill>
                  <a:schemeClr val="bg1">
                    <a:lumMod val="95000"/>
                  </a:schemeClr>
                </a:solidFill>
              </a:tblPr>
              <a:tblGrid>
                <a:gridCol w="3705198">
                  <a:extLst>
                    <a:ext uri="{9D8B030D-6E8A-4147-A177-3AD203B41FA5}">
                      <a16:colId xmlns:a16="http://schemas.microsoft.com/office/drawing/2014/main" val="3300420097"/>
                    </a:ext>
                  </a:extLst>
                </a:gridCol>
                <a:gridCol w="4176929">
                  <a:extLst>
                    <a:ext uri="{9D8B030D-6E8A-4147-A177-3AD203B41FA5}">
                      <a16:colId xmlns:a16="http://schemas.microsoft.com/office/drawing/2014/main" val="308974593"/>
                    </a:ext>
                  </a:extLst>
                </a:gridCol>
              </a:tblGrid>
              <a:tr h="374749">
                <a:tc>
                  <a:txBody>
                    <a:bodyPr/>
                    <a:lstStyle/>
                    <a:p>
                      <a:pPr fontAlgn="b"/>
                      <a:r>
                        <a:rPr 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Metoda</a:t>
                      </a:r>
                    </a:p>
                  </a:txBody>
                  <a:tcPr marL="55033" marR="25903" marT="15724" marB="117928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"/>
                      <a:r>
                        <a:rPr lang="en-US" sz="1400" b="1" cap="none" spc="0" dirty="0" err="1">
                          <a:solidFill>
                            <a:schemeClr val="tx1"/>
                          </a:solidFill>
                          <a:effectLst/>
                        </a:rPr>
                        <a:t>Descriere</a:t>
                      </a:r>
                      <a:endParaRPr lang="en-US" sz="1400" b="1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5033" marR="25903" marT="15724" marB="117928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6340300"/>
                  </a:ext>
                </a:extLst>
              </a:tr>
              <a:tr h="636812">
                <a:tc>
                  <a:txBody>
                    <a:bodyPr/>
                    <a:lstStyle/>
                    <a:p>
                      <a:pPr fontAlgn="base"/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Imputare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cu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valoarea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medie</a:t>
                      </a:r>
                      <a:endParaRPr lang="en-US" sz="16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5033" marR="25903" marT="15724" marB="117928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Înlocuirea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valorilor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lipsă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cu media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sau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media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ponderată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a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caracteristicii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.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Poate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simplifica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datele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dar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poate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 introduce </a:t>
                      </a:r>
                      <a:r>
                        <a:rPr lang="en-US" sz="1200" cap="none" spc="0" err="1">
                          <a:solidFill>
                            <a:schemeClr val="tx1"/>
                          </a:solidFill>
                          <a:effectLst/>
                        </a:rPr>
                        <a:t>distorsiuni</a:t>
                      </a:r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</a:p>
                  </a:txBody>
                  <a:tcPr marL="55033" marR="25903" marT="15724" marB="11792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255287"/>
                  </a:ext>
                </a:extLst>
              </a:tr>
              <a:tr h="479574">
                <a:tc>
                  <a:txBody>
                    <a:bodyPr/>
                    <a:lstStyle/>
                    <a:p>
                      <a:pPr fontAlgn="base"/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Imputare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cu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valoarea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medianei</a:t>
                      </a:r>
                      <a:endParaRPr lang="en-US" sz="16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5033" marR="25903" marT="15724" marB="117928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Înlocuirea valorilor lipsă cu mediana caracteristicii. Este mai robustă față de valori extreme (outliers).</a:t>
                      </a:r>
                    </a:p>
                  </a:txBody>
                  <a:tcPr marL="55033" marR="25903" marT="15724" marB="11792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724562"/>
                  </a:ext>
                </a:extLst>
              </a:tr>
              <a:tr h="636812">
                <a:tc>
                  <a:txBody>
                    <a:bodyPr/>
                    <a:lstStyle/>
                    <a:p>
                      <a:pPr fontAlgn="base"/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Imputare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cu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valoarea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modală</a:t>
                      </a:r>
                      <a:endParaRPr lang="en-US" sz="16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55033" marR="25903" marT="15724" marB="117928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200" cap="none" spc="0">
                          <a:solidFill>
                            <a:schemeClr val="tx1"/>
                          </a:solidFill>
                          <a:effectLst/>
                        </a:rPr>
                        <a:t>Înlocuirea valorilor lipsă cu valoarea modală, cea mai frecventă valoare din caracteristică, utilizată pentru date categorice sau nominale.</a:t>
                      </a:r>
                    </a:p>
                  </a:txBody>
                  <a:tcPr marL="55033" marR="25903" marT="15724" marB="11792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279745"/>
                  </a:ext>
                </a:extLst>
              </a:tr>
              <a:tr h="636812">
                <a:tc>
                  <a:txBody>
                    <a:bodyPr/>
                    <a:lstStyle/>
                    <a:p>
                      <a:pPr fontAlgn="base"/>
                      <a:r>
                        <a:rPr lang="en-US" sz="1600" cap="none" spc="0">
                          <a:solidFill>
                            <a:schemeClr val="tx1"/>
                          </a:solidFill>
                          <a:effectLst/>
                        </a:rPr>
                        <a:t>Imputare cu regresie</a:t>
                      </a:r>
                    </a:p>
                  </a:txBody>
                  <a:tcPr marL="55033" marR="25903" marT="15724" marB="117928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Construirea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unui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model de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regresie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pentru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a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prezice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valorile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lipsă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pe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baza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altor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caracteristici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cunoscute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.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Oferă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estimări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mai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precise,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dar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necesită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mai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mult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efort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de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analiză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</a:p>
                  </a:txBody>
                  <a:tcPr marL="55033" marR="25903" marT="15724" marB="11792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21716"/>
                  </a:ext>
                </a:extLst>
              </a:tr>
              <a:tr h="636812">
                <a:tc>
                  <a:txBody>
                    <a:bodyPr/>
                    <a:lstStyle/>
                    <a:p>
                      <a:pPr fontAlgn="base"/>
                      <a:r>
                        <a:rPr lang="it-IT" sz="1600" cap="none" spc="0" dirty="0">
                          <a:solidFill>
                            <a:schemeClr val="tx1"/>
                          </a:solidFill>
                          <a:effectLst/>
                        </a:rPr>
                        <a:t>Imputare cu vecini asemănători (K-NN)</a:t>
                      </a:r>
                    </a:p>
                  </a:txBody>
                  <a:tcPr marL="55033" marR="25903" marT="15724" marB="117928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Identificarea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celor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mai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apropiați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K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vecini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și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înlocuirea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valorilor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lipsă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cu o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medie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ponderată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a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valorilor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acestor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vecini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.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Utilă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pentru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date cu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structuri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complexe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sau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multe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sz="1200" cap="none" spc="0" dirty="0" err="1">
                          <a:solidFill>
                            <a:schemeClr val="tx1"/>
                          </a:solidFill>
                          <a:effectLst/>
                        </a:rPr>
                        <a:t>caracteristici</a:t>
                      </a:r>
                      <a:r>
                        <a:rPr lang="en-US" sz="1200" cap="none" spc="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</a:p>
                  </a:txBody>
                  <a:tcPr marL="55033" marR="25903" marT="15724" marB="11792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31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3297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677B3-89E7-A939-EE31-278D93E6D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250983"/>
            <a:ext cx="7882128" cy="807685"/>
          </a:xfrm>
        </p:spPr>
        <p:txBody>
          <a:bodyPr anchor="ctr">
            <a:normAutofit/>
          </a:bodyPr>
          <a:lstStyle/>
          <a:p>
            <a:r>
              <a:rPr lang="ro-RO" sz="3000"/>
              <a:t>Imputarea datelor</a:t>
            </a:r>
            <a:endParaRPr lang="en-US" sz="30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83280A-5858-CBC6-714E-83E2D939F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Resurse Python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79DE37-95B3-9207-D764-7FA461B6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435" y="1701213"/>
            <a:ext cx="7134077" cy="2116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385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D8D21-B99E-9458-1A26-77E9C35C2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Discretizarea valorilor numerice/continue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19923DA-5092-FAA3-470B-F7752E724C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6430706"/>
              </p:ext>
            </p:extLst>
          </p:nvPr>
        </p:nvGraphicFramePr>
        <p:xfrm>
          <a:off x="628649" y="1168857"/>
          <a:ext cx="8361731" cy="296672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2889962">
                  <a:extLst>
                    <a:ext uri="{9D8B030D-6E8A-4147-A177-3AD203B41FA5}">
                      <a16:colId xmlns:a16="http://schemas.microsoft.com/office/drawing/2014/main" val="1282603990"/>
                    </a:ext>
                  </a:extLst>
                </a:gridCol>
                <a:gridCol w="5471769">
                  <a:extLst>
                    <a:ext uri="{9D8B030D-6E8A-4147-A177-3AD203B41FA5}">
                      <a16:colId xmlns:a16="http://schemas.microsoft.com/office/drawing/2014/main" val="10833828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fontAlgn="b"/>
                      <a:r>
                        <a:rPr lang="ro-RO" b="1" dirty="0">
                          <a:effectLst/>
                        </a:rPr>
                        <a:t>Beneficiu potențial</a:t>
                      </a:r>
                      <a:endParaRPr lang="en-US" b="1" dirty="0">
                        <a:effectLst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fontAlgn="b"/>
                      <a:r>
                        <a:rPr lang="en-US" b="1">
                          <a:effectLst/>
                        </a:rPr>
                        <a:t>Explicație</a:t>
                      </a: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3995582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Simplificarea complexității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Discretizarea face datele continue mai ușor de înțeles și gestionat.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8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Facilitarea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analizei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statistice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it-IT">
                          <a:effectLst/>
                        </a:rPr>
                        <a:t>Multe tehnici statistice funcționează mai bine cu date discrete.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0413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Reducerea dimensiunii datelor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Discretizarea reduce necesitatea de a stoca și procesa multe valori.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9775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Compatibilitate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Anumi</a:t>
                      </a:r>
                      <a:r>
                        <a:rPr lang="ro-RO" dirty="0">
                          <a:effectLst/>
                        </a:rPr>
                        <a:t>ți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algoritmi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necesită</a:t>
                      </a:r>
                      <a:r>
                        <a:rPr lang="en-US" dirty="0">
                          <a:effectLst/>
                        </a:rPr>
                        <a:t> date discrete </a:t>
                      </a:r>
                      <a:r>
                        <a:rPr lang="en-US" dirty="0" err="1">
                          <a:effectLst/>
                        </a:rPr>
                        <a:t>pentru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funcționare</a:t>
                      </a:r>
                      <a:r>
                        <a:rPr lang="en-US" dirty="0">
                          <a:effectLst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6045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Interpretare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Categoriile sau intervalele sunt mai ușor de interpretat.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7717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Evaluarea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tendințelor</a:t>
                      </a:r>
                      <a:endParaRPr lang="en-US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dirty="0" err="1">
                          <a:effectLst/>
                        </a:rPr>
                        <a:t>Discretizarea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poate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scoate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în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evidență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ro-RO" dirty="0">
                          <a:effectLst/>
                        </a:rPr>
                        <a:t>tipare</a:t>
                      </a:r>
                      <a:r>
                        <a:rPr lang="en-US" dirty="0">
                          <a:effectLst/>
                        </a:rPr>
                        <a:t> </a:t>
                      </a:r>
                      <a:r>
                        <a:rPr lang="en-US" dirty="0" err="1">
                          <a:effectLst/>
                        </a:rPr>
                        <a:t>dificil</a:t>
                      </a:r>
                      <a:r>
                        <a:rPr lang="en-US" dirty="0">
                          <a:effectLst/>
                        </a:rPr>
                        <a:t> de </a:t>
                      </a:r>
                      <a:r>
                        <a:rPr lang="en-US" dirty="0" err="1">
                          <a:effectLst/>
                        </a:rPr>
                        <a:t>observat</a:t>
                      </a:r>
                      <a:r>
                        <a:rPr lang="en-US" dirty="0">
                          <a:effectLst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78764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fontAlgn="base"/>
                      <a:r>
                        <a:rPr lang="en-US">
                          <a:effectLst/>
                        </a:rPr>
                        <a:t>Reducerea sensibilității la zgomot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it-IT" dirty="0">
                          <a:effectLst/>
                        </a:rPr>
                        <a:t>Datele discrete pot fi mai stabile în fața variabilității.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5401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0502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D0228-22FB-7729-DBBD-44E21CE4E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Discretizarea variabilelor numerice/continue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1E0B3-EBA4-DE2F-7665-782FBE4DB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Discretizare directă – stabilirea unor praguri după o euristică dictată de business sau de experiență</a:t>
            </a:r>
          </a:p>
          <a:p>
            <a:pPr lvl="1"/>
            <a:r>
              <a:rPr lang="ro-RO" dirty="0"/>
              <a:t>Exemplu: grupe de vârstă, de interes economic; grupe de vechime în muncă; grupe de salarizare; grupe de venit etc.</a:t>
            </a:r>
          </a:p>
          <a:p>
            <a:r>
              <a:rPr lang="ro-RO" dirty="0"/>
              <a:t>Întrebări care trebuie adresate:</a:t>
            </a:r>
          </a:p>
          <a:p>
            <a:pPr lvl="1"/>
            <a:r>
              <a:rPr lang="ro-RO" dirty="0"/>
              <a:t>Cum ar trebui să stabilim intervalele pentru grupe? (grupe uniforme? Intervale stabilite prin lege sau prin reguli de business?)</a:t>
            </a:r>
          </a:p>
          <a:p>
            <a:pPr lvl="1"/>
            <a:r>
              <a:rPr lang="ro-RO" dirty="0"/>
              <a:t>Câte grupe sunt optime?</a:t>
            </a:r>
          </a:p>
          <a:p>
            <a:pPr lvl="1"/>
            <a:endParaRPr lang="ro-RO" dirty="0"/>
          </a:p>
          <a:p>
            <a:r>
              <a:rPr lang="ro-RO" dirty="0"/>
              <a:t>În absența oricărei constrângeri, cum ați face?</a:t>
            </a:r>
          </a:p>
        </p:txBody>
      </p:sp>
    </p:spTree>
    <p:extLst>
      <p:ext uri="{BB962C8B-B14F-4D97-AF65-F5344CB8AC3E}">
        <p14:creationId xmlns:p14="http://schemas.microsoft.com/office/powerpoint/2010/main" val="4083812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D0228-22FB-7729-DBBD-44E21CE4E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Discretizarea variabilelor numerice/continue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1E0B3-EBA4-DE2F-7665-782FBE4DB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5307330" cy="3263504"/>
          </a:xfrm>
        </p:spPr>
        <p:txBody>
          <a:bodyPr/>
          <a:lstStyle/>
          <a:p>
            <a:r>
              <a:rPr lang="ro-RO" dirty="0"/>
              <a:t>Discretizare cu coloană de referință</a:t>
            </a:r>
          </a:p>
          <a:p>
            <a:pPr lvl="1"/>
            <a:r>
              <a:rPr lang="ro-RO" dirty="0"/>
              <a:t>Problema: Gruparea salariaților după vârstă în 3 grupuri egale din punct de vedere al costurilor salariale: fiecare interval să reprezinte ~33% din costurile cu salariul</a:t>
            </a:r>
          </a:p>
          <a:p>
            <a:pPr lvl="2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50CBF4-1EA3-B4C3-6751-570DD5607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9835" y="1465580"/>
            <a:ext cx="1720850" cy="2959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532DBC-7153-6199-18E9-CA91299D1B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215" y="3675380"/>
            <a:ext cx="296545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153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D0228-22FB-7729-DBBD-44E21CE4E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o-RO" dirty="0"/>
              <a:t>Discretizare cu coloană de referință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1E0B3-EBA4-DE2F-7665-782FBE4DB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3425190" cy="3263504"/>
          </a:xfrm>
        </p:spPr>
        <p:txBody>
          <a:bodyPr/>
          <a:lstStyle/>
          <a:p>
            <a:r>
              <a:rPr lang="ro-RO" dirty="0"/>
              <a:t>Sortăm datele după coloana din care se formeaza grupele, crescător</a:t>
            </a:r>
          </a:p>
          <a:p>
            <a:r>
              <a:rPr lang="ro-RO" dirty="0"/>
              <a:t>Calculăm suma cumulativă procentuală cumulată a salariilor</a:t>
            </a:r>
          </a:p>
          <a:p>
            <a:r>
              <a:rPr lang="ro-RO" dirty="0"/>
              <a:t>Extragem limitele de vârstă aproximativ la percentilele 33, 67. </a:t>
            </a:r>
          </a:p>
          <a:p>
            <a:pPr lvl="2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6733F1-B520-777A-AAD7-9A153C116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840" y="1417277"/>
            <a:ext cx="4959668" cy="25538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8916A1-EEAF-25CE-EDD2-3FD2682ED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3840" y="4032684"/>
            <a:ext cx="3765550" cy="74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5687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1BB06-E4F6-431D-9A6F-1A2675838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o-RO" dirty="0"/>
              <a:t>Anomalii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75F203-489D-1A10-5963-E13BD16C4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Analiza anomaliilor (outliers) (asta doar în cazul în care problema nu constă tocmai în determinarea acestora... </a:t>
            </a:r>
            <a:r>
              <a:rPr lang="ro-RO" i="1" dirty="0"/>
              <a:t>outlier detection</a:t>
            </a:r>
            <a:r>
              <a:rPr lang="ro-RO" dirty="0"/>
              <a:t>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E2F17A-5A14-BE37-46F9-566E6E6B4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2082903"/>
            <a:ext cx="6153150" cy="278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851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Codificarea numerică a variabilelor categoriale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ro-RO" dirty="0"/>
              <a:t>Modelele statistice nu procesează decât numere</a:t>
            </a:r>
          </a:p>
          <a:p>
            <a:pPr lvl="1"/>
            <a:r>
              <a:rPr lang="ro-RO" dirty="0"/>
              <a:t>Orice atribut categorial – geografice, culori, caracteristici – trebuie codificat</a:t>
            </a:r>
          </a:p>
          <a:p>
            <a:pPr lvl="1"/>
            <a:endParaRPr lang="ro-RO" dirty="0"/>
          </a:p>
          <a:p>
            <a:pPr marL="342900" lvl="1" indent="0">
              <a:buNone/>
            </a:pPr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r>
              <a:rPr lang="ro-RO" dirty="0"/>
              <a:t>Cum alegem o codifcare nepărtinitoare și care să nu fie aleatoare?</a:t>
            </a:r>
          </a:p>
          <a:p>
            <a:pPr lvl="1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0E58F9-F145-7C1A-6678-A63DC4CC2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7388285"/>
              </p:ext>
            </p:extLst>
          </p:nvPr>
        </p:nvGraphicFramePr>
        <p:xfrm>
          <a:off x="1516912" y="2313317"/>
          <a:ext cx="1244699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244699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Culoare mașină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Alb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Albastru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Roșu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986EFB-C150-DCEC-6606-A4F8D0C1A9D1}"/>
              </a:ext>
            </a:extLst>
          </p:cNvPr>
          <p:cNvGraphicFramePr>
            <a:graphicFrameLocks noGrp="1"/>
          </p:cNvGraphicFramePr>
          <p:nvPr/>
        </p:nvGraphicFramePr>
        <p:xfrm>
          <a:off x="2950832" y="2313317"/>
          <a:ext cx="1233520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233520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Codificare 1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2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8C65D75-184C-3273-068B-3459CD6ED672}"/>
              </a:ext>
            </a:extLst>
          </p:cNvPr>
          <p:cNvGraphicFramePr>
            <a:graphicFrameLocks noGrp="1"/>
          </p:cNvGraphicFramePr>
          <p:nvPr/>
        </p:nvGraphicFramePr>
        <p:xfrm>
          <a:off x="4310350" y="2313317"/>
          <a:ext cx="1233520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233520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Codificare 2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2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DFF86D5-3EBC-C773-69DE-CC559AD640C0}"/>
              </a:ext>
            </a:extLst>
          </p:cNvPr>
          <p:cNvGraphicFramePr>
            <a:graphicFrameLocks noGrp="1"/>
          </p:cNvGraphicFramePr>
          <p:nvPr/>
        </p:nvGraphicFramePr>
        <p:xfrm>
          <a:off x="5699529" y="2313317"/>
          <a:ext cx="1554301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554301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Codifcare oareacare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7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-1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2013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0373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Codificarea numerică a variabilelor categoriale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o-RO" dirty="0"/>
              <a:t>ONE HOT ENCODING – codificare nepărtinitoare</a:t>
            </a:r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endParaRPr lang="ro-RO" dirty="0"/>
          </a:p>
          <a:p>
            <a:pPr lvl="1"/>
            <a:r>
              <a:rPr lang="ro-RO" dirty="0"/>
              <a:t>Alb = (1,0,0), Albastru = (0,1,0), Roșu = (0,0,1)</a:t>
            </a:r>
          </a:p>
          <a:p>
            <a:pPr lvl="1"/>
            <a:r>
              <a:rPr lang="ro-RO" dirty="0"/>
              <a:t>Dezavantaj: în loc de o coloană vom avea 3 (=numărul de valori distincte pentru culoare); în plus toate culorile noi vor avea vectorul (0,0,0) care nu apare la antrenament.</a:t>
            </a:r>
          </a:p>
          <a:p>
            <a:pPr lvl="1"/>
            <a:r>
              <a:rPr lang="ro-RO" dirty="0"/>
              <a:t>Pentru un atribut cu </a:t>
            </a:r>
            <a:r>
              <a:rPr lang="ro-RO" i="1" dirty="0"/>
              <a:t>n</a:t>
            </a:r>
            <a:r>
              <a:rPr lang="ro-RO" dirty="0"/>
              <a:t> valori distincte vom construi </a:t>
            </a:r>
            <a:r>
              <a:rPr lang="ro-RO" i="1" dirty="0"/>
              <a:t>n</a:t>
            </a:r>
            <a:r>
              <a:rPr lang="ro-RO" dirty="0"/>
              <a:t> coloane</a:t>
            </a:r>
          </a:p>
          <a:p>
            <a:pPr lvl="1"/>
            <a:r>
              <a:rPr lang="en-US" dirty="0"/>
              <a:t>ATENTIE: </a:t>
            </a:r>
            <a:r>
              <a:rPr lang="ro-RO" dirty="0">
                <a:highlight>
                  <a:srgbClr val="FFFF00"/>
                </a:highlight>
              </a:rPr>
              <a:t>Numărul de coloane va crește rapid</a:t>
            </a:r>
            <a:r>
              <a:rPr lang="ro-RO" dirty="0"/>
              <a:t> dacă sunt prezente mai multe variabile categoriale cu multe valori distincte fiecare</a:t>
            </a:r>
          </a:p>
          <a:p>
            <a:pPr lvl="1"/>
            <a:endParaRPr lang="ro-RO" dirty="0"/>
          </a:p>
          <a:p>
            <a:pPr lvl="1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0E58F9-F145-7C1A-6678-A63DC4CC2D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44760"/>
              </p:ext>
            </p:extLst>
          </p:nvPr>
        </p:nvGraphicFramePr>
        <p:xfrm>
          <a:off x="1528091" y="1861081"/>
          <a:ext cx="1233520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233520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Culoare mașină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Alb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Albastru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Roșu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986EFB-C150-DCEC-6606-A4F8D0C1A9D1}"/>
              </a:ext>
            </a:extLst>
          </p:cNvPr>
          <p:cNvGraphicFramePr>
            <a:graphicFrameLocks noGrp="1"/>
          </p:cNvGraphicFramePr>
          <p:nvPr/>
        </p:nvGraphicFramePr>
        <p:xfrm>
          <a:off x="4399142" y="1846905"/>
          <a:ext cx="3431559" cy="1005840"/>
        </p:xfrm>
        <a:graphic>
          <a:graphicData uri="http://schemas.openxmlformats.org/drawingml/2006/table">
            <a:tbl>
              <a:tblPr firstRow="1" bandRow="1">
                <a:tableStyleId>{19765D9A-5B29-4FE0-BD4B-011D1141B641}</a:tableStyleId>
              </a:tblPr>
              <a:tblGrid>
                <a:gridCol w="1143852">
                  <a:extLst>
                    <a:ext uri="{9D8B030D-6E8A-4147-A177-3AD203B41FA5}">
                      <a16:colId xmlns:a16="http://schemas.microsoft.com/office/drawing/2014/main" val="1735651405"/>
                    </a:ext>
                  </a:extLst>
                </a:gridCol>
                <a:gridCol w="1201473">
                  <a:extLst>
                    <a:ext uri="{9D8B030D-6E8A-4147-A177-3AD203B41FA5}">
                      <a16:colId xmlns:a16="http://schemas.microsoft.com/office/drawing/2014/main" val="3592497874"/>
                    </a:ext>
                  </a:extLst>
                </a:gridCol>
                <a:gridCol w="1086234">
                  <a:extLst>
                    <a:ext uri="{9D8B030D-6E8A-4147-A177-3AD203B41FA5}">
                      <a16:colId xmlns:a16="http://schemas.microsoft.com/office/drawing/2014/main" val="547345336"/>
                    </a:ext>
                  </a:extLst>
                </a:gridCol>
              </a:tblGrid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Culoare_Alb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Culoare_Abastru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Culoare_Roșu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88807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817060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4631160"/>
                  </a:ext>
                </a:extLst>
              </a:tr>
              <a:tr h="177436"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0</a:t>
                      </a:r>
                      <a:endParaRPr 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o-RO" sz="1050" dirty="0"/>
                        <a:t>1</a:t>
                      </a:r>
                      <a:endParaRPr lang="en-US" sz="10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80783"/>
                  </a:ext>
                </a:extLst>
              </a:tr>
            </a:tbl>
          </a:graphicData>
        </a:graphic>
      </p:graphicFrame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B4FBF5F-DA95-5BC3-D3F6-CFF1A1F1DBED}"/>
              </a:ext>
            </a:extLst>
          </p:cNvPr>
          <p:cNvCxnSpPr/>
          <p:nvPr/>
        </p:nvCxnSpPr>
        <p:spPr>
          <a:xfrm>
            <a:off x="2927307" y="2349825"/>
            <a:ext cx="12887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0379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Normalizare, standardizare (</a:t>
            </a:r>
            <a:r>
              <a:rPr lang="ro-RO" dirty="0">
                <a:hlinkClick r:id="rId2"/>
              </a:rPr>
              <a:t>ref</a:t>
            </a:r>
            <a:r>
              <a:rPr lang="ro-RO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o-RO" dirty="0"/>
              <a:t>Pentru modelele bazate pe distanță, standardizarea este efectuată pentru a preveni caracteristicile cu intervale mai largi să domine metrica distanței. </a:t>
            </a:r>
          </a:p>
          <a:p>
            <a:endParaRPr lang="ro-RO" dirty="0"/>
          </a:p>
        </p:txBody>
      </p:sp>
      <p:pic>
        <p:nvPicPr>
          <p:cNvPr id="1026" name="Picture 2" descr="No alt text provided for this image">
            <a:extLst>
              <a:ext uri="{FF2B5EF4-FFF2-40B4-BE49-F238E27FC236}">
                <a16:creationId xmlns:a16="http://schemas.microsoft.com/office/drawing/2014/main" id="{13145C57-6443-F23C-BA72-152D8332CA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50" y="2267903"/>
            <a:ext cx="3524250" cy="2820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alt text provided for this image">
            <a:extLst>
              <a:ext uri="{FF2B5EF4-FFF2-40B4-BE49-F238E27FC236}">
                <a16:creationId xmlns:a16="http://schemas.microsoft.com/office/drawing/2014/main" id="{5EF7B96F-B9C1-4A46-EC0A-DCB4FF453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7170" y="2113004"/>
            <a:ext cx="3465420" cy="2975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3477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Normalizare, standardizare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o-RO" dirty="0"/>
              <a:t>Metode de a comasa atributele numerice pe aceeiași scală pentru  a putea măsura mai bine importanța lor, ca în cazul </a:t>
            </a:r>
            <a:r>
              <a:rPr lang="en-US" dirty="0"/>
              <a:t>PCA, </a:t>
            </a:r>
            <a:r>
              <a:rPr lang="en-US" dirty="0" err="1"/>
              <a:t>sau</a:t>
            </a:r>
            <a:r>
              <a:rPr lang="en-US" dirty="0"/>
              <a:t> al </a:t>
            </a:r>
            <a:r>
              <a:rPr lang="ro-RO" dirty="0"/>
              <a:t>regresiei statistice.</a:t>
            </a:r>
          </a:p>
          <a:p>
            <a:endParaRPr lang="ro-RO" dirty="0"/>
          </a:p>
          <a:p>
            <a:endParaRPr lang="ro-RO" dirty="0"/>
          </a:p>
          <a:p>
            <a:endParaRPr lang="ro-RO" dirty="0"/>
          </a:p>
        </p:txBody>
      </p:sp>
      <p:pic>
        <p:nvPicPr>
          <p:cNvPr id="2050" name="Picture 2" descr="No alt text provided for this image">
            <a:extLst>
              <a:ext uri="{FF2B5EF4-FFF2-40B4-BE49-F238E27FC236}">
                <a16:creationId xmlns:a16="http://schemas.microsoft.com/office/drawing/2014/main" id="{17A33EA8-C4C7-210C-5A99-B458C368A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" y="2274911"/>
            <a:ext cx="6530340" cy="2740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855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Normalizare, standardizare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o-RO" dirty="0"/>
              <a:t>Motivul pentru care standardizăm datele nu este același pentru toate modelele de învățare automată și diferă de la un model la altul.</a:t>
            </a:r>
          </a:p>
          <a:p>
            <a:endParaRPr lang="ro-RO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8251-5E68-9213-DC89-CC0D9BBCE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589453"/>
              </p:ext>
            </p:extLst>
          </p:nvPr>
        </p:nvGraphicFramePr>
        <p:xfrm>
          <a:off x="870994" y="2137906"/>
          <a:ext cx="7402012" cy="2428261"/>
        </p:xfrm>
        <a:graphic>
          <a:graphicData uri="http://schemas.openxmlformats.org/drawingml/2006/table">
            <a:tbl>
              <a:tblPr/>
              <a:tblGrid>
                <a:gridCol w="1782262">
                  <a:extLst>
                    <a:ext uri="{9D8B030D-6E8A-4147-A177-3AD203B41FA5}">
                      <a16:colId xmlns:a16="http://schemas.microsoft.com/office/drawing/2014/main" val="4215076832"/>
                    </a:ext>
                  </a:extLst>
                </a:gridCol>
                <a:gridCol w="5619750">
                  <a:extLst>
                    <a:ext uri="{9D8B030D-6E8A-4147-A177-3AD203B41FA5}">
                      <a16:colId xmlns:a16="http://schemas.microsoft.com/office/drawing/2014/main" val="388179475"/>
                    </a:ext>
                  </a:extLst>
                </a:gridCol>
              </a:tblGrid>
              <a:tr h="114760">
                <a:tc>
                  <a:txBody>
                    <a:bodyPr/>
                    <a:lstStyle/>
                    <a:p>
                      <a:pPr fontAlgn="b"/>
                      <a:r>
                        <a:rPr lang="ro-RO" sz="1050" b="1" dirty="0">
                          <a:effectLst/>
                        </a:rPr>
                        <a:t>Beneficiu</a:t>
                      </a:r>
                      <a:endParaRPr lang="en-US" sz="1050" b="1" dirty="0">
                        <a:effectLst/>
                      </a:endParaRPr>
                    </a:p>
                  </a:txBody>
                  <a:tcPr marL="44385" marR="44385" marT="22193" marB="22193" anchor="b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"/>
                      <a:r>
                        <a:rPr lang="en-US" sz="1050" b="1">
                          <a:effectLst/>
                        </a:rPr>
                        <a:t>Descriere</a:t>
                      </a:r>
                    </a:p>
                  </a:txBody>
                  <a:tcPr marL="44385" marR="44385" marT="22193" marB="22193" anchor="b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9920784"/>
                  </a:ext>
                </a:extLst>
              </a:tr>
              <a:tr h="476899">
                <a:tc>
                  <a:txBody>
                    <a:bodyPr/>
                    <a:lstStyle/>
                    <a:p>
                      <a:pPr fontAlgn="base"/>
                      <a:r>
                        <a:rPr lang="it-IT" sz="1050" b="1" i="1" dirty="0">
                          <a:effectLst/>
                        </a:rPr>
                        <a:t>Compararea și interpretarea mai ușoară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Standardizarea transformă datele pentru a avea o medie de 0 și o deviație standard de 1, facilitând compararea și interpretarea.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9774590"/>
                  </a:ext>
                </a:extLst>
              </a:tr>
              <a:tr h="476899">
                <a:tc>
                  <a:txBody>
                    <a:bodyPr/>
                    <a:lstStyle/>
                    <a:p>
                      <a:pPr fontAlgn="base"/>
                      <a:r>
                        <a:rPr lang="en-US" sz="1050" b="1" i="1">
                          <a:effectLst/>
                        </a:rPr>
                        <a:t>Eliminarea unităților de măsură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 err="1">
                          <a:effectLst/>
                        </a:rPr>
                        <a:t>Standardizarea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elimină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efectele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unităților</a:t>
                      </a:r>
                      <a:r>
                        <a:rPr lang="en-US" sz="1050" dirty="0">
                          <a:effectLst/>
                        </a:rPr>
                        <a:t> de </a:t>
                      </a:r>
                      <a:r>
                        <a:rPr lang="en-US" sz="1050" dirty="0" err="1">
                          <a:effectLst/>
                        </a:rPr>
                        <a:t>măsură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și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dimensiunile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diferite</a:t>
                      </a:r>
                      <a:r>
                        <a:rPr lang="en-US" sz="1050" dirty="0">
                          <a:effectLst/>
                        </a:rPr>
                        <a:t> ale </a:t>
                      </a:r>
                      <a:r>
                        <a:rPr lang="en-US" sz="1050" dirty="0" err="1">
                          <a:effectLst/>
                        </a:rPr>
                        <a:t>caracteristicilor</a:t>
                      </a:r>
                      <a:r>
                        <a:rPr lang="en-US" sz="1050" dirty="0">
                          <a:effectLst/>
                        </a:rPr>
                        <a:t>, </a:t>
                      </a:r>
                      <a:r>
                        <a:rPr lang="en-US" sz="1050" dirty="0" err="1">
                          <a:effectLst/>
                        </a:rPr>
                        <a:t>permitând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compararea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directă</a:t>
                      </a:r>
                      <a:r>
                        <a:rPr lang="en-US" sz="1050" dirty="0">
                          <a:effectLst/>
                        </a:rPr>
                        <a:t>.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138375"/>
                  </a:ext>
                </a:extLst>
              </a:tr>
              <a:tr h="541205">
                <a:tc>
                  <a:txBody>
                    <a:bodyPr/>
                    <a:lstStyle/>
                    <a:p>
                      <a:pPr fontAlgn="base"/>
                      <a:r>
                        <a:rPr lang="en-US" sz="1050" b="1" i="1">
                          <a:effectLst/>
                        </a:rPr>
                        <a:t>Îmbunătățirea performanței algoritmilor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 err="1">
                          <a:effectLst/>
                        </a:rPr>
                        <a:t>Algoritmii</a:t>
                      </a:r>
                      <a:r>
                        <a:rPr lang="en-US" sz="1050" dirty="0">
                          <a:effectLst/>
                        </a:rPr>
                        <a:t> de </a:t>
                      </a:r>
                      <a:r>
                        <a:rPr lang="en-US" sz="1050" dirty="0" err="1">
                          <a:effectLst/>
                        </a:rPr>
                        <a:t>învățare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automată</a:t>
                      </a:r>
                      <a:r>
                        <a:rPr lang="en-US" sz="1050" dirty="0">
                          <a:effectLst/>
                        </a:rPr>
                        <a:t> sunt </a:t>
                      </a:r>
                      <a:r>
                        <a:rPr lang="en-US" sz="1050" dirty="0" err="1">
                          <a:effectLst/>
                        </a:rPr>
                        <a:t>adesea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influențați</a:t>
                      </a:r>
                      <a:r>
                        <a:rPr lang="en-US" sz="1050" dirty="0">
                          <a:effectLst/>
                        </a:rPr>
                        <a:t> de </a:t>
                      </a:r>
                      <a:r>
                        <a:rPr lang="en-US" sz="1050" dirty="0" err="1">
                          <a:effectLst/>
                        </a:rPr>
                        <a:t>scala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datelor</a:t>
                      </a:r>
                      <a:r>
                        <a:rPr lang="en-US" sz="1050" dirty="0">
                          <a:effectLst/>
                        </a:rPr>
                        <a:t>, </a:t>
                      </a:r>
                      <a:r>
                        <a:rPr lang="en-US" sz="1050" dirty="0" err="1">
                          <a:effectLst/>
                        </a:rPr>
                        <a:t>iar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standardizarea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îmbunătățește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performanța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și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convergența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acestora</a:t>
                      </a:r>
                      <a:r>
                        <a:rPr lang="en-US" sz="1050" dirty="0">
                          <a:effectLst/>
                        </a:rPr>
                        <a:t>.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773596"/>
                  </a:ext>
                </a:extLst>
              </a:tr>
              <a:tr h="348287">
                <a:tc>
                  <a:txBody>
                    <a:bodyPr/>
                    <a:lstStyle/>
                    <a:p>
                      <a:pPr fontAlgn="base"/>
                      <a:r>
                        <a:rPr lang="it-IT" sz="1050" b="1" i="1">
                          <a:effectLst/>
                        </a:rPr>
                        <a:t>Reducerea sensibilității la valori extreme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Standardizarea face datele mai robuste la valori extreme, evitând efectele incorecte ale acestora asupra analizei.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6396214"/>
                  </a:ext>
                </a:extLst>
              </a:tr>
              <a:tr h="348287">
                <a:tc>
                  <a:txBody>
                    <a:bodyPr/>
                    <a:lstStyle/>
                    <a:p>
                      <a:pPr fontAlgn="base"/>
                      <a:r>
                        <a:rPr lang="en-US" sz="1050" b="1" i="1" dirty="0" err="1">
                          <a:effectLst/>
                        </a:rPr>
                        <a:t>Simplificarea</a:t>
                      </a:r>
                      <a:r>
                        <a:rPr lang="en-US" sz="1050" b="1" i="1" dirty="0">
                          <a:effectLst/>
                        </a:rPr>
                        <a:t> </a:t>
                      </a:r>
                      <a:r>
                        <a:rPr lang="en-US" sz="1050" b="1" i="1" dirty="0" err="1">
                          <a:effectLst/>
                        </a:rPr>
                        <a:t>interpretării</a:t>
                      </a:r>
                      <a:r>
                        <a:rPr lang="en-US" sz="1050" b="1" i="1" dirty="0">
                          <a:effectLst/>
                        </a:rPr>
                        <a:t> </a:t>
                      </a:r>
                      <a:r>
                        <a:rPr lang="en-US" sz="1050" b="1" i="1" dirty="0" err="1">
                          <a:effectLst/>
                        </a:rPr>
                        <a:t>coeficienților</a:t>
                      </a:r>
                      <a:endParaRPr lang="en-US" sz="1050" b="1" i="1" dirty="0">
                        <a:effectLst/>
                      </a:endParaRP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it-IT" sz="1050" dirty="0">
                          <a:effectLst/>
                        </a:rPr>
                        <a:t>În modelele statistice, standardizarea facilitează interpretarea coeficienților, care devin mai direct interpretabili.</a:t>
                      </a:r>
                    </a:p>
                  </a:txBody>
                  <a:tcPr marL="44385" marR="44385" marT="22193" marB="22193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0143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763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Normalizare, standardizare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3080746" cy="3263504"/>
          </a:xfrm>
        </p:spPr>
        <p:txBody>
          <a:bodyPr>
            <a:normAutofit/>
          </a:bodyPr>
          <a:lstStyle/>
          <a:p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Aceste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metode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de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standardizare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pot fi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aplicate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în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funcție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de natura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datelor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,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cerințele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analizei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și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tipul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de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algoritm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pe care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intenționați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să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îl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utilizați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. </a:t>
            </a:r>
            <a:endParaRPr lang="ro-RO" sz="1600" b="0" i="0" dirty="0">
              <a:solidFill>
                <a:srgbClr val="374151"/>
              </a:solidFill>
              <a:effectLst/>
              <a:latin typeface="Söhne"/>
            </a:endParaRPr>
          </a:p>
          <a:p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Fiecare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metodă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are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avantaje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și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dezavantaje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și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trebuie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aleasă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în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funcție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de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contextul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specific al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setului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de date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și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obiectivele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 </a:t>
            </a:r>
            <a:r>
              <a:rPr lang="en-US" sz="1600" b="0" i="0" dirty="0" err="1">
                <a:solidFill>
                  <a:srgbClr val="374151"/>
                </a:solidFill>
                <a:effectLst/>
                <a:latin typeface="Söhne"/>
              </a:rPr>
              <a:t>analizei</a:t>
            </a:r>
            <a:r>
              <a:rPr lang="en-US" sz="1600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  <a:endParaRPr lang="ro-RO" sz="1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F92124-6C80-200F-729F-74F9003CEB13}"/>
              </a:ext>
            </a:extLst>
          </p:cNvPr>
          <p:cNvGraphicFramePr>
            <a:graphicFrameLocks noGrp="1"/>
          </p:cNvGraphicFramePr>
          <p:nvPr/>
        </p:nvGraphicFramePr>
        <p:xfrm>
          <a:off x="3709396" y="1027587"/>
          <a:ext cx="5219812" cy="3636575"/>
        </p:xfrm>
        <a:graphic>
          <a:graphicData uri="http://schemas.openxmlformats.org/drawingml/2006/table">
            <a:tbl>
              <a:tblPr/>
              <a:tblGrid>
                <a:gridCol w="1948838">
                  <a:extLst>
                    <a:ext uri="{9D8B030D-6E8A-4147-A177-3AD203B41FA5}">
                      <a16:colId xmlns:a16="http://schemas.microsoft.com/office/drawing/2014/main" val="604617427"/>
                    </a:ext>
                  </a:extLst>
                </a:gridCol>
                <a:gridCol w="3270974">
                  <a:extLst>
                    <a:ext uri="{9D8B030D-6E8A-4147-A177-3AD203B41FA5}">
                      <a16:colId xmlns:a16="http://schemas.microsoft.com/office/drawing/2014/main" val="2334129162"/>
                    </a:ext>
                  </a:extLst>
                </a:gridCol>
              </a:tblGrid>
              <a:tr h="189369">
                <a:tc>
                  <a:txBody>
                    <a:bodyPr/>
                    <a:lstStyle/>
                    <a:p>
                      <a:pPr fontAlgn="b"/>
                      <a:r>
                        <a:rPr lang="en-US" sz="1050" b="1">
                          <a:effectLst/>
                        </a:rPr>
                        <a:t>Metoda de Standardizare</a:t>
                      </a:r>
                    </a:p>
                  </a:txBody>
                  <a:tcPr marL="38044" marR="38044" marT="19022" marB="19022" anchor="b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"/>
                      <a:r>
                        <a:rPr lang="en-US" sz="1050" b="1">
                          <a:effectLst/>
                        </a:rPr>
                        <a:t>Descriere</a:t>
                      </a:r>
                    </a:p>
                  </a:txBody>
                  <a:tcPr marL="38044" marR="38044" marT="19022" marB="19022" anchor="b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944161"/>
                  </a:ext>
                </a:extLst>
              </a:tr>
              <a:tr h="592232"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Standardizarea Z-score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Transformă datele astfel încât să aibă o medie de 0 și o deviație standard de 1, astfel încât valorile să fie centrate și scalate.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954543"/>
                  </a:ext>
                </a:extLst>
              </a:tr>
              <a:tr h="592232"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>
                          <a:effectLst/>
                        </a:rPr>
                        <a:t>Min-Max Scaling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Redimensionează datele pentru a se încadra într-un interval specific, cum ar fi [0, 1], păstrând relațiile relative între valorile initiale.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876208"/>
                  </a:ext>
                </a:extLst>
              </a:tr>
              <a:tr h="592232"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>
                          <a:effectLst/>
                        </a:rPr>
                        <a:t>Robust Scaling (Scaling robust)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Similar cu Standardizarea Z-score, dar utilizează statisticile robuste (mediană și cuartile) pentru a face față valorilor extreme.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618098"/>
                  </a:ext>
                </a:extLst>
              </a:tr>
              <a:tr h="495358"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Log Transformation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Aplică logaritmul natural asupra datelor, reducând variația în cazul datelor cu distribuție asimetrică sau exponențială.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210191"/>
                  </a:ext>
                </a:extLst>
              </a:tr>
              <a:tr h="495358"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>
                          <a:effectLst/>
                        </a:rPr>
                        <a:t>Box-Cox Transformation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O metodă statistică care transformă datele într-o distribuție aproape normală, potrivită pentru date pozitive și negative.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508690"/>
                  </a:ext>
                </a:extLst>
              </a:tr>
              <a:tr h="648353">
                <a:tc>
                  <a:txBody>
                    <a:bodyPr/>
                    <a:lstStyle/>
                    <a:p>
                      <a:pPr fontAlgn="base"/>
                      <a:r>
                        <a:rPr lang="en-US" sz="1050">
                          <a:effectLst/>
                        </a:rPr>
                        <a:t>Unit Vector Scaling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fontAlgn="base"/>
                      <a:r>
                        <a:rPr lang="en-US" sz="1050" dirty="0" err="1">
                          <a:effectLst/>
                        </a:rPr>
                        <a:t>Redimensionează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datele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astfel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încât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vectorii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caracteristicilor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să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aibă</a:t>
                      </a:r>
                      <a:r>
                        <a:rPr lang="en-US" sz="1050" dirty="0">
                          <a:effectLst/>
                        </a:rPr>
                        <a:t> norma </a:t>
                      </a:r>
                      <a:r>
                        <a:rPr lang="en-US" sz="1050" dirty="0" err="1">
                          <a:effectLst/>
                        </a:rPr>
                        <a:t>unitară</a:t>
                      </a:r>
                      <a:r>
                        <a:rPr lang="en-US" sz="1050" dirty="0">
                          <a:effectLst/>
                        </a:rPr>
                        <a:t>, </a:t>
                      </a:r>
                      <a:r>
                        <a:rPr lang="en-US" sz="1050" dirty="0" err="1">
                          <a:effectLst/>
                        </a:rPr>
                        <a:t>folosită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în</a:t>
                      </a:r>
                      <a:r>
                        <a:rPr lang="en-US" sz="1050" dirty="0">
                          <a:effectLst/>
                        </a:rPr>
                        <a:t> special </a:t>
                      </a:r>
                      <a:r>
                        <a:rPr lang="en-US" sz="1050" dirty="0" err="1">
                          <a:effectLst/>
                        </a:rPr>
                        <a:t>în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algoritmi</a:t>
                      </a:r>
                      <a:r>
                        <a:rPr lang="en-US" sz="1050" dirty="0">
                          <a:effectLst/>
                        </a:rPr>
                        <a:t> care </a:t>
                      </a:r>
                      <a:r>
                        <a:rPr lang="en-US" sz="1050" dirty="0" err="1">
                          <a:effectLst/>
                        </a:rPr>
                        <a:t>depind</a:t>
                      </a:r>
                      <a:r>
                        <a:rPr lang="en-US" sz="1050" dirty="0">
                          <a:effectLst/>
                        </a:rPr>
                        <a:t> de </a:t>
                      </a:r>
                      <a:r>
                        <a:rPr lang="en-US" sz="1050" dirty="0" err="1">
                          <a:effectLst/>
                        </a:rPr>
                        <a:t>distanță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sau</a:t>
                      </a:r>
                      <a:r>
                        <a:rPr lang="en-US" sz="1050" dirty="0">
                          <a:effectLst/>
                        </a:rPr>
                        <a:t> </a:t>
                      </a:r>
                      <a:r>
                        <a:rPr lang="en-US" sz="1050" dirty="0" err="1">
                          <a:effectLst/>
                        </a:rPr>
                        <a:t>similaritate</a:t>
                      </a:r>
                      <a:r>
                        <a:rPr lang="en-US" sz="1050" dirty="0">
                          <a:effectLst/>
                        </a:rPr>
                        <a:t>.</a:t>
                      </a:r>
                    </a:p>
                  </a:txBody>
                  <a:tcPr marL="38044" marR="38044" marT="19022" marB="19022" anchor="ctr">
                    <a:lnL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112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77285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5A259-D52B-E4BA-06AC-AEAADC506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Normalizare, standardizare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FB215-DD8F-AFB7-BE6B-2193EC6111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1832610" cy="3263504"/>
          </a:xfrm>
        </p:spPr>
        <p:txBody>
          <a:bodyPr/>
          <a:lstStyle/>
          <a:p>
            <a:r>
              <a:rPr lang="ro-RO" dirty="0"/>
              <a:t>Resurse Python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48994-6311-84EA-F852-80EFA0EBC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480" y="1060450"/>
            <a:ext cx="6119054" cy="394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56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DD173-1401-BC1C-5BD4-605AC73A9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Când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importantă</a:t>
            </a:r>
            <a:r>
              <a:rPr lang="en-US" dirty="0"/>
              <a:t> </a:t>
            </a:r>
            <a:r>
              <a:rPr lang="en-US" dirty="0" err="1"/>
              <a:t>standardizarea</a:t>
            </a:r>
            <a:r>
              <a:rPr lang="en-US" dirty="0"/>
              <a:t> </a:t>
            </a:r>
            <a:r>
              <a:rPr lang="en-US" dirty="0" err="1"/>
              <a:t>variabilelor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345A67-048A-9A53-6E40-C5F73E232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o-RO" dirty="0"/>
              <a:t>Înainte de o clusterizare</a:t>
            </a:r>
          </a:p>
          <a:p>
            <a:pPr lvl="1"/>
            <a:r>
              <a:rPr lang="ro-RO" dirty="0"/>
              <a:t>Tehnicile de analiză a grupurilor depind de conceptul de măsurare a distanței dintre diferitele observații pe care încercăm să le grupăm. Dacă o variabilă este măsurată la o scară mai mare decât celelalte variabile, atunci orice măsură pe care o folosim va fi influențată excesiv de acea variabilă.</a:t>
            </a:r>
          </a:p>
          <a:p>
            <a:r>
              <a:rPr lang="ro-RO" dirty="0"/>
              <a:t>Înainte de PCA</a:t>
            </a:r>
          </a:p>
          <a:p>
            <a:pPr lvl="1"/>
            <a:r>
              <a:rPr lang="en-US" dirty="0"/>
              <a:t>PCA </a:t>
            </a:r>
            <a:r>
              <a:rPr lang="en-US" dirty="0" err="1"/>
              <a:t>oferă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multă</a:t>
            </a:r>
            <a:r>
              <a:rPr lang="en-US" dirty="0"/>
              <a:t> </a:t>
            </a:r>
            <a:r>
              <a:rPr lang="en-US" dirty="0" err="1"/>
              <a:t>pondere</a:t>
            </a:r>
            <a:r>
              <a:rPr lang="en-US" dirty="0"/>
              <a:t> </a:t>
            </a:r>
            <a:r>
              <a:rPr lang="en-US" dirty="0" err="1"/>
              <a:t>acelor</a:t>
            </a:r>
            <a:r>
              <a:rPr lang="en-US" dirty="0"/>
              <a:t> </a:t>
            </a:r>
            <a:r>
              <a:rPr lang="en-US" dirty="0" err="1"/>
              <a:t>variabile</a:t>
            </a:r>
            <a:r>
              <a:rPr lang="en-US" dirty="0"/>
              <a:t> care au </a:t>
            </a:r>
            <a:r>
              <a:rPr lang="en-US" dirty="0" err="1"/>
              <a:t>varianțe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mari</a:t>
            </a:r>
            <a:r>
              <a:rPr lang="en-US" dirty="0"/>
              <a:t> </a:t>
            </a:r>
            <a:r>
              <a:rPr lang="en-US" dirty="0" err="1"/>
              <a:t>decât</a:t>
            </a:r>
            <a:r>
              <a:rPr lang="en-US" dirty="0"/>
              <a:t> </a:t>
            </a:r>
            <a:r>
              <a:rPr lang="en-US" dirty="0" err="1"/>
              <a:t>variabilelor</a:t>
            </a:r>
            <a:r>
              <a:rPr lang="en-US" dirty="0"/>
              <a:t> care au </a:t>
            </a:r>
            <a:r>
              <a:rPr lang="en-US" dirty="0" err="1"/>
              <a:t>varianțe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</a:t>
            </a:r>
            <a:r>
              <a:rPr lang="en-US" dirty="0" err="1"/>
              <a:t>mici</a:t>
            </a:r>
            <a:r>
              <a:rPr lang="en-US" dirty="0"/>
              <a:t>. De </a:t>
            </a:r>
            <a:r>
              <a:rPr lang="en-US" dirty="0" err="1"/>
              <a:t>fapt</a:t>
            </a:r>
            <a:r>
              <a:rPr lang="en-US" dirty="0"/>
              <a:t>, </a:t>
            </a:r>
            <a:r>
              <a:rPr lang="en-US" dirty="0" err="1"/>
              <a:t>rezultatele</a:t>
            </a:r>
            <a:r>
              <a:rPr lang="en-US" dirty="0"/>
              <a:t> </a:t>
            </a:r>
            <a:r>
              <a:rPr lang="en-US" dirty="0" err="1"/>
              <a:t>analizei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</a:t>
            </a:r>
            <a:r>
              <a:rPr lang="en-US" dirty="0" err="1"/>
              <a:t>depinde</a:t>
            </a:r>
            <a:r>
              <a:rPr lang="en-US" dirty="0"/>
              <a:t> de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unități</a:t>
            </a:r>
            <a:r>
              <a:rPr lang="en-US" dirty="0"/>
              <a:t> de </a:t>
            </a:r>
            <a:r>
              <a:rPr lang="en-US" dirty="0" err="1"/>
              <a:t>măsură</a:t>
            </a:r>
            <a:r>
              <a:rPr lang="en-US" dirty="0"/>
              <a:t> sunt </a:t>
            </a:r>
            <a:r>
              <a:rPr lang="en-US" dirty="0" err="1"/>
              <a:t>utilizate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măsurarea</a:t>
            </a:r>
            <a:r>
              <a:rPr lang="en-US" dirty="0"/>
              <a:t> </a:t>
            </a:r>
            <a:r>
              <a:rPr lang="en-US" dirty="0" err="1"/>
              <a:t>fiecărei</a:t>
            </a:r>
            <a:r>
              <a:rPr lang="en-US" dirty="0"/>
              <a:t> </a:t>
            </a:r>
            <a:r>
              <a:rPr lang="en-US" dirty="0" err="1"/>
              <a:t>variabile</a:t>
            </a:r>
            <a:r>
              <a:rPr lang="en-US" dirty="0"/>
              <a:t>. </a:t>
            </a:r>
            <a:r>
              <a:rPr lang="en-US" dirty="0" err="1"/>
              <a:t>Standardizarea</a:t>
            </a:r>
            <a:r>
              <a:rPr lang="en-US" dirty="0"/>
              <a:t> </a:t>
            </a:r>
            <a:r>
              <a:rPr lang="en-US" dirty="0" err="1"/>
              <a:t>valorilor</a:t>
            </a:r>
            <a:r>
              <a:rPr lang="en-US" dirty="0"/>
              <a:t> brute face o </a:t>
            </a:r>
            <a:r>
              <a:rPr lang="en-US" dirty="0" err="1"/>
              <a:t>variație</a:t>
            </a:r>
            <a:r>
              <a:rPr lang="en-US" dirty="0"/>
              <a:t> </a:t>
            </a:r>
            <a:r>
              <a:rPr lang="en-US" dirty="0" err="1"/>
              <a:t>egală</a:t>
            </a:r>
            <a:r>
              <a:rPr lang="en-US" dirty="0"/>
              <a:t>, </a:t>
            </a:r>
            <a:r>
              <a:rPr lang="en-US" dirty="0" err="1"/>
              <a:t>astfel</a:t>
            </a:r>
            <a:r>
              <a:rPr lang="en-US" dirty="0"/>
              <a:t> </a:t>
            </a:r>
            <a:r>
              <a:rPr lang="en-US" dirty="0" err="1"/>
              <a:t>încât</a:t>
            </a:r>
            <a:r>
              <a:rPr lang="en-US" dirty="0"/>
              <a:t> </a:t>
            </a:r>
            <a:r>
              <a:rPr lang="en-US" dirty="0" err="1"/>
              <a:t>ponderea</a:t>
            </a:r>
            <a:r>
              <a:rPr lang="en-US" dirty="0"/>
              <a:t> mare nu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atribuită</a:t>
            </a:r>
            <a:r>
              <a:rPr lang="en-US" dirty="0"/>
              <a:t> </a:t>
            </a:r>
            <a:r>
              <a:rPr lang="en-US" dirty="0" err="1"/>
              <a:t>variabilelor</a:t>
            </a:r>
            <a:r>
              <a:rPr lang="en-US" dirty="0"/>
              <a:t> care au </a:t>
            </a:r>
            <a:r>
              <a:rPr lang="en-US" dirty="0" err="1"/>
              <a:t>varianțe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mari</a:t>
            </a:r>
            <a:r>
              <a:rPr lang="en-US" dirty="0"/>
              <a:t>.</a:t>
            </a:r>
            <a:endParaRPr lang="ro-RO" dirty="0"/>
          </a:p>
          <a:p>
            <a:r>
              <a:rPr lang="ro-RO" dirty="0"/>
              <a:t>Înainte de regresii (LASSO, RIDGE) sau când interpretăm o regresie clasică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3327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E5C9-9486-CE56-B6A0-10F0CEF9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Balansarea claselor (pt. clasificare)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3363E-89D6-0B8A-92E8-6DC8D3A4A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Dacă o clasă este dominantă (de exemplu mai mult de 90% din observații), devin greu de construit un model de clasificare</a:t>
            </a:r>
          </a:p>
          <a:p>
            <a:r>
              <a:rPr lang="ro-RO" dirty="0"/>
              <a:t>În mod ideal, când antrenăm un model de clasificare cu n clase, datele de antrenament ar trebui să conțină un număr similar de observații pentru fiecare clasă</a:t>
            </a:r>
          </a:p>
          <a:p>
            <a:r>
              <a:rPr lang="ro-RO" dirty="0"/>
              <a:t>În realitate nu se întâmplă așa. Uneori este benefică balansarea claselor</a:t>
            </a:r>
          </a:p>
          <a:p>
            <a:pPr lvl="1"/>
            <a:r>
              <a:rPr lang="ro-RO" dirty="0"/>
              <a:t>Prin supraeșantionare (oversampling), sau</a:t>
            </a:r>
          </a:p>
          <a:p>
            <a:pPr lvl="1"/>
            <a:r>
              <a:rPr lang="ro-RO" dirty="0"/>
              <a:t>Prin subeșantionare (undersampling)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9705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E5C9-9486-CE56-B6A0-10F0CEF95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10777"/>
            <a:ext cx="7886700" cy="994172"/>
          </a:xfrm>
        </p:spPr>
        <p:txBody>
          <a:bodyPr>
            <a:normAutofit fontScale="90000"/>
          </a:bodyPr>
          <a:lstStyle/>
          <a:p>
            <a:r>
              <a:rPr lang="ro-RO" dirty="0"/>
              <a:t>Balansarea claselor prin subeșantionare (undersampling)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3363E-89D6-0B8A-92E8-6DC8D3A4A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369219"/>
            <a:ext cx="8398750" cy="3263504"/>
          </a:xfrm>
        </p:spPr>
        <p:txBody>
          <a:bodyPr>
            <a:normAutofit fontScale="92500" lnSpcReduction="10000"/>
          </a:bodyPr>
          <a:lstStyle/>
          <a:p>
            <a:r>
              <a:rPr lang="ro-RO" sz="1800" dirty="0"/>
              <a:t>Cea mai simplă strategie – din clasa mare se eșantionează de mărimea clasei mai mici</a:t>
            </a:r>
          </a:p>
          <a:p>
            <a:r>
              <a:rPr lang="ro-RO" sz="1800" dirty="0"/>
              <a:t>Funcționează bine pentru Big Data</a:t>
            </a:r>
          </a:p>
          <a:p>
            <a:endParaRPr lang="ro-RO" sz="1800" dirty="0"/>
          </a:p>
          <a:p>
            <a:endParaRPr lang="ro-RO" sz="1800" dirty="0"/>
          </a:p>
          <a:p>
            <a:endParaRPr lang="ro-RO" sz="1800" dirty="0"/>
          </a:p>
          <a:p>
            <a:endParaRPr lang="ro-RO" sz="1800" dirty="0"/>
          </a:p>
          <a:p>
            <a:endParaRPr lang="ro-RO" sz="1800" dirty="0"/>
          </a:p>
          <a:p>
            <a:endParaRPr lang="ro-RO" sz="1800" dirty="0"/>
          </a:p>
          <a:p>
            <a:r>
              <a:rPr lang="ro-RO" sz="1800" dirty="0"/>
              <a:t>Pentru date puține (ca în psihologie) nu este benefică</a:t>
            </a:r>
          </a:p>
          <a:p>
            <a:pPr lvl="1"/>
            <a:r>
              <a:rPr lang="ro-RO" sz="1400" dirty="0"/>
              <a:t>De exemplu dacă avem 100 de observații cu clasele 0 și 1 și 5 sunt cu clasa 0 restul clasa 1, subeșantionarea ne dă un set cu înregistrări – 5 cu clasa 1 și 5 cu clasa 0. Cam greu de făcut statistică cu 10 numere –</a:t>
            </a:r>
            <a:r>
              <a:rPr lang="ro-RO" sz="1400" dirty="0">
                <a:hlinkClick r:id="rId2"/>
              </a:rPr>
              <a:t>contraexemplu:</a:t>
            </a:r>
            <a:endParaRPr lang="en-US" sz="1400" dirty="0"/>
          </a:p>
        </p:txBody>
      </p:sp>
      <p:pic>
        <p:nvPicPr>
          <p:cNvPr id="3076" name="Picture 4" descr="How to deal with imbalanced datasets in ML">
            <a:extLst>
              <a:ext uri="{FF2B5EF4-FFF2-40B4-BE49-F238E27FC236}">
                <a16:creationId xmlns:a16="http://schemas.microsoft.com/office/drawing/2014/main" id="{322BB974-3D5C-BAC7-01CC-F8911167C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7" t="5877" r="6002" b="5159"/>
          <a:stretch/>
        </p:blipFill>
        <p:spPr bwMode="auto">
          <a:xfrm>
            <a:off x="4122291" y="1669927"/>
            <a:ext cx="2984254" cy="2169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68669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E5C9-9486-CE56-B6A0-10F0CEF95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o-RO" dirty="0"/>
              <a:t>Balansarea claselor prin supraeșantionare (oversampling)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3363E-89D6-0B8A-92E8-6DC8D3A4A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Strategia pornește cu clasa mai mică</a:t>
            </a:r>
          </a:p>
          <a:p>
            <a:r>
              <a:rPr lang="ro-RO" dirty="0"/>
              <a:t>Se generează sintetic observații asemănătoare celor din clasa mică până când mărimea eșantionului este similară cu cea a clasei mari</a:t>
            </a:r>
            <a:endParaRPr lang="en-US" dirty="0"/>
          </a:p>
        </p:txBody>
      </p:sp>
      <p:pic>
        <p:nvPicPr>
          <p:cNvPr id="4098" name="Picture 2" descr="How to Deal With Imbalanced Classification and Regression Data">
            <a:extLst>
              <a:ext uri="{FF2B5EF4-FFF2-40B4-BE49-F238E27FC236}">
                <a16:creationId xmlns:a16="http://schemas.microsoft.com/office/drawing/2014/main" id="{093568CF-D91F-046B-4B46-DA6BA231B9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7729"/>
          <a:stretch/>
        </p:blipFill>
        <p:spPr bwMode="auto">
          <a:xfrm>
            <a:off x="1890713" y="2383047"/>
            <a:ext cx="5226367" cy="2547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29061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E955B-6CDC-4AB1-06CF-1B7D0AC1D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Balansarea claselor – metode Python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ABE2DB-0B62-F984-196F-EFB274BF57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Resurse Python</a:t>
            </a:r>
          </a:p>
          <a:p>
            <a:pPr lvl="1"/>
            <a:r>
              <a:rPr lang="ro-RO" dirty="0"/>
              <a:t>https://imbalanced-learn.org/stable/</a:t>
            </a:r>
          </a:p>
          <a:p>
            <a:pPr lvl="1"/>
            <a:r>
              <a:rPr lang="en-US" dirty="0"/>
              <a:t>https://learn-scikit.oneoffcoder.com/imbalanced-learn.html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BD8FA-B3C6-23BE-AD29-D94169F7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8" y="2301726"/>
            <a:ext cx="2716769" cy="2660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4AE8DB-C06A-93C3-B234-50C5F0B7D6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2796"/>
          <a:stretch/>
        </p:blipFill>
        <p:spPr>
          <a:xfrm>
            <a:off x="3887909" y="2571750"/>
            <a:ext cx="2163088" cy="1803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6209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3CC1A-823B-F644-300D-4CC0E45F0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Ingineria atributelor (Feature engineering)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40A14-ABCB-6E15-1DC9-3CAD1FFDE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938480" cy="1803565"/>
          </a:xfrm>
        </p:spPr>
        <p:txBody>
          <a:bodyPr>
            <a:normAutofit fontScale="92500" lnSpcReduction="10000"/>
          </a:bodyPr>
          <a:lstStyle/>
          <a:p>
            <a:r>
              <a:rPr lang="ro-RO" dirty="0"/>
              <a:t>Constă în adăugarea de atribute derivate din datele existente</a:t>
            </a:r>
          </a:p>
          <a:p>
            <a:pPr lvl="1"/>
            <a:r>
              <a:rPr lang="ro-RO" dirty="0"/>
              <a:t>Atributele obținute prin discretizare</a:t>
            </a:r>
          </a:p>
          <a:p>
            <a:pPr lvl="1"/>
            <a:r>
              <a:rPr lang="ro-RO" dirty="0"/>
              <a:t>Atribute agregate obținute la nivel de grupări detectate (exemplu: volum vânzări clienți mici,medii mari)</a:t>
            </a:r>
          </a:p>
          <a:p>
            <a:pPr lvl="1"/>
            <a:r>
              <a:rPr lang="ro-RO" dirty="0"/>
              <a:t>Atribute obținute prin calcul direct, stabilind astfel legături complexe între atribute </a:t>
            </a:r>
          </a:p>
          <a:p>
            <a:pPr lvl="2"/>
            <a:r>
              <a:rPr lang="ro-RO" dirty="0"/>
              <a:t>Țin în general de natura problemei și depinde doar de creativitatea echipei pentru a inventa atribute care să aducă valoare</a:t>
            </a:r>
          </a:p>
          <a:p>
            <a:pPr lvl="3"/>
            <a:endParaRPr lang="ro-RO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468E3-6F99-2092-32AE-0676DC179A26}"/>
              </a:ext>
            </a:extLst>
          </p:cNvPr>
          <p:cNvSpPr txBox="1"/>
          <p:nvPr/>
        </p:nvSpPr>
        <p:spPr>
          <a:xfrm>
            <a:off x="659717" y="3337202"/>
            <a:ext cx="419151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3"/>
            <a:r>
              <a:rPr lang="ro-RO" sz="1100" dirty="0">
                <a:solidFill>
                  <a:schemeClr val="accent1">
                    <a:lumMod val="75000"/>
                  </a:schemeClr>
                </a:solidFill>
              </a:rPr>
              <a:t>Exemplu - indexul de profit al unui produs în grupa din care face parte:</a:t>
            </a:r>
          </a:p>
          <a:p>
            <a:pPr marL="171450" lvl="4" indent="-171450">
              <a:buFont typeface="Arial" panose="020B0604020202020204" pitchFamily="34" charset="0"/>
              <a:buChar char="•"/>
            </a:pPr>
            <a:r>
              <a:rPr lang="ro-RO" sz="1100" dirty="0">
                <a:solidFill>
                  <a:schemeClr val="accent1">
                    <a:lumMod val="75000"/>
                  </a:schemeClr>
                </a:solidFill>
              </a:rPr>
              <a:t>se împarte profitul (mediu al) produsului la media de profit a produselor grupei</a:t>
            </a:r>
          </a:p>
          <a:p>
            <a:pPr marL="171450" lvl="4" indent="-171450">
              <a:buFont typeface="Arial" panose="020B0604020202020204" pitchFamily="34" charset="0"/>
              <a:buChar char="•"/>
            </a:pPr>
            <a:r>
              <a:rPr lang="ro-RO" sz="1100" dirty="0">
                <a:solidFill>
                  <a:schemeClr val="accent1">
                    <a:lumMod val="75000"/>
                  </a:schemeClr>
                </a:solidFill>
              </a:rPr>
              <a:t>astfel se poate stabili gradul de profitabilitate în categorie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BA6A22-D187-2845-755B-6C02BC9E5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992" y="3114073"/>
            <a:ext cx="3341039" cy="1648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0995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6EAE-85CD-F3AD-2188-B26B17C1E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Linii de procesare a datelor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EE54F-7F0E-43AA-0439-74FE4E157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o-RO" dirty="0"/>
              <a:t>În general paradigma învățării automate constă în manipularea datelor prin înlănțuirea unor pași</a:t>
            </a:r>
          </a:p>
          <a:p>
            <a:r>
              <a:rPr lang="ro-RO" dirty="0"/>
              <a:t>Pașii se pot împărți în:</a:t>
            </a:r>
          </a:p>
          <a:p>
            <a:pPr lvl="1"/>
            <a:r>
              <a:rPr lang="ro-RO" dirty="0"/>
              <a:t>Pași de transformare a datelor – setul de date de la intrare este prelucrat și la ieșire se obține un alt set de date</a:t>
            </a:r>
          </a:p>
          <a:p>
            <a:pPr lvl="2"/>
            <a:r>
              <a:rPr lang="ro-RO" dirty="0"/>
              <a:t>Exemple: filtrare, eliminare date lipsă, eliminare anomalii, imputare, codificarea datelor, standardizare, discretizare, ingineria atributelor</a:t>
            </a:r>
          </a:p>
          <a:p>
            <a:pPr lvl="2"/>
            <a:r>
              <a:rPr lang="ro-RO" dirty="0"/>
              <a:t>Acești pași sunt executați de transformatoare de date – module dedicate care execută pașii necesari</a:t>
            </a:r>
          </a:p>
          <a:p>
            <a:pPr lvl="1"/>
            <a:r>
              <a:rPr lang="ro-RO" dirty="0"/>
              <a:t>Pasul de antrenare/evaluare a unui model – setul de date de la intrare este folosit pentru a antrena un model de învățare automată, iar la ieșire avem un model care poate fi salvat și reutilizat pe date noi</a:t>
            </a:r>
          </a:p>
          <a:p>
            <a:pPr lvl="2"/>
            <a:r>
              <a:rPr lang="ro-RO" dirty="0"/>
              <a:t>Este un singur astfel de pas, ultimul de pe linia de procesare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5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6EAE-85CD-F3AD-2188-B26B17C1E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Linii de procesare a datelor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EE54F-7F0E-43AA-0439-74FE4E157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o-RO" dirty="0"/>
              <a:t>Linii de asamblare:</a:t>
            </a:r>
          </a:p>
          <a:p>
            <a:endParaRPr lang="ro-RO" dirty="0"/>
          </a:p>
          <a:p>
            <a:endParaRPr lang="ro-RO" dirty="0"/>
          </a:p>
          <a:p>
            <a:endParaRPr lang="ro-RO" dirty="0"/>
          </a:p>
          <a:p>
            <a:r>
              <a:rPr lang="ro-RO" dirty="0"/>
              <a:t>Resurse Python: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E2A861-1222-389C-7231-87D6EF46D2B3}"/>
              </a:ext>
            </a:extLst>
          </p:cNvPr>
          <p:cNvSpPr/>
          <p:nvPr/>
        </p:nvSpPr>
        <p:spPr>
          <a:xfrm>
            <a:off x="841249" y="1967789"/>
            <a:ext cx="993688" cy="7315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/>
              <a:t>Date Initiale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BDD427-1110-BA57-8833-0A267C2F6CB2}"/>
              </a:ext>
            </a:extLst>
          </p:cNvPr>
          <p:cNvSpPr/>
          <p:nvPr/>
        </p:nvSpPr>
        <p:spPr>
          <a:xfrm>
            <a:off x="2144081" y="1965629"/>
            <a:ext cx="993688" cy="73152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050" dirty="0"/>
              <a:t>Transformator1</a:t>
            </a:r>
            <a:endParaRPr lang="en-US" sz="10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8C1961-6C96-3738-F0DF-AC3D6353801A}"/>
              </a:ext>
            </a:extLst>
          </p:cNvPr>
          <p:cNvSpPr/>
          <p:nvPr/>
        </p:nvSpPr>
        <p:spPr>
          <a:xfrm>
            <a:off x="3214089" y="1965629"/>
            <a:ext cx="558514" cy="73152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o-RO" dirty="0"/>
              <a:t>...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D2BD5A-BDD5-148B-B96C-AF3BDF1C4845}"/>
              </a:ext>
            </a:extLst>
          </p:cNvPr>
          <p:cNvSpPr/>
          <p:nvPr/>
        </p:nvSpPr>
        <p:spPr>
          <a:xfrm>
            <a:off x="3854974" y="1967446"/>
            <a:ext cx="993688" cy="73152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o-RO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sym typeface="Arial"/>
              </a:rPr>
              <a:t>Transformatorn</a:t>
            </a:r>
            <a:endParaRPr kumimoji="0" lang="en-US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E062E3-EE01-6395-F33E-3ECED5BE0130}"/>
              </a:ext>
            </a:extLst>
          </p:cNvPr>
          <p:cNvSpPr/>
          <p:nvPr/>
        </p:nvSpPr>
        <p:spPr>
          <a:xfrm>
            <a:off x="5151755" y="1965629"/>
            <a:ext cx="1871788" cy="73152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/>
              <a:t>Evaluator:antrenare model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304C34-C309-AEBB-8CFC-62485B729611}"/>
              </a:ext>
            </a:extLst>
          </p:cNvPr>
          <p:cNvSpPr/>
          <p:nvPr/>
        </p:nvSpPr>
        <p:spPr>
          <a:xfrm>
            <a:off x="7326637" y="1965629"/>
            <a:ext cx="993688" cy="73152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dirty="0"/>
              <a:t>Salvare model</a:t>
            </a:r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09EB5E-6E54-FAC8-9645-C6ED6D6B06C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834937" y="2331389"/>
            <a:ext cx="309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732B1-4153-5BA4-3EA7-927FED71D69A}"/>
              </a:ext>
            </a:extLst>
          </p:cNvPr>
          <p:cNvCxnSpPr>
            <a:cxnSpLocks/>
          </p:cNvCxnSpPr>
          <p:nvPr/>
        </p:nvCxnSpPr>
        <p:spPr>
          <a:xfrm>
            <a:off x="3137769" y="2342002"/>
            <a:ext cx="309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B7E5005-5875-4BF6-7993-6243B9CA8341}"/>
              </a:ext>
            </a:extLst>
          </p:cNvPr>
          <p:cNvCxnSpPr>
            <a:cxnSpLocks/>
          </p:cNvCxnSpPr>
          <p:nvPr/>
        </p:nvCxnSpPr>
        <p:spPr>
          <a:xfrm>
            <a:off x="3545830" y="2346478"/>
            <a:ext cx="309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1550766-7B17-7A82-BA3D-E9B952DC1C8E}"/>
              </a:ext>
            </a:extLst>
          </p:cNvPr>
          <p:cNvCxnSpPr>
            <a:cxnSpLocks/>
          </p:cNvCxnSpPr>
          <p:nvPr/>
        </p:nvCxnSpPr>
        <p:spPr>
          <a:xfrm>
            <a:off x="4848662" y="2338680"/>
            <a:ext cx="309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1E921DD-C9EE-A509-ECD2-AD337001DDC4}"/>
              </a:ext>
            </a:extLst>
          </p:cNvPr>
          <p:cNvCxnSpPr>
            <a:cxnSpLocks/>
          </p:cNvCxnSpPr>
          <p:nvPr/>
        </p:nvCxnSpPr>
        <p:spPr>
          <a:xfrm>
            <a:off x="7017493" y="2347633"/>
            <a:ext cx="3091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45A91971-19A1-D2F3-C936-E60F06360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4374" y="2804820"/>
            <a:ext cx="5224298" cy="198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589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4267</TotalTime>
  <Words>2010</Words>
  <Application>Microsoft Office PowerPoint</Application>
  <PresentationFormat>On-screen Show (16:9)</PresentationFormat>
  <Paragraphs>229</Paragraphs>
  <Slides>29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Calibri Light</vt:lpstr>
      <vt:lpstr>Arial</vt:lpstr>
      <vt:lpstr>Söhne</vt:lpstr>
      <vt:lpstr>Calibri</vt:lpstr>
      <vt:lpstr>office theme</vt:lpstr>
      <vt:lpstr>ADS1 - Curs 2 Analiza exploratorie a datelor </vt:lpstr>
      <vt:lpstr>Agendă</vt:lpstr>
      <vt:lpstr>Data Mining &lt;- Matematică </vt:lpstr>
      <vt:lpstr>Analiza Exploratorie (EDA)</vt:lpstr>
      <vt:lpstr>Intro</vt:lpstr>
      <vt:lpstr>Analiza cantitativă</vt:lpstr>
      <vt:lpstr>Exemple de coloane inutile</vt:lpstr>
      <vt:lpstr>Imputarea datelor</vt:lpstr>
      <vt:lpstr>Imputarea datelor</vt:lpstr>
      <vt:lpstr>Discretizarea valorilor numerice/continue</vt:lpstr>
      <vt:lpstr>Discretizarea variabilelor numerice/continue</vt:lpstr>
      <vt:lpstr>Discretizarea variabilelor numerice/continue</vt:lpstr>
      <vt:lpstr>Discretizare cu coloană de referință</vt:lpstr>
      <vt:lpstr>Anomalii</vt:lpstr>
      <vt:lpstr>Codificarea numerică a variabilelor categoriale</vt:lpstr>
      <vt:lpstr>Codificarea numerică a variabilelor categoriale</vt:lpstr>
      <vt:lpstr>Normalizare, standardizare (ref)</vt:lpstr>
      <vt:lpstr>Normalizare, standardizare</vt:lpstr>
      <vt:lpstr>Normalizare, standardizare</vt:lpstr>
      <vt:lpstr>Normalizare, standardizare</vt:lpstr>
      <vt:lpstr>Normalizare, standardizare</vt:lpstr>
      <vt:lpstr>Când este importantă standardizarea variabilelor?</vt:lpstr>
      <vt:lpstr>Balansarea claselor (pt. clasificare)</vt:lpstr>
      <vt:lpstr>Balansarea claselor prin subeșantionare (undersampling) </vt:lpstr>
      <vt:lpstr>Balansarea claselor prin supraeșantionare (oversampling)</vt:lpstr>
      <vt:lpstr>Balansarea claselor – metode Python</vt:lpstr>
      <vt:lpstr>Ingineria atributelor (Feature engineering)</vt:lpstr>
      <vt:lpstr>Linii de procesare a datelor</vt:lpstr>
      <vt:lpstr>Linii de procesare a datelor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Curs 4</dc:title>
  <dc:creator>Stefan Bildea</dc:creator>
  <cp:lastModifiedBy>Stefan Bildea</cp:lastModifiedBy>
  <cp:revision>15</cp:revision>
  <cp:lastPrinted>2024-10-06T11:12:11Z</cp:lastPrinted>
  <dcterms:modified xsi:type="dcterms:W3CDTF">2025-10-15T14:32:43Z</dcterms:modified>
</cp:coreProperties>
</file>